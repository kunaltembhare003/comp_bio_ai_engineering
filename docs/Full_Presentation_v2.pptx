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f>Sheet1!$B$1</c:f>
              <c:strCache>
                <c:ptCount val="1"/>
                <c:pt idx="0">
                  <c:v>AUC</c:v>
                </c:pt>
              </c:strCache>
            </c:strRef>
          </c:tx>
          <c:dPt>
            <c:idx val="0"/>
            <c:spPr>
              <a:solidFill>
                <a:srgbClr val="B8B7B0"/>
              </a:solidFill>
            </c:spPr>
          </c:dPt>
          <c:dPt>
            <c:idx val="1"/>
            <c:spPr>
              <a:solidFill>
                <a:srgbClr val="B8B7B0"/>
              </a:solidFill>
            </c:spPr>
          </c:dPt>
          <c:dPt>
            <c:idx val="2"/>
            <c:spPr>
              <a:solidFill>
                <a:srgbClr val="B8B7B0"/>
              </a:solidFill>
            </c:spPr>
          </c:dPt>
          <c:dPt>
            <c:idx val="3"/>
            <c:spPr>
              <a:solidFill>
                <a:srgbClr val="2A78D6"/>
              </a:solidFill>
            </c:spPr>
          </c:dPt>
          <c:cat>
            <c:strRef>
              <c:f>Sheet1!$A$2:$A$5</c:f>
              <c:strCache>
                <c:ptCount val="4"/>
                <c:pt idx="0">
                  <c:v>Wang 2020 (deep learning)</c:v>
                </c:pt>
                <c:pt idx="1">
                  <c:v>Malik 2021 (deep learning)</c:v>
                </c:pt>
                <c:pt idx="2">
                  <c:v>Mitchel 2019 (SVM)</c:v>
                </c:pt>
                <c:pt idx="3">
                  <c:v>This work (SVM + PLS-DA)</c:v>
                </c:pt>
              </c:strCache>
            </c:strRef>
          </c:cat>
          <c:val>
            <c:numRef>
              <c:f>Sheet1!$B$2:$B$5</c:f>
              <c:numCache>
                <c:formatCode>General</c:formatCode>
                <c:ptCount val="4"/>
                <c:pt idx="0">
                  <c:v>0.93</c:v>
                </c:pt>
                <c:pt idx="1">
                  <c:v>0.98</c:v>
                </c:pt>
                <c:pt idx="2">
                  <c:v>0.87</c:v>
                </c:pt>
                <c:pt idx="3">
                  <c:v>0.89</c:v>
                </c:pt>
              </c:numCache>
            </c:numRef>
          </c:val>
        </c:ser>
        <c:dLbls>
          <c:numFmt formatCode="0.00" sourceLinked="0"/>
          <c:txPr>
            <a:bodyPr/>
            <a:lstStyle/>
            <a:p>
              <a:pPr>
                <a:defRPr sz="1300" b="1">
                  <a:solidFill>
                    <a:srgbClr val="14171C"/>
                  </a:solidFill>
                </a:defRPr>
              </a:pPr>
            </a:p>
          </c:txPr>
          <c:dLblPos val="outEnd"/>
          <c:showLegendKey val="0"/>
          <c:showVal val="1"/>
          <c:showCatName val="0"/>
          <c:showSerName val="0"/>
          <c:showPercent val="0"/>
          <c:showBubbleSize val="0"/>
          <c:showLeaderLines val="1"/>
        </c:dLbls>
        <c:gapWidth val="55"/>
        <c:axId val="-2068027336"/>
        <c:axId val="-2113994440"/>
      </c:barChart>
      <c:catAx>
        <c:axId val="-2068027336"/>
        <c:scaling>
          <c:orientation val="maxMin"/>
        </c:scaling>
        <c:delete val="0"/>
        <c:axPos val="l"/>
        <c:majorTickMark val="none"/>
        <c:minorTickMark val="none"/>
        <c:tickLblPos val="nextTo"/>
        <c:spPr>
          <a:ln>
            <a:solidFill>
              <a:srgbClr val="DAD9D2"/>
            </a:solidFill>
          </a:ln>
        </c:spPr>
        <c:txPr>
          <a:bodyPr/>
          <a:lstStyle/>
          <a:p>
            <a:pPr>
              <a:defRPr sz="1250">
                <a:solidFill>
                  <a:srgbClr val="14171C"/>
                </a:solidFill>
              </a:defRPr>
            </a:pPr>
          </a:p>
        </c:txPr>
        <c:crossAx val="-2113994440"/>
        <c:crosses val="autoZero"/>
        <c:auto val="1"/>
        <c:lblAlgn val="ctr"/>
        <c:lblOffset val="100"/>
        <c:noMultiLvlLbl val="0"/>
      </c:catAx>
      <c:valAx>
        <c:axId val="-2113994440"/>
        <c:scaling>
          <c:max val="1.1"/>
          <c:min val="0.0"/>
        </c:scaling>
        <c:delete/>
        <c:axPos val="b"/>
        <c:majorTickMark val="out"/>
        <c:minorTickMark val="none"/>
        <c:tickLblPos val="nextTo"/>
        <c:crossAx val="-2068027336"/>
        <c:crosses val="autoZero"/>
      </c:valAx>
    </c:plotArea>
    <c:dispBlanksAs val="gap"/>
  </c:chart>
  <c:txPr>
    <a:bodyPr/>
    <a:lstStyle/>
    <a:p>
      <a:pPr>
        <a:defRPr sz="1200">
          <a:latin typeface="Calibr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f>Sheet1!$B$1</c:f>
              <c:strCache>
                <c:ptCount val="1"/>
                <c:pt idx="0">
                  <c:v>Accuracy</c:v>
                </c:pt>
              </c:strCache>
            </c:strRef>
          </c:tx>
          <c:dPt>
            <c:idx val="0"/>
            <c:spPr>
              <a:solidFill>
                <a:srgbClr val="B8B7B0"/>
              </a:solidFill>
            </c:spPr>
          </c:dPt>
          <c:dPt>
            <c:idx val="1"/>
            <c:spPr>
              <a:solidFill>
                <a:srgbClr val="B8B7B0"/>
              </a:solidFill>
            </c:spPr>
          </c:dPt>
          <c:dPt>
            <c:idx val="2"/>
            <c:spPr>
              <a:solidFill>
                <a:srgbClr val="B8B7B0"/>
              </a:solidFill>
            </c:spPr>
          </c:dPt>
          <c:dPt>
            <c:idx val="3"/>
            <c:spPr>
              <a:solidFill>
                <a:srgbClr val="2A78D6"/>
              </a:solidFill>
            </c:spPr>
          </c:dPt>
          <c:cat>
            <c:strRef>
              <c:f>Sheet1!$A$2:$A$5</c:f>
              <c:strCache>
                <c:ptCount val="4"/>
                <c:pt idx="0">
                  <c:v>Wang 2020 (deep learning)</c:v>
                </c:pt>
                <c:pt idx="1">
                  <c:v>Malik 2021 (deep learning)</c:v>
                </c:pt>
                <c:pt idx="2">
                  <c:v>Mitchel 2019 (SVM)</c:v>
                </c:pt>
                <c:pt idx="3">
                  <c:v>This work (SVM + PLS-DA)</c:v>
                </c:pt>
              </c:strCache>
            </c:strRef>
          </c:cat>
          <c:val>
            <c:numRef>
              <c:f>Sheet1!$B$2:$B$5</c:f>
              <c:numCache>
                <c:formatCode>General</c:formatCode>
                <c:ptCount val="4"/>
                <c:pt idx="0">
                  <c:v>0.79</c:v>
                </c:pt>
                <c:pt idx="1">
                  <c:v>0.94</c:v>
                </c:pt>
                <c:pt idx="2">
                  <c:v>0.85</c:v>
                </c:pt>
                <c:pt idx="3">
                  <c:v>0.83</c:v>
                </c:pt>
              </c:numCache>
            </c:numRef>
          </c:val>
        </c:ser>
        <c:dLbls>
          <c:numFmt formatCode="0.00" sourceLinked="0"/>
          <c:txPr>
            <a:bodyPr/>
            <a:lstStyle/>
            <a:p>
              <a:pPr>
                <a:defRPr sz="1300" b="1">
                  <a:solidFill>
                    <a:srgbClr val="14171C"/>
                  </a:solidFill>
                </a:defRPr>
              </a:pPr>
            </a:p>
          </c:txPr>
          <c:dLblPos val="outEnd"/>
          <c:showLegendKey val="0"/>
          <c:showVal val="1"/>
          <c:showCatName val="0"/>
          <c:showSerName val="0"/>
          <c:showPercent val="0"/>
          <c:showBubbleSize val="0"/>
          <c:showLeaderLines val="1"/>
        </c:dLbls>
        <c:gapWidth val="55"/>
        <c:axId val="-2068027336"/>
        <c:axId val="-2113994440"/>
      </c:barChart>
      <c:catAx>
        <c:axId val="-2068027336"/>
        <c:scaling>
          <c:orientation val="maxMin"/>
        </c:scaling>
        <c:delete val="0"/>
        <c:axPos val="l"/>
        <c:majorTickMark val="none"/>
        <c:minorTickMark val="none"/>
        <c:tickLblPos val="nextTo"/>
        <c:spPr>
          <a:ln>
            <a:solidFill>
              <a:srgbClr val="DAD9D2"/>
            </a:solidFill>
          </a:ln>
        </c:spPr>
        <c:txPr>
          <a:bodyPr/>
          <a:lstStyle/>
          <a:p>
            <a:pPr>
              <a:defRPr sz="1250">
                <a:solidFill>
                  <a:srgbClr val="14171C"/>
                </a:solidFill>
              </a:defRPr>
            </a:pPr>
          </a:p>
        </c:txPr>
        <c:crossAx val="-2113994440"/>
        <c:crosses val="autoZero"/>
        <c:auto val="1"/>
        <c:lblAlgn val="ctr"/>
        <c:lblOffset val="100"/>
        <c:noMultiLvlLbl val="0"/>
      </c:catAx>
      <c:valAx>
        <c:axId val="-2113994440"/>
        <c:scaling>
          <c:max val="1.1"/>
          <c:min val="0.0"/>
        </c:scaling>
        <c:delete/>
        <c:axPos val="b"/>
        <c:majorTickMark val="out"/>
        <c:minorTickMark val="none"/>
        <c:tickLblPos val="nextTo"/>
        <c:crossAx val="-2068027336"/>
        <c:crosses val="autoZero"/>
      </c:valAx>
    </c:plotArea>
    <c:dispBlanksAs val="gap"/>
  </c:chart>
  <c:txPr>
    <a:bodyPr/>
    <a:lstStyle/>
    <a:p>
      <a:pPr>
        <a:defRPr sz="1200">
          <a:latin typeface="Calibri"/>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N22 (tolerant)</c:v>
                </c:pt>
              </c:strCache>
            </c:strRef>
          </c:tx>
          <c:spPr>
            <a:solidFill>
              <a:srgbClr val="2A78D6"/>
            </a:solidFill>
          </c:spPr>
          <c:cat>
            <c:strRef>
              <c:f>Sheet1!$A$2:$A$3</c:f>
              <c:strCache>
                <c:ptCount val="2"/>
                <c:pt idx="0">
                  <c:v>Control</c:v>
                </c:pt>
                <c:pt idx="1">
                  <c:v>Drought</c:v>
                </c:pt>
              </c:strCache>
            </c:strRef>
          </c:cat>
          <c:val>
            <c:numRef>
              <c:f>Sheet1!$B$2:$B$3</c:f>
              <c:numCache>
                <c:formatCode>General</c:formatCode>
                <c:ptCount val="2"/>
                <c:pt idx="0">
                  <c:v>4678</c:v>
                </c:pt>
                <c:pt idx="1">
                  <c:v>10076</c:v>
                </c:pt>
              </c:numCache>
            </c:numRef>
          </c:val>
        </c:ser>
        <c:ser>
          <c:idx val="1"/>
          <c:order val="1"/>
          <c:tx>
            <c:strRef>
              <c:f>Sheet1!$C$1</c:f>
              <c:strCache>
                <c:ptCount val="1"/>
                <c:pt idx="0">
                  <c:v>IR64 (sensitive)</c:v>
                </c:pt>
              </c:strCache>
            </c:strRef>
          </c:tx>
          <c:spPr>
            <a:solidFill>
              <a:srgbClr val="EB6834"/>
            </a:solidFill>
          </c:spPr>
          <c:cat>
            <c:strRef>
              <c:f>Sheet1!$A$2:$A$3</c:f>
              <c:strCache>
                <c:ptCount val="2"/>
                <c:pt idx="0">
                  <c:v>Control</c:v>
                </c:pt>
                <c:pt idx="1">
                  <c:v>Drought</c:v>
                </c:pt>
              </c:strCache>
            </c:strRef>
          </c:cat>
          <c:val>
            <c:numRef>
              <c:f>Sheet1!$C$2:$C$3</c:f>
              <c:numCache>
                <c:formatCode>General</c:formatCode>
                <c:ptCount val="2"/>
                <c:pt idx="0">
                  <c:v>1434</c:v>
                </c:pt>
                <c:pt idx="1">
                  <c:v>3670</c:v>
                </c:pt>
              </c:numCache>
            </c:numRef>
          </c:val>
        </c:ser>
        <c:dLbls>
          <c:numFmt formatCode="#,##0" sourceLinked="0"/>
          <c:txPr>
            <a:bodyPr/>
            <a:lstStyle/>
            <a:p>
              <a:pPr>
                <a:defRPr sz="1400" b="1">
                  <a:solidFill>
                    <a:srgbClr val="14171C"/>
                  </a:solidFill>
                </a:defRPr>
              </a:pPr>
            </a:p>
          </c:txPr>
          <c:dLblPos val="outEnd"/>
          <c:showLegendKey val="0"/>
          <c:showVal val="1"/>
          <c:showCatName val="0"/>
          <c:showSerName val="0"/>
          <c:showPercent val="0"/>
          <c:showBubbleSize val="0"/>
          <c:showLeaderLines val="1"/>
        </c:dLbls>
        <c:gapWidth val="70"/>
        <c:overlap val="-8"/>
        <c:axId val="-2068027336"/>
        <c:axId val="-2113994440"/>
      </c:barChart>
      <c:catAx>
        <c:axId val="-2068027336"/>
        <c:scaling>
          <c:orientation val="minMax"/>
        </c:scaling>
        <c:delete val="0"/>
        <c:axPos val="b"/>
        <c:majorTickMark val="none"/>
        <c:minorTickMark val="none"/>
        <c:tickLblPos val="nextTo"/>
        <c:spPr>
          <a:ln>
            <a:solidFill>
              <a:srgbClr val="DAD9D2"/>
            </a:solidFill>
          </a:ln>
        </c:spPr>
        <c:txPr>
          <a:bodyPr/>
          <a:lstStyle/>
          <a:p>
            <a:pPr>
              <a:defRPr sz="1400"/>
            </a:pPr>
          </a:p>
        </c:txPr>
        <c:crossAx val="-2113994440"/>
        <c:crosses val="autoZero"/>
        <c:auto val="1"/>
        <c:lblAlgn val="ctr"/>
        <c:lblOffset val="100"/>
        <c:noMultiLvlLbl val="0"/>
      </c:catAx>
      <c:valAx>
        <c:axId val="-2113994440"/>
        <c:scaling>
          <c:max val="11500.0"/>
          <c:min val="0.0"/>
        </c:scaling>
        <c:delete/>
        <c:axPos val="l"/>
        <c:majorTickMark val="out"/>
        <c:minorTickMark val="none"/>
        <c:tickLblPos val="nextTo"/>
        <c:crossAx val="-2068027336"/>
        <c:crosses val="autoZero"/>
      </c:valAx>
    </c:plotArea>
    <c:legend>
      <c:legendPos val="b"/>
      <c:overlay val="0"/>
      <c:txPr>
        <a:bodyPr/>
        <a:lstStyle/>
        <a:p>
          <a:pPr>
            <a:defRPr sz="1300"/>
          </a:pPr>
        </a:p>
      </c:txPr>
    </c:legend>
    <c:dispBlanksAs val="gap"/>
  </c:chart>
  <c:txPr>
    <a:bodyPr/>
    <a:lstStyle/>
    <a:p>
      <a:pPr>
        <a:defRPr sz="1300">
          <a:latin typeface="Calibr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Introduce yourself and frame the talk: three pieces of work. Part 1 is the multi-omics survival model (first author), covered in depth. Part 2 is the chromatin-accessibility analysis in rice (co-author). Part 3 is a deconvolution research prototype with full experiment tracking. Each is mapped to the role as you go.</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agenda. Three projects at three levels of maturity: a published first-author model, a published co-author analysis, and a research prototype whose limits are stated openly. The closing slide maps each role requirement to evidence.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of Part 1. Three numbers to remember: 302 patients, AUC 0.89, eight hub genes.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Motivate the work: omics data are wide and shallow, selection loses network context, and deep learning loses interpretability. The goal was a pipeline that predicts survival and also tells a biological story.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funnel: 1,026 patients down to 302 with all four modalities. Note the 220:82 class imbalance, which later motivates class weights and MCC. The four layers have different statistical shapes (continuous, bounded, discrete), which is why scaling and modeling choices matter.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headline here is judgement, not tooling. The feature count was chosen at the point where train and test performance diverged. Best filter per modality came from cross-validation: t-test for gene expression, mutual information for the other three.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the three levels: per-modality base models, per-modality PLS-DA, then a meta-model on their predicted probabilities. Hyperparameters were tuned by grid search with 4-fold CV; the best model used an RBF kernel with C = 0.1 and gamma = 0.2.</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 upfront in the comparison: deep learning models report higher accuracy, and the earlier SVM reports 0.85 accuracy against 0.83 here, but this model has the higher AUC among the SVM-based approaches and returns interpretable biomarkers and network context. Cohorts and splits differ, so this is a context check, not a head-to-head benchmark.</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is about scientific judgement: the model with the best raw numbers was not the one chosen, because its train-test gap said it would not generalise. Mention scaling too: MinMaxScaler beat row-mean centering.</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Show that the pipeline does not stop at a prediction. Gene biomarkers go into a protein interaction network, modules and hubs are extracted, and miRNA biomarkers are linked to their predicted gene targets so the two layers are interpreted together.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message: the multi-omics view highlighted NMD, a process not apparent from single-omics analysis, with HSPA8 and PELO both linked to UPF1. Also mention that several selected biomarkers match known prognostic genes, which supports the pipeline. Be clear these are computational findings.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 candid about limits. The first three come from the paper's own discussion (fixed survival cutoff, normality assumption of rank-based filters, and patients lost to incomplete omics). The next steps are proposals, including MOFA-style integration and external validation.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of Part 2. The assay is DNase-seq, analysed with the same workflow pattern as ATAC-seq. Three numbers to remember: 21 to 36 thousand sites per sample, 98.6 percent gained accessibility in the tolerant cultivar, and 13 validated candidate genes.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up the biology briefly. Two cultivars with opposite drought behaviour, two conditions, replicates. Note that IR64 under drought has one replicate. The question for the analysis: do differences in accessible chromatin line up with differences in gene expression?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six steps with the tools from the paper's methods. Be clear about what is yours: the pipeline orchestration in Bash and Python. The integration step joins accessibility to methylation, histone marks, polymerase occupancy and expression from earlier datasets.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headline: the tolerant cultivar N22 has many more cultivar-specific open regions, especially under drought (10,076 against 3,670 in IR64). Sites concentrate at promoters and transcription start sites, and genes with sites there are expressed more highly.</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Differential accessibility was called with csaw. In N22 almost every drought-responsive site gained accessibility, and genes with gained promoter or TSS sites were up-regulated. Gene Ontology terms for stress and stimulus response were enriched in both cultivars, with more genes in N22.</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the biology. Accessibility lines up with low methylation and activating histone marks. Motif analysis points to abscisic-acid and auxin response elements. Thirteen candidate genes were confirmed up-regulated in N22 by RT-qPCR.</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of Part 3. Position it honestly as a prototype: the simulation, model and experiment tracking are built, the accuracy validation is not. Three numbers: about 172 thousand nuclei, 202 tracked runs, four cell types.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README frames deconvolution as estimating cell-type composition inside heterogeneous bulk samples. The project started on pancreatic islets (type 2 diabetes) and moved to ROSMAP brain single-nucleus data, modelling four of nine annotated cell types.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left to right: raw ROSMAP single-nucleus data, preprocessing with Scanpy and CPM normalisation, simulation of paired cell-type and pseudo-bulk tables, model training with Optuna, and MLflow tracking. DVC, params.yaml and the Slurm cluster are the layers underneath. The file paths on each box show where to find the code.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simulation step. For each sample the Deconv class builds a gene abundance matrix and cell sizes per cell type, estimates proportions by regression, then produces a convolved cell-type table and a pseudo-bulk table that act as matched training pairs.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architecture is a small fully connected VAE with a one-dimensional latent. Training uses one batch per gene across all samples. The most recent commit moves toward an autoencoder whose latent is tied to the pseudo-bulk signal with an MSE term.</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engineering is the strongest part of this project. Data are versioned with DVC, all settings live in params.yaml, hyperparameters are searched with Optuna and every run is logged to MLflow. Numbers come from data.dvc and the mlruns folder.</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 open about this. Most of the history is about getting training to behave: NaN losses when inputs are all zero, losses in the billions without scaling, and gradient problems. The image is a real logged run. The NaN count comes from the final_loss metric of the ROSMAP experiments in MLflow.</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State the status plainly. The engineering and the simulation are done; validation is not. The empty predict_model.py and the absence of any correlation or error metric in the repository are the evidence. The next steps are proposals.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by tying each role expectation to a concrete artefact across the three projects: the integration framework, the biomarker model, the deep learning work with its stated limits, the validation approach, the reproducible tooling, the NGS pipeline and the two publications.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chart" Target="../charts/chart2.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3.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E2A47"/>
        </a:solidFill>
        <a:effectLst/>
      </p:bgPr>
    </p:bg>
    <p:spTree>
      <p:nvGrpSpPr>
        <p:cNvPr id="1" name=""/>
        <p:cNvGrpSpPr/>
        <p:nvPr/>
      </p:nvGrpSpPr>
      <p:grpSpPr/>
      <p:sp>
        <p:nvSpPr>
          <p:cNvPr id="2" name="TextBox 1"/>
          <p:cNvSpPr txBox="1"/>
          <p:nvPr/>
        </p:nvSpPr>
        <p:spPr>
          <a:xfrm>
            <a:off x="731520" y="822960"/>
            <a:ext cx="6583680" cy="274320"/>
          </a:xfrm>
          <a:prstGeom prst="rect">
            <a:avLst/>
          </a:prstGeom>
          <a:noFill/>
        </p:spPr>
        <p:txBody>
          <a:bodyPr wrap="square" lIns="0" rIns="0" tIns="0" bIns="0" anchor="t">
            <a:spAutoFit/>
          </a:bodyPr>
          <a:lstStyle/>
          <a:p>
            <a:pPr algn="l">
              <a:spcAft>
                <a:spcPts val="0"/>
              </a:spcAft>
            </a:pPr>
            <a:r>
              <a:rPr sz="1200" b="1" i="0">
                <a:solidFill>
                  <a:srgbClr val="A9C7F0"/>
                </a:solidFill>
                <a:latin typeface="Calibri"/>
              </a:rPr>
              <a:t>COMPUTATIONAL BIOLOGY  ·  SELECTED WORK</a:t>
            </a:r>
          </a:p>
        </p:txBody>
      </p:sp>
      <p:sp>
        <p:nvSpPr>
          <p:cNvPr id="3" name="TextBox 2"/>
          <p:cNvSpPr txBox="1"/>
          <p:nvPr/>
        </p:nvSpPr>
        <p:spPr>
          <a:xfrm>
            <a:off x="731520" y="1280160"/>
            <a:ext cx="6400800" cy="2194560"/>
          </a:xfrm>
          <a:prstGeom prst="rect">
            <a:avLst/>
          </a:prstGeom>
          <a:noFill/>
        </p:spPr>
        <p:txBody>
          <a:bodyPr wrap="square" lIns="0" rIns="0" tIns="0" bIns="0" anchor="t">
            <a:spAutoFit/>
          </a:bodyPr>
          <a:lstStyle/>
          <a:p>
            <a:pPr algn="l">
              <a:lnSpc>
                <a:spcPct val="95000"/>
              </a:lnSpc>
              <a:spcAft>
                <a:spcPts val="0"/>
              </a:spcAft>
            </a:pPr>
            <a:r>
              <a:rPr sz="3600" b="1" i="0">
                <a:solidFill>
                  <a:srgbClr val="FFFFFF"/>
                </a:solidFill>
                <a:latin typeface="Calibri"/>
              </a:rPr>
              <a:t>Multi-omics machine learning, chromatin accessibility and deconvolution</a:t>
            </a:r>
          </a:p>
        </p:txBody>
      </p:sp>
      <p:sp>
        <p:nvSpPr>
          <p:cNvPr id="4" name="TextBox 3"/>
          <p:cNvSpPr txBox="1"/>
          <p:nvPr/>
        </p:nvSpPr>
        <p:spPr>
          <a:xfrm>
            <a:off x="731520" y="3611880"/>
            <a:ext cx="6309360" cy="822960"/>
          </a:xfrm>
          <a:prstGeom prst="rect">
            <a:avLst/>
          </a:prstGeom>
          <a:noFill/>
        </p:spPr>
        <p:txBody>
          <a:bodyPr wrap="square" lIns="0" rIns="0" tIns="0" bIns="0" anchor="t">
            <a:spAutoFit/>
          </a:bodyPr>
          <a:lstStyle/>
          <a:p>
            <a:pPr algn="l">
              <a:spcAft>
                <a:spcPts val="0"/>
              </a:spcAft>
            </a:pPr>
            <a:r>
              <a:rPr sz="1800" b="0" i="0">
                <a:solidFill>
                  <a:srgbClr val="D5DEEA"/>
                </a:solidFill>
                <a:latin typeface="Calibri"/>
              </a:rPr>
              <a:t>Work of Kunal Tembhare, presented against the Senior Data Scientist, Computational Biology role</a:t>
            </a:r>
          </a:p>
        </p:txBody>
      </p:sp>
      <p:sp>
        <p:nvSpPr>
          <p:cNvPr id="5" name="Rectangle 4"/>
          <p:cNvSpPr/>
          <p:nvPr/>
        </p:nvSpPr>
        <p:spPr>
          <a:xfrm>
            <a:off x="731520" y="4572000"/>
            <a:ext cx="548640" cy="36576"/>
          </a:xfrm>
          <a:prstGeom prst="rect">
            <a:avLst/>
          </a:prstGeom>
          <a:solidFill>
            <a:srgbClr val="A9C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4754880"/>
            <a:ext cx="6400800" cy="1828800"/>
          </a:xfrm>
          <a:prstGeom prst="rect">
            <a:avLst/>
          </a:prstGeom>
          <a:noFill/>
        </p:spPr>
        <p:txBody>
          <a:bodyPr wrap="square" lIns="0" rIns="0" tIns="0" bIns="0" anchor="t">
            <a:spAutoFit/>
          </a:bodyPr>
          <a:lstStyle/>
          <a:p>
            <a:pPr algn="l">
              <a:spcAft>
                <a:spcPts val="700"/>
              </a:spcAft>
            </a:pPr>
            <a:r>
              <a:rPr sz="1300" b="1" i="0">
                <a:solidFill>
                  <a:srgbClr val="A9C7F0"/>
                </a:solidFill>
                <a:latin typeface="Calibri"/>
              </a:rPr>
              <a:t>Part 1   </a:t>
            </a:r>
            <a:r>
              <a:rPr sz="1400" b="0" i="0">
                <a:solidFill>
                  <a:srgbClr val="D5DEEA"/>
                </a:solidFill>
                <a:latin typeface="Calibri"/>
              </a:rPr>
              <a:t>ConnectOME: multi-ensemble machine learning for breast cancer survival (Informatics in Medicine Unlocked 47, 2024). First author.</a:t>
            </a:r>
          </a:p>
          <a:p>
            <a:pPr algn="l">
              <a:spcAft>
                <a:spcPts val="700"/>
              </a:spcAft>
            </a:pPr>
            <a:r>
              <a:rPr sz="1300" b="1" i="0">
                <a:solidFill>
                  <a:srgbClr val="A9C7F0"/>
                </a:solidFill>
                <a:latin typeface="Calibri"/>
              </a:rPr>
              <a:t>Part 2   </a:t>
            </a:r>
            <a:r>
              <a:rPr sz="1400" b="0" i="0">
                <a:solidFill>
                  <a:srgbClr val="D5DEEA"/>
                </a:solidFill>
                <a:latin typeface="Calibri"/>
              </a:rPr>
              <a:t>Chromatin accessibility in drought-stressed rice (The Plant Journal 119, 2024). Co-author.</a:t>
            </a:r>
          </a:p>
          <a:p>
            <a:pPr algn="l">
              <a:spcAft>
                <a:spcPts val="700"/>
              </a:spcAft>
            </a:pPr>
            <a:r>
              <a:rPr sz="1300" b="1" i="0">
                <a:solidFill>
                  <a:srgbClr val="A9C7F0"/>
                </a:solidFill>
                <a:latin typeface="Calibri"/>
              </a:rPr>
              <a:t>Part 3   </a:t>
            </a:r>
            <a:r>
              <a:rPr sz="1400" b="0" i="0">
                <a:solidFill>
                  <a:srgbClr val="D5DEEA"/>
                </a:solidFill>
                <a:latin typeface="Calibri"/>
              </a:rPr>
              <a:t>Deconvolution of bulk RNA-seq with a variational autoencoder. Research prototype, 2024.</a:t>
            </a:r>
          </a:p>
        </p:txBody>
      </p:sp>
      <p:sp>
        <p:nvSpPr>
          <p:cNvPr id="7" name="Rectangle 6"/>
          <p:cNvSpPr/>
          <p:nvPr/>
        </p:nvSpPr>
        <p:spPr>
          <a:xfrm>
            <a:off x="7589520" y="914400"/>
            <a:ext cx="4023360" cy="1691640"/>
          </a:xfrm>
          <a:prstGeom prst="rect">
            <a:avLst/>
          </a:prstGeom>
          <a:noFill/>
          <a:ln w="15875">
            <a:solidFill>
              <a:srgbClr val="7C93B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818120" y="1051560"/>
            <a:ext cx="3566160" cy="228600"/>
          </a:xfrm>
          <a:prstGeom prst="rect">
            <a:avLst/>
          </a:prstGeom>
          <a:noFill/>
        </p:spPr>
        <p:txBody>
          <a:bodyPr wrap="square" lIns="0" rIns="0" tIns="0" bIns="0" anchor="t">
            <a:spAutoFit/>
          </a:bodyPr>
          <a:lstStyle/>
          <a:p>
            <a:pPr algn="l">
              <a:spcAft>
                <a:spcPts val="0"/>
              </a:spcAft>
            </a:pPr>
            <a:r>
              <a:rPr sz="1100" b="1" i="0">
                <a:solidFill>
                  <a:srgbClr val="A9C7F0"/>
                </a:solidFill>
                <a:latin typeface="Calibri"/>
              </a:rPr>
              <a:t>PART 1</a:t>
            </a:r>
          </a:p>
        </p:txBody>
      </p:sp>
      <p:sp>
        <p:nvSpPr>
          <p:cNvPr id="9" name="TextBox 8"/>
          <p:cNvSpPr txBox="1"/>
          <p:nvPr/>
        </p:nvSpPr>
        <p:spPr>
          <a:xfrm>
            <a:off x="7818120" y="1298448"/>
            <a:ext cx="3566160" cy="365760"/>
          </a:xfrm>
          <a:prstGeom prst="rect">
            <a:avLst/>
          </a:prstGeom>
          <a:noFill/>
        </p:spPr>
        <p:txBody>
          <a:bodyPr wrap="square" lIns="0" rIns="0" tIns="0" bIns="0" anchor="t">
            <a:spAutoFit/>
          </a:bodyPr>
          <a:lstStyle/>
          <a:p>
            <a:pPr algn="l">
              <a:spcAft>
                <a:spcPts val="0"/>
              </a:spcAft>
            </a:pPr>
            <a:r>
              <a:rPr sz="1800" b="1" i="0">
                <a:solidFill>
                  <a:srgbClr val="FFFFFF"/>
                </a:solidFill>
                <a:latin typeface="Calibri"/>
              </a:rPr>
              <a:t>Multi-omics survival model</a:t>
            </a:r>
          </a:p>
        </p:txBody>
      </p:sp>
      <p:sp>
        <p:nvSpPr>
          <p:cNvPr id="10" name="Oval 9"/>
          <p:cNvSpPr/>
          <p:nvPr/>
        </p:nvSpPr>
        <p:spPr>
          <a:xfrm>
            <a:off x="7818120" y="1783080"/>
            <a:ext cx="256032" cy="256032"/>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8202168" y="1783080"/>
            <a:ext cx="256032" cy="256032"/>
          </a:xfrm>
          <a:prstGeom prst="ellipse">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586216" y="1783080"/>
            <a:ext cx="256032" cy="256032"/>
          </a:xfrm>
          <a:prstGeom prst="ellipse">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970264" y="1783080"/>
            <a:ext cx="256032" cy="256032"/>
          </a:xfrm>
          <a:prstGeom prst="ellipse">
            <a:avLst/>
          </a:prstGeom>
          <a:solidFill>
            <a:srgbClr val="EDA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818120" y="2121408"/>
            <a:ext cx="3566160" cy="457200"/>
          </a:xfrm>
          <a:prstGeom prst="rect">
            <a:avLst/>
          </a:prstGeom>
          <a:noFill/>
        </p:spPr>
        <p:txBody>
          <a:bodyPr wrap="square" lIns="0" rIns="0" tIns="0" bIns="0" anchor="t">
            <a:spAutoFit/>
          </a:bodyPr>
          <a:lstStyle/>
          <a:p>
            <a:pPr algn="l">
              <a:spcAft>
                <a:spcPts val="0"/>
              </a:spcAft>
            </a:pPr>
            <a:r>
              <a:rPr sz="1250" b="0" i="0">
                <a:solidFill>
                  <a:srgbClr val="D5DEEA"/>
                </a:solidFill>
                <a:latin typeface="Calibri"/>
              </a:rPr>
              <a:t>Four omics layers predict breast cancer survival</a:t>
            </a:r>
          </a:p>
        </p:txBody>
      </p:sp>
      <p:sp>
        <p:nvSpPr>
          <p:cNvPr id="15" name="Rectangle 14"/>
          <p:cNvSpPr/>
          <p:nvPr/>
        </p:nvSpPr>
        <p:spPr>
          <a:xfrm>
            <a:off x="7589520" y="2788920"/>
            <a:ext cx="4023360" cy="1691640"/>
          </a:xfrm>
          <a:prstGeom prst="rect">
            <a:avLst/>
          </a:prstGeom>
          <a:noFill/>
          <a:ln w="15875">
            <a:solidFill>
              <a:srgbClr val="7C93B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818120" y="2926079"/>
            <a:ext cx="3566160" cy="228600"/>
          </a:xfrm>
          <a:prstGeom prst="rect">
            <a:avLst/>
          </a:prstGeom>
          <a:noFill/>
        </p:spPr>
        <p:txBody>
          <a:bodyPr wrap="square" lIns="0" rIns="0" tIns="0" bIns="0" anchor="t">
            <a:spAutoFit/>
          </a:bodyPr>
          <a:lstStyle/>
          <a:p>
            <a:pPr algn="l">
              <a:spcAft>
                <a:spcPts val="0"/>
              </a:spcAft>
            </a:pPr>
            <a:r>
              <a:rPr sz="1100" b="1" i="0">
                <a:solidFill>
                  <a:srgbClr val="A9C7F0"/>
                </a:solidFill>
                <a:latin typeface="Calibri"/>
              </a:rPr>
              <a:t>PART 2</a:t>
            </a:r>
          </a:p>
        </p:txBody>
      </p:sp>
      <p:sp>
        <p:nvSpPr>
          <p:cNvPr id="17" name="TextBox 16"/>
          <p:cNvSpPr txBox="1"/>
          <p:nvPr/>
        </p:nvSpPr>
        <p:spPr>
          <a:xfrm>
            <a:off x="7818120" y="3172968"/>
            <a:ext cx="3566160" cy="365760"/>
          </a:xfrm>
          <a:prstGeom prst="rect">
            <a:avLst/>
          </a:prstGeom>
          <a:noFill/>
        </p:spPr>
        <p:txBody>
          <a:bodyPr wrap="square" lIns="0" rIns="0" tIns="0" bIns="0" anchor="t">
            <a:spAutoFit/>
          </a:bodyPr>
          <a:lstStyle/>
          <a:p>
            <a:pPr algn="l">
              <a:spcAft>
                <a:spcPts val="0"/>
              </a:spcAft>
            </a:pPr>
            <a:r>
              <a:rPr sz="1800" b="1" i="0">
                <a:solidFill>
                  <a:srgbClr val="FFFFFF"/>
                </a:solidFill>
                <a:latin typeface="Calibri"/>
              </a:rPr>
              <a:t>Open chromatin in rice</a:t>
            </a:r>
          </a:p>
        </p:txBody>
      </p:sp>
      <p:sp>
        <p:nvSpPr>
          <p:cNvPr id="18" name="Oval 17"/>
          <p:cNvSpPr/>
          <p:nvPr/>
        </p:nvSpPr>
        <p:spPr>
          <a:xfrm>
            <a:off x="7818120" y="3657600"/>
            <a:ext cx="256032" cy="256032"/>
          </a:xfrm>
          <a:prstGeom prst="ellipse">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02168" y="3657600"/>
            <a:ext cx="256032" cy="256032"/>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818120" y="3995928"/>
            <a:ext cx="3566160" cy="457200"/>
          </a:xfrm>
          <a:prstGeom prst="rect">
            <a:avLst/>
          </a:prstGeom>
          <a:noFill/>
        </p:spPr>
        <p:txBody>
          <a:bodyPr wrap="square" lIns="0" rIns="0" tIns="0" bIns="0" anchor="t">
            <a:spAutoFit/>
          </a:bodyPr>
          <a:lstStyle/>
          <a:p>
            <a:pPr algn="l">
              <a:spcAft>
                <a:spcPts val="0"/>
              </a:spcAft>
            </a:pPr>
            <a:r>
              <a:rPr sz="1250" b="0" i="0">
                <a:solidFill>
                  <a:srgbClr val="D5DEEA"/>
                </a:solidFill>
                <a:latin typeface="Calibri"/>
              </a:rPr>
              <a:t>Sensitive and tolerant cultivars, control and drought</a:t>
            </a:r>
          </a:p>
        </p:txBody>
      </p:sp>
      <p:sp>
        <p:nvSpPr>
          <p:cNvPr id="21" name="Rectangle 20"/>
          <p:cNvSpPr/>
          <p:nvPr/>
        </p:nvSpPr>
        <p:spPr>
          <a:xfrm>
            <a:off x="7589520" y="4663440"/>
            <a:ext cx="4023360" cy="1691640"/>
          </a:xfrm>
          <a:prstGeom prst="rect">
            <a:avLst/>
          </a:prstGeom>
          <a:noFill/>
          <a:ln w="15875">
            <a:solidFill>
              <a:srgbClr val="7C93B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818120" y="4800600"/>
            <a:ext cx="3566160" cy="228600"/>
          </a:xfrm>
          <a:prstGeom prst="rect">
            <a:avLst/>
          </a:prstGeom>
          <a:noFill/>
        </p:spPr>
        <p:txBody>
          <a:bodyPr wrap="square" lIns="0" rIns="0" tIns="0" bIns="0" anchor="t">
            <a:spAutoFit/>
          </a:bodyPr>
          <a:lstStyle/>
          <a:p>
            <a:pPr algn="l">
              <a:spcAft>
                <a:spcPts val="0"/>
              </a:spcAft>
            </a:pPr>
            <a:r>
              <a:rPr sz="1100" b="1" i="0">
                <a:solidFill>
                  <a:srgbClr val="A9C7F0"/>
                </a:solidFill>
                <a:latin typeface="Calibri"/>
              </a:rPr>
              <a:t>PART 3</a:t>
            </a:r>
          </a:p>
        </p:txBody>
      </p:sp>
      <p:sp>
        <p:nvSpPr>
          <p:cNvPr id="23" name="TextBox 22"/>
          <p:cNvSpPr txBox="1"/>
          <p:nvPr/>
        </p:nvSpPr>
        <p:spPr>
          <a:xfrm>
            <a:off x="7818120" y="5047488"/>
            <a:ext cx="3566160" cy="365760"/>
          </a:xfrm>
          <a:prstGeom prst="rect">
            <a:avLst/>
          </a:prstGeom>
          <a:noFill/>
        </p:spPr>
        <p:txBody>
          <a:bodyPr wrap="square" lIns="0" rIns="0" tIns="0" bIns="0" anchor="t">
            <a:spAutoFit/>
          </a:bodyPr>
          <a:lstStyle/>
          <a:p>
            <a:pPr algn="l">
              <a:spcAft>
                <a:spcPts val="0"/>
              </a:spcAft>
            </a:pPr>
            <a:r>
              <a:rPr sz="1800" b="1" i="0">
                <a:solidFill>
                  <a:srgbClr val="FFFFFF"/>
                </a:solidFill>
                <a:latin typeface="Calibri"/>
              </a:rPr>
              <a:t>Cell-type deconvolution</a:t>
            </a:r>
          </a:p>
        </p:txBody>
      </p:sp>
      <p:sp>
        <p:nvSpPr>
          <p:cNvPr id="24" name="Oval 23"/>
          <p:cNvSpPr/>
          <p:nvPr/>
        </p:nvSpPr>
        <p:spPr>
          <a:xfrm>
            <a:off x="7818120" y="5532120"/>
            <a:ext cx="256032" cy="256032"/>
          </a:xfrm>
          <a:prstGeom prst="ellipse">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8202168" y="5532120"/>
            <a:ext cx="256032" cy="256032"/>
          </a:xfrm>
          <a:prstGeom prst="ellipse">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8586216" y="5532120"/>
            <a:ext cx="256032" cy="256032"/>
          </a:xfrm>
          <a:prstGeom prst="ellipse">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8970264" y="5532120"/>
            <a:ext cx="256032" cy="256032"/>
          </a:xfrm>
          <a:prstGeom prst="ellipse">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8" name="Connector 27"/>
          <p:cNvCxnSpPr/>
          <p:nvPr/>
        </p:nvCxnSpPr>
        <p:spPr>
          <a:xfrm>
            <a:off x="9418320" y="5660136"/>
            <a:ext cx="320040" cy="0"/>
          </a:xfrm>
          <a:prstGeom prst="line">
            <a:avLst/>
          </a:prstGeom>
          <a:ln w="19050">
            <a:solidFill>
              <a:srgbClr val="D5DEE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Oval 28"/>
          <p:cNvSpPr/>
          <p:nvPr/>
        </p:nvSpPr>
        <p:spPr>
          <a:xfrm>
            <a:off x="9829800" y="5532120"/>
            <a:ext cx="256032" cy="25603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818120" y="5870448"/>
            <a:ext cx="3566160" cy="457200"/>
          </a:xfrm>
          <a:prstGeom prst="rect">
            <a:avLst/>
          </a:prstGeom>
          <a:noFill/>
        </p:spPr>
        <p:txBody>
          <a:bodyPr wrap="square" lIns="0" rIns="0" tIns="0" bIns="0" anchor="t">
            <a:spAutoFit/>
          </a:bodyPr>
          <a:lstStyle/>
          <a:p>
            <a:pPr algn="l">
              <a:spcAft>
                <a:spcPts val="0"/>
              </a:spcAft>
            </a:pPr>
            <a:r>
              <a:rPr sz="1250" b="0" i="0">
                <a:solidFill>
                  <a:srgbClr val="D5DEEA"/>
                </a:solidFill>
                <a:latin typeface="Calibri"/>
              </a:rPr>
              <a:t>A VAE learns cell-type structure from simulated bulk RNA-seq</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48640" y="347472"/>
            <a:ext cx="8229600" cy="274320"/>
          </a:xfrm>
          <a:prstGeom prst="rect">
            <a:avLst/>
          </a:prstGeom>
          <a:noFill/>
        </p:spPr>
        <p:txBody>
          <a:bodyPr wrap="square" lIns="0" rIns="0" tIns="0" bIns="0" anchor="t">
            <a:spAutoFit/>
          </a:bodyPr>
          <a:lstStyle/>
          <a:p>
            <a:pPr algn="l">
              <a:spcAft>
                <a:spcPts val="0"/>
              </a:spcAft>
            </a:pPr>
            <a:r>
              <a:rPr sz="1200" b="1" i="0">
                <a:solidFill>
                  <a:srgbClr val="1F5FAE"/>
                </a:solidFill>
                <a:latin typeface="Calibri"/>
              </a:rPr>
              <a:t>OVERVIEW</a:t>
            </a:r>
          </a:p>
        </p:txBody>
      </p:sp>
      <p:sp>
        <p:nvSpPr>
          <p:cNvPr id="3" name="TextBox 2"/>
          <p:cNvSpPr txBox="1"/>
          <p:nvPr/>
        </p:nvSpPr>
        <p:spPr>
          <a:xfrm>
            <a:off x="548640" y="621792"/>
            <a:ext cx="11091672" cy="914400"/>
          </a:xfrm>
          <a:prstGeom prst="rect">
            <a:avLst/>
          </a:prstGeom>
          <a:noFill/>
        </p:spPr>
        <p:txBody>
          <a:bodyPr wrap="square" lIns="0" rIns="0" tIns="0" bIns="0" anchor="t">
            <a:spAutoFit/>
          </a:bodyPr>
          <a:lstStyle/>
          <a:p>
            <a:pPr algn="l">
              <a:lnSpc>
                <a:spcPct val="95000"/>
              </a:lnSpc>
              <a:spcAft>
                <a:spcPts val="0"/>
              </a:spcAft>
            </a:pPr>
            <a:r>
              <a:rPr sz="2600" b="1" i="0">
                <a:solidFill>
                  <a:srgbClr val="0E2A47"/>
                </a:solidFill>
                <a:latin typeface="Calibri"/>
              </a:rPr>
              <a:t>Three projects cover multi-omic modeling, NGS and deep learning</a:t>
            </a:r>
          </a:p>
        </p:txBody>
      </p:sp>
      <p:sp>
        <p:nvSpPr>
          <p:cNvPr id="4" name="TextBox 3"/>
          <p:cNvSpPr txBox="1"/>
          <p:nvPr/>
        </p:nvSpPr>
        <p:spPr>
          <a:xfrm>
            <a:off x="548640" y="6510528"/>
            <a:ext cx="6400800" cy="228600"/>
          </a:xfrm>
          <a:prstGeom prst="rect">
            <a:avLst/>
          </a:prstGeom>
          <a:noFill/>
        </p:spPr>
        <p:txBody>
          <a:bodyPr wrap="square" lIns="0" rIns="0" tIns="0" bIns="0" anchor="t">
            <a:spAutoFit/>
          </a:bodyPr>
          <a:lstStyle/>
          <a:p>
            <a:pPr algn="l">
              <a:spcAft>
                <a:spcPts val="0"/>
              </a:spcAft>
            </a:pPr>
            <a:r>
              <a:rPr sz="1000" b="0" i="0">
                <a:solidFill>
                  <a:srgbClr val="8A8984"/>
                </a:solidFill>
                <a:latin typeface="Calibri"/>
              </a:rPr>
              <a:t>Kunal Tembhare  ·  Computational biology and multi-omics ML</a:t>
            </a:r>
          </a:p>
        </p:txBody>
      </p:sp>
      <p:sp>
        <p:nvSpPr>
          <p:cNvPr id="5" name="TextBox 4"/>
          <p:cNvSpPr txBox="1"/>
          <p:nvPr/>
        </p:nvSpPr>
        <p:spPr>
          <a:xfrm>
            <a:off x="10268712" y="6510528"/>
            <a:ext cx="1371600" cy="228600"/>
          </a:xfrm>
          <a:prstGeom prst="rect">
            <a:avLst/>
          </a:prstGeom>
          <a:noFill/>
        </p:spPr>
        <p:txBody>
          <a:bodyPr wrap="square" lIns="0" rIns="0" tIns="0" bIns="0" anchor="t">
            <a:spAutoFit/>
          </a:bodyPr>
          <a:lstStyle/>
          <a:p>
            <a:pPr algn="r">
              <a:spcAft>
                <a:spcPts val="0"/>
              </a:spcAft>
            </a:pPr>
            <a:r>
              <a:rPr sz="1000" b="0" i="0">
                <a:solidFill>
                  <a:srgbClr val="8A8984"/>
                </a:solidFill>
                <a:latin typeface="Calibri"/>
              </a:rPr>
              <a:t>2 / 27</a:t>
            </a:r>
          </a:p>
        </p:txBody>
      </p:sp>
      <p:sp>
        <p:nvSpPr>
          <p:cNvPr id="6" name="Rectangle 5"/>
          <p:cNvSpPr/>
          <p:nvPr/>
        </p:nvSpPr>
        <p:spPr>
          <a:xfrm>
            <a:off x="548640" y="1691640"/>
            <a:ext cx="3557016" cy="306324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1691640"/>
            <a:ext cx="3557016" cy="64008"/>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56231"/>
            <a:ext cx="3108960" cy="228600"/>
          </a:xfrm>
          <a:prstGeom prst="rect">
            <a:avLst/>
          </a:prstGeom>
          <a:noFill/>
        </p:spPr>
        <p:txBody>
          <a:bodyPr wrap="square" lIns="0" rIns="0" tIns="0" bIns="0" anchor="t">
            <a:spAutoFit/>
          </a:bodyPr>
          <a:lstStyle/>
          <a:p>
            <a:pPr algn="l">
              <a:spcAft>
                <a:spcPts val="0"/>
              </a:spcAft>
            </a:pPr>
            <a:r>
              <a:rPr sz="1100" b="1" i="0">
                <a:solidFill>
                  <a:srgbClr val="1F5FAE"/>
                </a:solidFill>
                <a:latin typeface="Calibri"/>
              </a:rPr>
              <a:t>PART 1</a:t>
            </a:r>
          </a:p>
        </p:txBody>
      </p:sp>
      <p:sp>
        <p:nvSpPr>
          <p:cNvPr id="9" name="TextBox 8"/>
          <p:cNvSpPr txBox="1"/>
          <p:nvPr/>
        </p:nvSpPr>
        <p:spPr>
          <a:xfrm>
            <a:off x="777240" y="2121408"/>
            <a:ext cx="3154680" cy="365760"/>
          </a:xfrm>
          <a:prstGeom prst="rect">
            <a:avLst/>
          </a:prstGeom>
          <a:noFill/>
        </p:spPr>
        <p:txBody>
          <a:bodyPr wrap="square" lIns="0" rIns="0" tIns="0" bIns="0" anchor="t">
            <a:spAutoFit/>
          </a:bodyPr>
          <a:lstStyle/>
          <a:p>
            <a:pPr algn="l">
              <a:spcAft>
                <a:spcPts val="0"/>
              </a:spcAft>
            </a:pPr>
            <a:r>
              <a:rPr sz="1650" b="1" i="0">
                <a:solidFill>
                  <a:srgbClr val="0E2A47"/>
                </a:solidFill>
                <a:latin typeface="Calibri"/>
              </a:rPr>
              <a:t>Multi-omics survival model</a:t>
            </a:r>
          </a:p>
        </p:txBody>
      </p:sp>
      <p:sp>
        <p:nvSpPr>
          <p:cNvPr id="10" name="Rounded Rectangle 9"/>
          <p:cNvSpPr/>
          <p:nvPr/>
        </p:nvSpPr>
        <p:spPr>
          <a:xfrm>
            <a:off x="777240" y="2606040"/>
            <a:ext cx="3017520" cy="329184"/>
          </a:xfrm>
          <a:prstGeom prst="roundRect">
            <a:avLst>
              <a:gd name="adj" fmla="val 40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200" b="1">
                <a:solidFill>
                  <a:srgbClr val="0E2A47"/>
                </a:solidFill>
                <a:latin typeface="Calibri"/>
              </a:rPr>
              <a:t>First author  ·  published 2024</a:t>
            </a:r>
          </a:p>
        </p:txBody>
      </p:sp>
      <p:sp>
        <p:nvSpPr>
          <p:cNvPr id="11" name="TextBox 10"/>
          <p:cNvSpPr txBox="1"/>
          <p:nvPr/>
        </p:nvSpPr>
        <p:spPr>
          <a:xfrm>
            <a:off x="777240" y="3108960"/>
            <a:ext cx="3154680" cy="1280160"/>
          </a:xfrm>
          <a:prstGeom prst="rect">
            <a:avLst/>
          </a:prstGeom>
          <a:noFill/>
        </p:spPr>
        <p:txBody>
          <a:bodyPr wrap="square" lIns="0" rIns="0" tIns="0" bIns="0" anchor="t">
            <a:spAutoFit/>
          </a:bodyPr>
          <a:lstStyle/>
          <a:p>
            <a:pPr algn="l" marL="201168" indent="-201168">
              <a:spcAft>
                <a:spcPts val="500"/>
              </a:spcAft>
              <a:buChar char="•"/>
            </a:pPr>
            <a:r>
              <a:rPr sz="1300" b="0" i="0">
                <a:solidFill>
                  <a:srgbClr val="14171C"/>
                </a:solidFill>
                <a:latin typeface="Calibri"/>
              </a:rPr>
              <a:t>Stacked ensemble over four omics layers</a:t>
            </a:r>
          </a:p>
          <a:p>
            <a:pPr algn="l" marL="201168" indent="-201168">
              <a:spcAft>
                <a:spcPts val="500"/>
              </a:spcAft>
              <a:buChar char="•"/>
            </a:pPr>
            <a:r>
              <a:rPr sz="1300" b="0" i="0">
                <a:solidFill>
                  <a:srgbClr val="14171C"/>
                </a:solidFill>
                <a:latin typeface="Calibri"/>
              </a:rPr>
              <a:t>Five-year survival model, test AUC 0.89</a:t>
            </a:r>
          </a:p>
          <a:p>
            <a:pPr algn="l" marL="201168" indent="-201168">
              <a:spcAft>
                <a:spcPts val="500"/>
              </a:spcAft>
              <a:buChar char="•"/>
            </a:pPr>
            <a:r>
              <a:rPr sz="1300" b="0" i="0">
                <a:solidFill>
                  <a:srgbClr val="14171C"/>
                </a:solidFill>
                <a:latin typeface="Calibri"/>
              </a:rPr>
              <a:t>Biomarkers traced to hub genes and miRNAs</a:t>
            </a:r>
          </a:p>
        </p:txBody>
      </p:sp>
      <p:sp>
        <p:nvSpPr>
          <p:cNvPr id="12" name="TextBox 11"/>
          <p:cNvSpPr txBox="1"/>
          <p:nvPr/>
        </p:nvSpPr>
        <p:spPr>
          <a:xfrm>
            <a:off x="777240" y="4343400"/>
            <a:ext cx="3108960" cy="274320"/>
          </a:xfrm>
          <a:prstGeom prst="rect">
            <a:avLst/>
          </a:prstGeom>
          <a:noFill/>
        </p:spPr>
        <p:txBody>
          <a:bodyPr wrap="square" lIns="0" rIns="0" tIns="0" bIns="0" anchor="t">
            <a:spAutoFit/>
          </a:bodyPr>
          <a:lstStyle/>
          <a:p>
            <a:pPr algn="l">
              <a:spcAft>
                <a:spcPts val="0"/>
              </a:spcAft>
            </a:pPr>
            <a:r>
              <a:rPr sz="1300" b="0" i="0">
                <a:solidFill>
                  <a:srgbClr val="52514E"/>
                </a:solidFill>
                <a:latin typeface="Calibri"/>
              </a:rPr>
              <a:t>Slides 4–12</a:t>
            </a:r>
          </a:p>
        </p:txBody>
      </p:sp>
      <p:sp>
        <p:nvSpPr>
          <p:cNvPr id="13" name="Rectangle 12"/>
          <p:cNvSpPr/>
          <p:nvPr/>
        </p:nvSpPr>
        <p:spPr>
          <a:xfrm>
            <a:off x="4315968" y="1691640"/>
            <a:ext cx="3557016" cy="306324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15968" y="1691640"/>
            <a:ext cx="3557016" cy="64008"/>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44568" y="1856231"/>
            <a:ext cx="3108960" cy="228600"/>
          </a:xfrm>
          <a:prstGeom prst="rect">
            <a:avLst/>
          </a:prstGeom>
          <a:noFill/>
        </p:spPr>
        <p:txBody>
          <a:bodyPr wrap="square" lIns="0" rIns="0" tIns="0" bIns="0" anchor="t">
            <a:spAutoFit/>
          </a:bodyPr>
          <a:lstStyle/>
          <a:p>
            <a:pPr algn="l">
              <a:spcAft>
                <a:spcPts val="0"/>
              </a:spcAft>
            </a:pPr>
            <a:r>
              <a:rPr sz="1100" b="1" i="0">
                <a:solidFill>
                  <a:srgbClr val="1F5FAE"/>
                </a:solidFill>
                <a:latin typeface="Calibri"/>
              </a:rPr>
              <a:t>PART 2</a:t>
            </a:r>
          </a:p>
        </p:txBody>
      </p:sp>
      <p:sp>
        <p:nvSpPr>
          <p:cNvPr id="16" name="TextBox 15"/>
          <p:cNvSpPr txBox="1"/>
          <p:nvPr/>
        </p:nvSpPr>
        <p:spPr>
          <a:xfrm>
            <a:off x="4544568" y="2121408"/>
            <a:ext cx="3154680" cy="365760"/>
          </a:xfrm>
          <a:prstGeom prst="rect">
            <a:avLst/>
          </a:prstGeom>
          <a:noFill/>
        </p:spPr>
        <p:txBody>
          <a:bodyPr wrap="square" lIns="0" rIns="0" tIns="0" bIns="0" anchor="t">
            <a:spAutoFit/>
          </a:bodyPr>
          <a:lstStyle/>
          <a:p>
            <a:pPr algn="l">
              <a:spcAft>
                <a:spcPts val="0"/>
              </a:spcAft>
            </a:pPr>
            <a:r>
              <a:rPr sz="1650" b="1" i="0">
                <a:solidFill>
                  <a:srgbClr val="0E2A47"/>
                </a:solidFill>
                <a:latin typeface="Calibri"/>
              </a:rPr>
              <a:t>Chromatin accessibility</a:t>
            </a:r>
          </a:p>
        </p:txBody>
      </p:sp>
      <p:sp>
        <p:nvSpPr>
          <p:cNvPr id="17" name="Rounded Rectangle 16"/>
          <p:cNvSpPr/>
          <p:nvPr/>
        </p:nvSpPr>
        <p:spPr>
          <a:xfrm>
            <a:off x="4544568" y="2606040"/>
            <a:ext cx="3017520" cy="329184"/>
          </a:xfrm>
          <a:prstGeom prst="roundRect">
            <a:avLst>
              <a:gd name="adj" fmla="val 40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200" b="1">
                <a:solidFill>
                  <a:srgbClr val="0E2A47"/>
                </a:solidFill>
                <a:latin typeface="Calibri"/>
              </a:rPr>
              <a:t>Co-author  ·  published 2024</a:t>
            </a:r>
          </a:p>
        </p:txBody>
      </p:sp>
      <p:sp>
        <p:nvSpPr>
          <p:cNvPr id="18" name="TextBox 17"/>
          <p:cNvSpPr txBox="1"/>
          <p:nvPr/>
        </p:nvSpPr>
        <p:spPr>
          <a:xfrm>
            <a:off x="4544568" y="3108960"/>
            <a:ext cx="3154680" cy="1280160"/>
          </a:xfrm>
          <a:prstGeom prst="rect">
            <a:avLst/>
          </a:prstGeom>
          <a:noFill/>
        </p:spPr>
        <p:txBody>
          <a:bodyPr wrap="square" lIns="0" rIns="0" tIns="0" bIns="0" anchor="t">
            <a:spAutoFit/>
          </a:bodyPr>
          <a:lstStyle/>
          <a:p>
            <a:pPr algn="l" marL="201168" indent="-201168">
              <a:spcAft>
                <a:spcPts val="500"/>
              </a:spcAft>
              <a:buChar char="•"/>
            </a:pPr>
            <a:r>
              <a:rPr sz="1300" b="0" i="0">
                <a:solidFill>
                  <a:srgbClr val="14171C"/>
                </a:solidFill>
                <a:latin typeface="Calibri"/>
              </a:rPr>
              <a:t>DNase-seq analysis of drought response in rice</a:t>
            </a:r>
          </a:p>
          <a:p>
            <a:pPr algn="l" marL="201168" indent="-201168">
              <a:spcAft>
                <a:spcPts val="500"/>
              </a:spcAft>
              <a:buChar char="•"/>
            </a:pPr>
            <a:r>
              <a:rPr sz="1300" b="0" i="0">
                <a:solidFill>
                  <a:srgbClr val="14171C"/>
                </a:solidFill>
                <a:latin typeface="Calibri"/>
              </a:rPr>
              <a:t>Bash and Python pipeline, reads to motifs</a:t>
            </a:r>
          </a:p>
          <a:p>
            <a:pPr algn="l" marL="201168" indent="-201168">
              <a:spcAft>
                <a:spcPts val="500"/>
              </a:spcAft>
              <a:buChar char="•"/>
            </a:pPr>
            <a:r>
              <a:rPr sz="1300" b="0" i="0">
                <a:solidFill>
                  <a:srgbClr val="14171C"/>
                </a:solidFill>
                <a:latin typeface="Calibri"/>
              </a:rPr>
              <a:t>Accessibility joined with methylation and expression</a:t>
            </a:r>
          </a:p>
        </p:txBody>
      </p:sp>
      <p:sp>
        <p:nvSpPr>
          <p:cNvPr id="19" name="TextBox 18"/>
          <p:cNvSpPr txBox="1"/>
          <p:nvPr/>
        </p:nvSpPr>
        <p:spPr>
          <a:xfrm>
            <a:off x="4544568" y="4343400"/>
            <a:ext cx="3108960" cy="274320"/>
          </a:xfrm>
          <a:prstGeom prst="rect">
            <a:avLst/>
          </a:prstGeom>
          <a:noFill/>
        </p:spPr>
        <p:txBody>
          <a:bodyPr wrap="square" lIns="0" rIns="0" tIns="0" bIns="0" anchor="t">
            <a:spAutoFit/>
          </a:bodyPr>
          <a:lstStyle/>
          <a:p>
            <a:pPr algn="l">
              <a:spcAft>
                <a:spcPts val="0"/>
              </a:spcAft>
            </a:pPr>
            <a:r>
              <a:rPr sz="1300" b="0" i="0">
                <a:solidFill>
                  <a:srgbClr val="52514E"/>
                </a:solidFill>
                <a:latin typeface="Calibri"/>
              </a:rPr>
              <a:t>Slides 14–18</a:t>
            </a:r>
          </a:p>
        </p:txBody>
      </p:sp>
      <p:sp>
        <p:nvSpPr>
          <p:cNvPr id="20" name="Rectangle 19"/>
          <p:cNvSpPr/>
          <p:nvPr/>
        </p:nvSpPr>
        <p:spPr>
          <a:xfrm>
            <a:off x="8083296" y="1691640"/>
            <a:ext cx="3557016" cy="306324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83296" y="1691640"/>
            <a:ext cx="3557016" cy="64008"/>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311896" y="1856231"/>
            <a:ext cx="3108960" cy="228600"/>
          </a:xfrm>
          <a:prstGeom prst="rect">
            <a:avLst/>
          </a:prstGeom>
          <a:noFill/>
        </p:spPr>
        <p:txBody>
          <a:bodyPr wrap="square" lIns="0" rIns="0" tIns="0" bIns="0" anchor="t">
            <a:spAutoFit/>
          </a:bodyPr>
          <a:lstStyle/>
          <a:p>
            <a:pPr algn="l">
              <a:spcAft>
                <a:spcPts val="0"/>
              </a:spcAft>
            </a:pPr>
            <a:r>
              <a:rPr sz="1100" b="1" i="0">
                <a:solidFill>
                  <a:srgbClr val="1F5FAE"/>
                </a:solidFill>
                <a:latin typeface="Calibri"/>
              </a:rPr>
              <a:t>PART 3</a:t>
            </a:r>
          </a:p>
        </p:txBody>
      </p:sp>
      <p:sp>
        <p:nvSpPr>
          <p:cNvPr id="23" name="TextBox 22"/>
          <p:cNvSpPr txBox="1"/>
          <p:nvPr/>
        </p:nvSpPr>
        <p:spPr>
          <a:xfrm>
            <a:off x="8311896" y="2121408"/>
            <a:ext cx="3154680" cy="365760"/>
          </a:xfrm>
          <a:prstGeom prst="rect">
            <a:avLst/>
          </a:prstGeom>
          <a:noFill/>
        </p:spPr>
        <p:txBody>
          <a:bodyPr wrap="square" lIns="0" rIns="0" tIns="0" bIns="0" anchor="t">
            <a:spAutoFit/>
          </a:bodyPr>
          <a:lstStyle/>
          <a:p>
            <a:pPr algn="l">
              <a:spcAft>
                <a:spcPts val="0"/>
              </a:spcAft>
            </a:pPr>
            <a:r>
              <a:rPr sz="1650" b="1" i="0">
                <a:solidFill>
                  <a:srgbClr val="0E2A47"/>
                </a:solidFill>
                <a:latin typeface="Calibri"/>
              </a:rPr>
              <a:t>Cell-type deconvolution</a:t>
            </a:r>
          </a:p>
        </p:txBody>
      </p:sp>
      <p:sp>
        <p:nvSpPr>
          <p:cNvPr id="24" name="Rounded Rectangle 23"/>
          <p:cNvSpPr/>
          <p:nvPr/>
        </p:nvSpPr>
        <p:spPr>
          <a:xfrm>
            <a:off x="8311896" y="2606040"/>
            <a:ext cx="3017520" cy="329184"/>
          </a:xfrm>
          <a:prstGeom prst="roundRect">
            <a:avLst>
              <a:gd name="adj" fmla="val 40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200" b="1">
                <a:solidFill>
                  <a:srgbClr val="0E2A47"/>
                </a:solidFill>
                <a:latin typeface="Calibri"/>
              </a:rPr>
              <a:t>Research prototype  ·  2024</a:t>
            </a:r>
          </a:p>
        </p:txBody>
      </p:sp>
      <p:sp>
        <p:nvSpPr>
          <p:cNvPr id="25" name="TextBox 24"/>
          <p:cNvSpPr txBox="1"/>
          <p:nvPr/>
        </p:nvSpPr>
        <p:spPr>
          <a:xfrm>
            <a:off x="8311896" y="3108960"/>
            <a:ext cx="3154680" cy="1280160"/>
          </a:xfrm>
          <a:prstGeom prst="rect">
            <a:avLst/>
          </a:prstGeom>
          <a:noFill/>
        </p:spPr>
        <p:txBody>
          <a:bodyPr wrap="square" lIns="0" rIns="0" tIns="0" bIns="0" anchor="t">
            <a:spAutoFit/>
          </a:bodyPr>
          <a:lstStyle/>
          <a:p>
            <a:pPr algn="l" marL="201168" indent="-201168">
              <a:spcAft>
                <a:spcPts val="500"/>
              </a:spcAft>
              <a:buChar char="•"/>
            </a:pPr>
            <a:r>
              <a:rPr sz="1300" b="0" i="0">
                <a:solidFill>
                  <a:srgbClr val="14171C"/>
                </a:solidFill>
                <a:latin typeface="Calibri"/>
              </a:rPr>
              <a:t>VAE for cell-type structure in bulk RNA-seq</a:t>
            </a:r>
          </a:p>
          <a:p>
            <a:pPr algn="l" marL="201168" indent="-201168">
              <a:spcAft>
                <a:spcPts val="500"/>
              </a:spcAft>
              <a:buChar char="•"/>
            </a:pPr>
            <a:r>
              <a:rPr sz="1300" b="0" i="0">
                <a:solidFill>
                  <a:srgbClr val="14171C"/>
                </a:solidFill>
                <a:latin typeface="Calibri"/>
              </a:rPr>
              <a:t>Single-cell data simulated into training pairs</a:t>
            </a:r>
          </a:p>
          <a:p>
            <a:pPr algn="l" marL="201168" indent="-201168">
              <a:spcAft>
                <a:spcPts val="500"/>
              </a:spcAft>
              <a:buChar char="•"/>
            </a:pPr>
            <a:r>
              <a:rPr sz="1300" b="0" i="0">
                <a:solidFill>
                  <a:srgbClr val="14171C"/>
                </a:solidFill>
                <a:latin typeface="Calibri"/>
              </a:rPr>
              <a:t>PyTorch, Optuna, DVC and MLflow; validation pending</a:t>
            </a:r>
          </a:p>
        </p:txBody>
      </p:sp>
      <p:sp>
        <p:nvSpPr>
          <p:cNvPr id="26" name="TextBox 25"/>
          <p:cNvSpPr txBox="1"/>
          <p:nvPr/>
        </p:nvSpPr>
        <p:spPr>
          <a:xfrm>
            <a:off x="8311896" y="4343400"/>
            <a:ext cx="3108960" cy="274320"/>
          </a:xfrm>
          <a:prstGeom prst="rect">
            <a:avLst/>
          </a:prstGeom>
          <a:noFill/>
        </p:spPr>
        <p:txBody>
          <a:bodyPr wrap="square" lIns="0" rIns="0" tIns="0" bIns="0" anchor="t">
            <a:spAutoFit/>
          </a:bodyPr>
          <a:lstStyle/>
          <a:p>
            <a:pPr algn="l">
              <a:spcAft>
                <a:spcPts val="0"/>
              </a:spcAft>
            </a:pPr>
            <a:r>
              <a:rPr sz="1300" b="0" i="0">
                <a:solidFill>
                  <a:srgbClr val="52514E"/>
                </a:solidFill>
                <a:latin typeface="Calibri"/>
              </a:rPr>
              <a:t>Slides 20–26</a:t>
            </a:r>
          </a:p>
        </p:txBody>
      </p:sp>
      <p:sp>
        <p:nvSpPr>
          <p:cNvPr id="27" name="TextBox 26"/>
          <p:cNvSpPr txBox="1"/>
          <p:nvPr/>
        </p:nvSpPr>
        <p:spPr>
          <a:xfrm>
            <a:off x="548640" y="4956048"/>
            <a:ext cx="7315200" cy="228600"/>
          </a:xfrm>
          <a:prstGeom prst="rect">
            <a:avLst/>
          </a:prstGeom>
          <a:noFill/>
        </p:spPr>
        <p:txBody>
          <a:bodyPr wrap="square" lIns="0" rIns="0" tIns="0" bIns="0" anchor="t">
            <a:spAutoFit/>
          </a:bodyPr>
          <a:lstStyle/>
          <a:p>
            <a:pPr algn="l">
              <a:spcAft>
                <a:spcPts val="0"/>
              </a:spcAft>
            </a:pPr>
            <a:r>
              <a:rPr sz="1100" b="1" i="0">
                <a:solidFill>
                  <a:srgbClr val="8A8984"/>
                </a:solidFill>
                <a:latin typeface="Calibri"/>
              </a:rPr>
              <a:t>WHAT THE ROLE ASKS FOR</a:t>
            </a:r>
          </a:p>
        </p:txBody>
      </p:sp>
      <p:sp>
        <p:nvSpPr>
          <p:cNvPr id="28" name="Rounded Rectangle 27"/>
          <p:cNvSpPr/>
          <p:nvPr/>
        </p:nvSpPr>
        <p:spPr>
          <a:xfrm>
            <a:off x="548640" y="5257800"/>
            <a:ext cx="2103120" cy="502920"/>
          </a:xfrm>
          <a:prstGeom prst="roundRect">
            <a:avLst>
              <a:gd name="adj" fmla="val 30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250" b="1">
                <a:solidFill>
                  <a:srgbClr val="0E2A47"/>
                </a:solidFill>
                <a:latin typeface="Calibri"/>
              </a:rPr>
              <a:t>Multi-omic integration</a:t>
            </a:r>
          </a:p>
        </p:txBody>
      </p:sp>
      <p:sp>
        <p:nvSpPr>
          <p:cNvPr id="29" name="Rounded Rectangle 28"/>
          <p:cNvSpPr/>
          <p:nvPr/>
        </p:nvSpPr>
        <p:spPr>
          <a:xfrm>
            <a:off x="2795778" y="5257800"/>
            <a:ext cx="2103120" cy="502920"/>
          </a:xfrm>
          <a:prstGeom prst="roundRect">
            <a:avLst>
              <a:gd name="adj" fmla="val 30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250" b="1">
                <a:solidFill>
                  <a:srgbClr val="0E2A47"/>
                </a:solidFill>
                <a:latin typeface="Calibri"/>
              </a:rPr>
              <a:t>Biomarker models</a:t>
            </a:r>
          </a:p>
        </p:txBody>
      </p:sp>
      <p:sp>
        <p:nvSpPr>
          <p:cNvPr id="30" name="Rounded Rectangle 29"/>
          <p:cNvSpPr/>
          <p:nvPr/>
        </p:nvSpPr>
        <p:spPr>
          <a:xfrm>
            <a:off x="5042916" y="5257800"/>
            <a:ext cx="2103120" cy="502920"/>
          </a:xfrm>
          <a:prstGeom prst="roundRect">
            <a:avLst>
              <a:gd name="adj" fmla="val 30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250" b="1">
                <a:solidFill>
                  <a:srgbClr val="0E2A47"/>
                </a:solidFill>
                <a:latin typeface="Calibri"/>
              </a:rPr>
              <a:t>Deep learning and generative models</a:t>
            </a:r>
          </a:p>
        </p:txBody>
      </p:sp>
      <p:sp>
        <p:nvSpPr>
          <p:cNvPr id="31" name="Rounded Rectangle 30"/>
          <p:cNvSpPr/>
          <p:nvPr/>
        </p:nvSpPr>
        <p:spPr>
          <a:xfrm>
            <a:off x="7290054" y="5257800"/>
            <a:ext cx="2103120" cy="502920"/>
          </a:xfrm>
          <a:prstGeom prst="roundRect">
            <a:avLst>
              <a:gd name="adj" fmla="val 30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250" b="1">
                <a:solidFill>
                  <a:srgbClr val="0E2A47"/>
                </a:solidFill>
                <a:latin typeface="Calibri"/>
              </a:rPr>
              <a:t>NGS and epigenomics</a:t>
            </a:r>
          </a:p>
        </p:txBody>
      </p:sp>
      <p:sp>
        <p:nvSpPr>
          <p:cNvPr id="32" name="Rounded Rectangle 31"/>
          <p:cNvSpPr/>
          <p:nvPr/>
        </p:nvSpPr>
        <p:spPr>
          <a:xfrm>
            <a:off x="9537192" y="5257800"/>
            <a:ext cx="2103120" cy="502920"/>
          </a:xfrm>
          <a:prstGeom prst="roundRect">
            <a:avLst>
              <a:gd name="adj" fmla="val 30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250" b="1">
                <a:solidFill>
                  <a:srgbClr val="0E2A47"/>
                </a:solidFill>
                <a:latin typeface="Calibri"/>
              </a:rPr>
              <a:t>Reproducible code</a:t>
            </a:r>
          </a:p>
        </p:txBody>
      </p:sp>
      <p:sp>
        <p:nvSpPr>
          <p:cNvPr id="33" name="TextBox 32"/>
          <p:cNvSpPr txBox="1"/>
          <p:nvPr/>
        </p:nvSpPr>
        <p:spPr>
          <a:xfrm>
            <a:off x="548640" y="5897880"/>
            <a:ext cx="11091672" cy="274320"/>
          </a:xfrm>
          <a:prstGeom prst="rect">
            <a:avLst/>
          </a:prstGeom>
          <a:noFill/>
        </p:spPr>
        <p:txBody>
          <a:bodyPr wrap="square" lIns="0" rIns="0" tIns="0" bIns="0" anchor="t">
            <a:spAutoFit/>
          </a:bodyPr>
          <a:lstStyle/>
          <a:p>
            <a:pPr algn="l">
              <a:spcAft>
                <a:spcPts val="0"/>
              </a:spcAft>
            </a:pPr>
            <a:r>
              <a:rPr sz="1300" b="0" i="0">
                <a:solidFill>
                  <a:srgbClr val="52514E"/>
                </a:solidFill>
                <a:latin typeface="Calibri"/>
              </a:rPr>
              <a:t>Evidence by requirement, with slide references: slide 27.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E2A47"/>
        </a:solidFill>
        <a:effectLst/>
      </p:bgPr>
    </p:bg>
    <p:spTree>
      <p:nvGrpSpPr>
        <p:cNvPr id="1" name=""/>
        <p:cNvGrpSpPr/>
        <p:nvPr/>
      </p:nvGrpSpPr>
      <p:grpSpPr/>
      <p:sp>
        <p:nvSpPr>
          <p:cNvPr id="2" name="TextBox 1"/>
          <p:cNvSpPr txBox="1"/>
          <p:nvPr/>
        </p:nvSpPr>
        <p:spPr>
          <a:xfrm>
            <a:off x="731520" y="1097280"/>
            <a:ext cx="7315200" cy="274320"/>
          </a:xfrm>
          <a:prstGeom prst="rect">
            <a:avLst/>
          </a:prstGeom>
          <a:noFill/>
        </p:spPr>
        <p:txBody>
          <a:bodyPr wrap="square" lIns="0" rIns="0" tIns="0" bIns="0" anchor="t">
            <a:spAutoFit/>
          </a:bodyPr>
          <a:lstStyle/>
          <a:p>
            <a:pPr algn="l">
              <a:spcAft>
                <a:spcPts val="0"/>
              </a:spcAft>
            </a:pPr>
            <a:r>
              <a:rPr sz="1200" b="1" i="0">
                <a:solidFill>
                  <a:srgbClr val="A9C7F0"/>
                </a:solidFill>
                <a:latin typeface="Calibri"/>
              </a:rPr>
              <a:t>PART 1 OF 3</a:t>
            </a:r>
          </a:p>
        </p:txBody>
      </p:sp>
      <p:sp>
        <p:nvSpPr>
          <p:cNvPr id="3" name="TextBox 2"/>
          <p:cNvSpPr txBox="1"/>
          <p:nvPr/>
        </p:nvSpPr>
        <p:spPr>
          <a:xfrm>
            <a:off x="731520" y="1554480"/>
            <a:ext cx="10515600" cy="1645920"/>
          </a:xfrm>
          <a:prstGeom prst="rect">
            <a:avLst/>
          </a:prstGeom>
          <a:noFill/>
        </p:spPr>
        <p:txBody>
          <a:bodyPr wrap="square" lIns="0" rIns="0" tIns="0" bIns="0" anchor="t">
            <a:spAutoFit/>
          </a:bodyPr>
          <a:lstStyle/>
          <a:p>
            <a:pPr algn="l">
              <a:lnSpc>
                <a:spcPct val="95000"/>
              </a:lnSpc>
              <a:spcAft>
                <a:spcPts val="0"/>
              </a:spcAft>
            </a:pPr>
            <a:r>
              <a:rPr sz="4000" b="1" i="0">
                <a:solidFill>
                  <a:srgbClr val="FFFFFF"/>
                </a:solidFill>
                <a:latin typeface="Calibri"/>
              </a:rPr>
              <a:t>Multi-omics machine learning for breast cancer survival</a:t>
            </a:r>
          </a:p>
        </p:txBody>
      </p:sp>
      <p:sp>
        <p:nvSpPr>
          <p:cNvPr id="4" name="TextBox 3"/>
          <p:cNvSpPr txBox="1"/>
          <p:nvPr/>
        </p:nvSpPr>
        <p:spPr>
          <a:xfrm>
            <a:off x="731520" y="3291840"/>
            <a:ext cx="8686800" cy="914400"/>
          </a:xfrm>
          <a:prstGeom prst="rect">
            <a:avLst/>
          </a:prstGeom>
          <a:noFill/>
        </p:spPr>
        <p:txBody>
          <a:bodyPr wrap="square" lIns="0" rIns="0" tIns="0" bIns="0" anchor="t">
            <a:spAutoFit/>
          </a:bodyPr>
          <a:lstStyle/>
          <a:p>
            <a:pPr algn="l">
              <a:spcAft>
                <a:spcPts val="0"/>
              </a:spcAft>
            </a:pPr>
            <a:r>
              <a:rPr sz="1800" b="0" i="0">
                <a:solidFill>
                  <a:srgbClr val="D5DEEA"/>
                </a:solidFill>
                <a:latin typeface="Calibri"/>
              </a:rPr>
              <a:t>First-author work on ConnectOME: a stacked ensemble that integrates four omics layers and traces its features back to biology.</a:t>
            </a:r>
          </a:p>
        </p:txBody>
      </p:sp>
      <p:sp>
        <p:nvSpPr>
          <p:cNvPr id="5" name="Rectangle 4"/>
          <p:cNvSpPr/>
          <p:nvPr/>
        </p:nvSpPr>
        <p:spPr>
          <a:xfrm>
            <a:off x="731520" y="4434840"/>
            <a:ext cx="548640" cy="36576"/>
          </a:xfrm>
          <a:prstGeom prst="rect">
            <a:avLst/>
          </a:prstGeom>
          <a:solidFill>
            <a:srgbClr val="A9C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4663440"/>
            <a:ext cx="3291840" cy="640080"/>
          </a:xfrm>
          <a:prstGeom prst="rect">
            <a:avLst/>
          </a:prstGeom>
          <a:noFill/>
        </p:spPr>
        <p:txBody>
          <a:bodyPr wrap="square" lIns="0" rIns="0" tIns="0" bIns="0" anchor="t">
            <a:spAutoFit/>
          </a:bodyPr>
          <a:lstStyle/>
          <a:p>
            <a:pPr algn="l">
              <a:spcAft>
                <a:spcPts val="0"/>
              </a:spcAft>
            </a:pPr>
            <a:r>
              <a:rPr sz="3400" b="1" i="0">
                <a:solidFill>
                  <a:srgbClr val="FFFFFF"/>
                </a:solidFill>
                <a:latin typeface="Calibri"/>
              </a:rPr>
              <a:t>302</a:t>
            </a:r>
          </a:p>
        </p:txBody>
      </p:sp>
      <p:sp>
        <p:nvSpPr>
          <p:cNvPr id="7" name="TextBox 6"/>
          <p:cNvSpPr txBox="1"/>
          <p:nvPr/>
        </p:nvSpPr>
        <p:spPr>
          <a:xfrm>
            <a:off x="731520" y="5349240"/>
            <a:ext cx="3200400" cy="548640"/>
          </a:xfrm>
          <a:prstGeom prst="rect">
            <a:avLst/>
          </a:prstGeom>
          <a:noFill/>
        </p:spPr>
        <p:txBody>
          <a:bodyPr wrap="square" lIns="0" rIns="0" tIns="0" bIns="0" anchor="t">
            <a:spAutoFit/>
          </a:bodyPr>
          <a:lstStyle/>
          <a:p>
            <a:pPr algn="l">
              <a:spcAft>
                <a:spcPts val="0"/>
              </a:spcAft>
            </a:pPr>
            <a:r>
              <a:rPr sz="1400" b="0" i="0">
                <a:solidFill>
                  <a:srgbClr val="D5DEEA"/>
                </a:solidFill>
                <a:latin typeface="Calibri"/>
              </a:rPr>
              <a:t>TCGA patients with all four omics layers</a:t>
            </a:r>
          </a:p>
        </p:txBody>
      </p:sp>
      <p:sp>
        <p:nvSpPr>
          <p:cNvPr id="8" name="TextBox 7"/>
          <p:cNvSpPr txBox="1"/>
          <p:nvPr/>
        </p:nvSpPr>
        <p:spPr>
          <a:xfrm>
            <a:off x="4297680" y="4663440"/>
            <a:ext cx="3291840" cy="640080"/>
          </a:xfrm>
          <a:prstGeom prst="rect">
            <a:avLst/>
          </a:prstGeom>
          <a:noFill/>
        </p:spPr>
        <p:txBody>
          <a:bodyPr wrap="square" lIns="0" rIns="0" tIns="0" bIns="0" anchor="t">
            <a:spAutoFit/>
          </a:bodyPr>
          <a:lstStyle/>
          <a:p>
            <a:pPr algn="l">
              <a:spcAft>
                <a:spcPts val="0"/>
              </a:spcAft>
            </a:pPr>
            <a:r>
              <a:rPr sz="3400" b="1" i="0">
                <a:solidFill>
                  <a:srgbClr val="FFFFFF"/>
                </a:solidFill>
                <a:latin typeface="Calibri"/>
              </a:rPr>
              <a:t>0.89</a:t>
            </a:r>
          </a:p>
        </p:txBody>
      </p:sp>
      <p:sp>
        <p:nvSpPr>
          <p:cNvPr id="9" name="TextBox 8"/>
          <p:cNvSpPr txBox="1"/>
          <p:nvPr/>
        </p:nvSpPr>
        <p:spPr>
          <a:xfrm>
            <a:off x="4297680" y="5349240"/>
            <a:ext cx="3200400" cy="548640"/>
          </a:xfrm>
          <a:prstGeom prst="rect">
            <a:avLst/>
          </a:prstGeom>
          <a:noFill/>
        </p:spPr>
        <p:txBody>
          <a:bodyPr wrap="square" lIns="0" rIns="0" tIns="0" bIns="0" anchor="t">
            <a:spAutoFit/>
          </a:bodyPr>
          <a:lstStyle/>
          <a:p>
            <a:pPr algn="l">
              <a:spcAft>
                <a:spcPts val="0"/>
              </a:spcAft>
            </a:pPr>
            <a:r>
              <a:rPr sz="1400" b="0" i="0">
                <a:solidFill>
                  <a:srgbClr val="D5DEEA"/>
                </a:solidFill>
                <a:latin typeface="Calibri"/>
              </a:rPr>
              <a:t>test AUC for five-year survival</a:t>
            </a:r>
          </a:p>
        </p:txBody>
      </p:sp>
      <p:sp>
        <p:nvSpPr>
          <p:cNvPr id="10" name="TextBox 9"/>
          <p:cNvSpPr txBox="1"/>
          <p:nvPr/>
        </p:nvSpPr>
        <p:spPr>
          <a:xfrm>
            <a:off x="7863840" y="4663440"/>
            <a:ext cx="3291840" cy="640080"/>
          </a:xfrm>
          <a:prstGeom prst="rect">
            <a:avLst/>
          </a:prstGeom>
          <a:noFill/>
        </p:spPr>
        <p:txBody>
          <a:bodyPr wrap="square" lIns="0" rIns="0" tIns="0" bIns="0" anchor="t">
            <a:spAutoFit/>
          </a:bodyPr>
          <a:lstStyle/>
          <a:p>
            <a:pPr algn="l">
              <a:spcAft>
                <a:spcPts val="0"/>
              </a:spcAft>
            </a:pPr>
            <a:r>
              <a:rPr sz="3400" b="1" i="0">
                <a:solidFill>
                  <a:srgbClr val="FFFFFF"/>
                </a:solidFill>
                <a:latin typeface="Calibri"/>
              </a:rPr>
              <a:t>8</a:t>
            </a:r>
          </a:p>
        </p:txBody>
      </p:sp>
      <p:sp>
        <p:nvSpPr>
          <p:cNvPr id="11" name="TextBox 10"/>
          <p:cNvSpPr txBox="1"/>
          <p:nvPr/>
        </p:nvSpPr>
        <p:spPr>
          <a:xfrm>
            <a:off x="7863840" y="5349240"/>
            <a:ext cx="3200400" cy="548640"/>
          </a:xfrm>
          <a:prstGeom prst="rect">
            <a:avLst/>
          </a:prstGeom>
          <a:noFill/>
        </p:spPr>
        <p:txBody>
          <a:bodyPr wrap="square" lIns="0" rIns="0" tIns="0" bIns="0" anchor="t">
            <a:spAutoFit/>
          </a:bodyPr>
          <a:lstStyle/>
          <a:p>
            <a:pPr algn="l">
              <a:spcAft>
                <a:spcPts val="0"/>
              </a:spcAft>
            </a:pPr>
            <a:r>
              <a:rPr sz="1400" b="0" i="0">
                <a:solidFill>
                  <a:srgbClr val="D5DEEA"/>
                </a:solidFill>
                <a:latin typeface="Calibri"/>
              </a:rPr>
              <a:t>hub genes behind the prediction</a:t>
            </a:r>
          </a:p>
        </p:txBody>
      </p:sp>
      <p:sp>
        <p:nvSpPr>
          <p:cNvPr id="12" name="TextBox 11"/>
          <p:cNvSpPr txBox="1"/>
          <p:nvPr/>
        </p:nvSpPr>
        <p:spPr>
          <a:xfrm>
            <a:off x="548640" y="6510528"/>
            <a:ext cx="6400800" cy="228600"/>
          </a:xfrm>
          <a:prstGeom prst="rect">
            <a:avLst/>
          </a:prstGeom>
          <a:noFill/>
        </p:spPr>
        <p:txBody>
          <a:bodyPr wrap="square" lIns="0" rIns="0" tIns="0" bIns="0" anchor="t">
            <a:spAutoFit/>
          </a:bodyPr>
          <a:lstStyle/>
          <a:p>
            <a:pPr algn="l">
              <a:spcAft>
                <a:spcPts val="0"/>
              </a:spcAft>
            </a:pPr>
            <a:r>
              <a:rPr sz="1000" b="0" i="0">
                <a:solidFill>
                  <a:srgbClr val="8A8984"/>
                </a:solidFill>
                <a:latin typeface="Calibri"/>
              </a:rPr>
              <a:t>Kunal Tembhare  ·  Computational biology and multi-omics ML</a:t>
            </a:r>
          </a:p>
        </p:txBody>
      </p:sp>
      <p:sp>
        <p:nvSpPr>
          <p:cNvPr id="13" name="TextBox 12"/>
          <p:cNvSpPr txBox="1"/>
          <p:nvPr/>
        </p:nvSpPr>
        <p:spPr>
          <a:xfrm>
            <a:off x="10268712" y="6510528"/>
            <a:ext cx="1371600" cy="228600"/>
          </a:xfrm>
          <a:prstGeom prst="rect">
            <a:avLst/>
          </a:prstGeom>
          <a:noFill/>
        </p:spPr>
        <p:txBody>
          <a:bodyPr wrap="square" lIns="0" rIns="0" tIns="0" bIns="0" anchor="t">
            <a:spAutoFit/>
          </a:bodyPr>
          <a:lstStyle/>
          <a:p>
            <a:pPr algn="r">
              <a:spcAft>
                <a:spcPts val="0"/>
              </a:spcAft>
            </a:pPr>
            <a:r>
              <a:rPr sz="1000" b="0" i="0">
                <a:solidFill>
                  <a:srgbClr val="8A8984"/>
                </a:solidFill>
                <a:latin typeface="Calibri"/>
              </a:rPr>
              <a:t>3 / 27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48640" y="347472"/>
            <a:ext cx="8229600" cy="274320"/>
          </a:xfrm>
          <a:prstGeom prst="rect">
            <a:avLst/>
          </a:prstGeom>
          <a:noFill/>
        </p:spPr>
        <p:txBody>
          <a:bodyPr wrap="square" lIns="0" rIns="0" tIns="0" bIns="0" anchor="t">
            <a:spAutoFit/>
          </a:bodyPr>
          <a:lstStyle/>
          <a:p>
            <a:pPr algn="l">
              <a:spcAft>
                <a:spcPts val="0"/>
              </a:spcAft>
            </a:pPr>
            <a:r>
              <a:rPr sz="1200" b="1" i="0">
                <a:solidFill>
                  <a:srgbClr val="1F5FAE"/>
                </a:solidFill>
                <a:latin typeface="Calibri"/>
              </a:rPr>
              <a:t>MULTI-OMICS PROJECT  ·  PROBLEM</a:t>
            </a:r>
          </a:p>
        </p:txBody>
      </p:sp>
      <p:sp>
        <p:nvSpPr>
          <p:cNvPr id="3" name="TextBox 2"/>
          <p:cNvSpPr txBox="1"/>
          <p:nvPr/>
        </p:nvSpPr>
        <p:spPr>
          <a:xfrm>
            <a:off x="548640" y="621792"/>
            <a:ext cx="11091672" cy="914400"/>
          </a:xfrm>
          <a:prstGeom prst="rect">
            <a:avLst/>
          </a:prstGeom>
          <a:noFill/>
        </p:spPr>
        <p:txBody>
          <a:bodyPr wrap="square" lIns="0" rIns="0" tIns="0" bIns="0" anchor="t">
            <a:spAutoFit/>
          </a:bodyPr>
          <a:lstStyle/>
          <a:p>
            <a:pPr algn="l">
              <a:lnSpc>
                <a:spcPct val="95000"/>
              </a:lnSpc>
              <a:spcAft>
                <a:spcPts val="0"/>
              </a:spcAft>
            </a:pPr>
            <a:r>
              <a:rPr sz="2600" b="1" i="0">
                <a:solidFill>
                  <a:srgbClr val="0E2A47"/>
                </a:solidFill>
                <a:latin typeface="Calibri"/>
              </a:rPr>
              <a:t>Single-omics models miss interdependence, and high-dimensional data invites overfitting</a:t>
            </a:r>
          </a:p>
        </p:txBody>
      </p:sp>
      <p:sp>
        <p:nvSpPr>
          <p:cNvPr id="4" name="Rectangle 3"/>
          <p:cNvSpPr/>
          <p:nvPr/>
        </p:nvSpPr>
        <p:spPr>
          <a:xfrm>
            <a:off x="548640" y="6108192"/>
            <a:ext cx="11091672" cy="329184"/>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6108192"/>
            <a:ext cx="64008" cy="329184"/>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108192"/>
            <a:ext cx="10817352" cy="329184"/>
          </a:xfrm>
          <a:prstGeom prst="rect">
            <a:avLst/>
          </a:prstGeom>
          <a:noFill/>
        </p:spPr>
        <p:txBody>
          <a:bodyPr wrap="square" lIns="0" rIns="0" tIns="0" bIns="0" anchor="ctr">
            <a:spAutoFit/>
          </a:bodyPr>
          <a:lstStyle/>
          <a:p>
            <a:pPr algn="l">
              <a:spcAft>
                <a:spcPts val="0"/>
              </a:spcAft>
            </a:pPr>
            <a:r>
              <a:rPr sz="1100" b="1" i="0">
                <a:solidFill>
                  <a:srgbClr val="1F5FAE"/>
                </a:solidFill>
                <a:latin typeface="Calibri"/>
              </a:rPr>
              <a:t>ROLE LINK   </a:t>
            </a:r>
            <a:r>
              <a:rPr sz="1300" b="0" i="0">
                <a:solidFill>
                  <a:srgbClr val="52514E"/>
                </a:solidFill>
                <a:latin typeface="Calibri"/>
              </a:rPr>
              <a:t>Translating a clinical question into a well-defined analytical strategy</a:t>
            </a:r>
          </a:p>
        </p:txBody>
      </p:sp>
      <p:sp>
        <p:nvSpPr>
          <p:cNvPr id="7" name="TextBox 6"/>
          <p:cNvSpPr txBox="1"/>
          <p:nvPr/>
        </p:nvSpPr>
        <p:spPr>
          <a:xfrm>
            <a:off x="548640" y="6510528"/>
            <a:ext cx="6400800" cy="228600"/>
          </a:xfrm>
          <a:prstGeom prst="rect">
            <a:avLst/>
          </a:prstGeom>
          <a:noFill/>
        </p:spPr>
        <p:txBody>
          <a:bodyPr wrap="square" lIns="0" rIns="0" tIns="0" bIns="0" anchor="t">
            <a:spAutoFit/>
          </a:bodyPr>
          <a:lstStyle/>
          <a:p>
            <a:pPr algn="l">
              <a:spcAft>
                <a:spcPts val="0"/>
              </a:spcAft>
            </a:pPr>
            <a:r>
              <a:rPr sz="1000" b="0" i="0">
                <a:solidFill>
                  <a:srgbClr val="8A8984"/>
                </a:solidFill>
                <a:latin typeface="Calibri"/>
              </a:rPr>
              <a:t>Kunal Tembhare  ·  Computational biology and multi-omics ML</a:t>
            </a:r>
          </a:p>
        </p:txBody>
      </p:sp>
      <p:sp>
        <p:nvSpPr>
          <p:cNvPr id="8" name="TextBox 7"/>
          <p:cNvSpPr txBox="1"/>
          <p:nvPr/>
        </p:nvSpPr>
        <p:spPr>
          <a:xfrm>
            <a:off x="10268712" y="6510528"/>
            <a:ext cx="1371600" cy="228600"/>
          </a:xfrm>
          <a:prstGeom prst="rect">
            <a:avLst/>
          </a:prstGeom>
          <a:noFill/>
        </p:spPr>
        <p:txBody>
          <a:bodyPr wrap="square" lIns="0" rIns="0" tIns="0" bIns="0" anchor="t">
            <a:spAutoFit/>
          </a:bodyPr>
          <a:lstStyle/>
          <a:p>
            <a:pPr algn="r">
              <a:spcAft>
                <a:spcPts val="0"/>
              </a:spcAft>
            </a:pPr>
            <a:r>
              <a:rPr sz="1000" b="0" i="0">
                <a:solidFill>
                  <a:srgbClr val="8A8984"/>
                </a:solidFill>
                <a:latin typeface="Calibri"/>
              </a:rPr>
              <a:t>4 / 27</a:t>
            </a:r>
          </a:p>
        </p:txBody>
      </p:sp>
      <p:sp>
        <p:nvSpPr>
          <p:cNvPr id="9" name="Rectangle 8"/>
          <p:cNvSpPr/>
          <p:nvPr/>
        </p:nvSpPr>
        <p:spPr>
          <a:xfrm>
            <a:off x="548640" y="1691640"/>
            <a:ext cx="6035040" cy="123444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691640"/>
            <a:ext cx="73152" cy="1234440"/>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59" y="1828800"/>
            <a:ext cx="5486400" cy="320040"/>
          </a:xfrm>
          <a:prstGeom prst="rect">
            <a:avLst/>
          </a:prstGeom>
          <a:noFill/>
        </p:spPr>
        <p:txBody>
          <a:bodyPr wrap="square" lIns="0" rIns="0" tIns="0" bIns="0" anchor="t">
            <a:spAutoFit/>
          </a:bodyPr>
          <a:lstStyle/>
          <a:p>
            <a:pPr algn="l">
              <a:spcAft>
                <a:spcPts val="0"/>
              </a:spcAft>
            </a:pPr>
            <a:r>
              <a:rPr sz="1700" b="1" i="0">
                <a:solidFill>
                  <a:srgbClr val="0E2A47"/>
                </a:solidFill>
                <a:latin typeface="Calibri"/>
              </a:rPr>
              <a:t>Few patients, many features</a:t>
            </a:r>
          </a:p>
        </p:txBody>
      </p:sp>
      <p:sp>
        <p:nvSpPr>
          <p:cNvPr id="12" name="TextBox 11"/>
          <p:cNvSpPr txBox="1"/>
          <p:nvPr/>
        </p:nvSpPr>
        <p:spPr>
          <a:xfrm>
            <a:off x="822959" y="2194560"/>
            <a:ext cx="5486400" cy="685800"/>
          </a:xfrm>
          <a:prstGeom prst="rect">
            <a:avLst/>
          </a:prstGeom>
          <a:noFill/>
        </p:spPr>
        <p:txBody>
          <a:bodyPr wrap="square" lIns="0" rIns="0" tIns="0" bIns="0" anchor="t">
            <a:spAutoFit/>
          </a:bodyPr>
          <a:lstStyle/>
          <a:p>
            <a:pPr algn="l">
              <a:spcAft>
                <a:spcPts val="0"/>
              </a:spcAft>
            </a:pPr>
            <a:r>
              <a:rPr sz="1400" b="0" i="0">
                <a:solidFill>
                  <a:srgbClr val="14171C"/>
                </a:solidFill>
                <a:latin typeface="Calibri"/>
              </a:rPr>
              <a:t>Thousands of features per modality against 302 patients. The curse of dimensionality makes overfitting the default outcome.</a:t>
            </a:r>
          </a:p>
        </p:txBody>
      </p:sp>
      <p:sp>
        <p:nvSpPr>
          <p:cNvPr id="13" name="Rectangle 12"/>
          <p:cNvSpPr/>
          <p:nvPr/>
        </p:nvSpPr>
        <p:spPr>
          <a:xfrm>
            <a:off x="548640" y="3063240"/>
            <a:ext cx="6035040" cy="123444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48640" y="3063240"/>
            <a:ext cx="73152" cy="1234440"/>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59" y="3200400"/>
            <a:ext cx="5486400" cy="320040"/>
          </a:xfrm>
          <a:prstGeom prst="rect">
            <a:avLst/>
          </a:prstGeom>
          <a:noFill/>
        </p:spPr>
        <p:txBody>
          <a:bodyPr wrap="square" lIns="0" rIns="0" tIns="0" bIns="0" anchor="t">
            <a:spAutoFit/>
          </a:bodyPr>
          <a:lstStyle/>
          <a:p>
            <a:pPr algn="l">
              <a:spcAft>
                <a:spcPts val="0"/>
              </a:spcAft>
            </a:pPr>
            <a:r>
              <a:rPr sz="1700" b="1" i="0">
                <a:solidFill>
                  <a:srgbClr val="0E2A47"/>
                </a:solidFill>
                <a:latin typeface="Calibri"/>
              </a:rPr>
              <a:t>Selection versus interpretation</a:t>
            </a:r>
          </a:p>
        </p:txBody>
      </p:sp>
      <p:sp>
        <p:nvSpPr>
          <p:cNvPr id="16" name="TextBox 15"/>
          <p:cNvSpPr txBox="1"/>
          <p:nvPr/>
        </p:nvSpPr>
        <p:spPr>
          <a:xfrm>
            <a:off x="822959" y="3566160"/>
            <a:ext cx="5486400" cy="685800"/>
          </a:xfrm>
          <a:prstGeom prst="rect">
            <a:avLst/>
          </a:prstGeom>
          <a:noFill/>
        </p:spPr>
        <p:txBody>
          <a:bodyPr wrap="square" lIns="0" rIns="0" tIns="0" bIns="0" anchor="t">
            <a:spAutoFit/>
          </a:bodyPr>
          <a:lstStyle/>
          <a:p>
            <a:pPr algn="l">
              <a:spcAft>
                <a:spcPts val="0"/>
              </a:spcAft>
            </a:pPr>
            <a:r>
              <a:rPr sz="1400" b="0" i="0">
                <a:solidFill>
                  <a:srgbClr val="14171C"/>
                </a:solidFill>
                <a:latin typeface="Calibri"/>
              </a:rPr>
              <a:t>Feature selection drops the gene-network context. Latent variables keep the information but are hard to interpret.</a:t>
            </a:r>
          </a:p>
        </p:txBody>
      </p:sp>
      <p:sp>
        <p:nvSpPr>
          <p:cNvPr id="17" name="Rectangle 16"/>
          <p:cNvSpPr/>
          <p:nvPr/>
        </p:nvSpPr>
        <p:spPr>
          <a:xfrm>
            <a:off x="548640" y="4434840"/>
            <a:ext cx="6035040" cy="123444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4434840"/>
            <a:ext cx="73152" cy="1234440"/>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59" y="4572000"/>
            <a:ext cx="5486400" cy="320040"/>
          </a:xfrm>
          <a:prstGeom prst="rect">
            <a:avLst/>
          </a:prstGeom>
          <a:noFill/>
        </p:spPr>
        <p:txBody>
          <a:bodyPr wrap="square" lIns="0" rIns="0" tIns="0" bIns="0" anchor="t">
            <a:spAutoFit/>
          </a:bodyPr>
          <a:lstStyle/>
          <a:p>
            <a:pPr algn="l">
              <a:spcAft>
                <a:spcPts val="0"/>
              </a:spcAft>
            </a:pPr>
            <a:r>
              <a:rPr sz="1700" b="1" i="0">
                <a:solidFill>
                  <a:srgbClr val="0E2A47"/>
                </a:solidFill>
                <a:latin typeface="Calibri"/>
              </a:rPr>
              <a:t>Accuracy without insight</a:t>
            </a:r>
          </a:p>
        </p:txBody>
      </p:sp>
      <p:sp>
        <p:nvSpPr>
          <p:cNvPr id="20" name="TextBox 19"/>
          <p:cNvSpPr txBox="1"/>
          <p:nvPr/>
        </p:nvSpPr>
        <p:spPr>
          <a:xfrm>
            <a:off x="822959" y="4937759"/>
            <a:ext cx="5486400" cy="685800"/>
          </a:xfrm>
          <a:prstGeom prst="rect">
            <a:avLst/>
          </a:prstGeom>
          <a:noFill/>
        </p:spPr>
        <p:txBody>
          <a:bodyPr wrap="square" lIns="0" rIns="0" tIns="0" bIns="0" anchor="t">
            <a:spAutoFit/>
          </a:bodyPr>
          <a:lstStyle/>
          <a:p>
            <a:pPr algn="l">
              <a:spcAft>
                <a:spcPts val="0"/>
              </a:spcAft>
            </a:pPr>
            <a:r>
              <a:rPr sz="1400" b="0" i="0">
                <a:solidFill>
                  <a:srgbClr val="14171C"/>
                </a:solidFill>
                <a:latin typeface="Calibri"/>
              </a:rPr>
              <a:t>Deep learning scores well on survival prediction but acts as a black box and yields no actionable biomarkers.</a:t>
            </a:r>
          </a:p>
        </p:txBody>
      </p:sp>
      <p:sp>
        <p:nvSpPr>
          <p:cNvPr id="21" name="Rectangle 20"/>
          <p:cNvSpPr/>
          <p:nvPr/>
        </p:nvSpPr>
        <p:spPr>
          <a:xfrm>
            <a:off x="6858000" y="1691640"/>
            <a:ext cx="4782312" cy="3977639"/>
          </a:xfrm>
          <a:prstGeom prst="rect">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132320" y="1874519"/>
            <a:ext cx="4297680" cy="274320"/>
          </a:xfrm>
          <a:prstGeom prst="rect">
            <a:avLst/>
          </a:prstGeom>
          <a:noFill/>
        </p:spPr>
        <p:txBody>
          <a:bodyPr wrap="square" lIns="0" rIns="0" tIns="0" bIns="0" anchor="t">
            <a:spAutoFit/>
          </a:bodyPr>
          <a:lstStyle/>
          <a:p>
            <a:pPr algn="l">
              <a:spcAft>
                <a:spcPts val="0"/>
              </a:spcAft>
            </a:pPr>
            <a:r>
              <a:rPr sz="1100" b="1" i="0">
                <a:solidFill>
                  <a:srgbClr val="A9C7F0"/>
                </a:solidFill>
                <a:latin typeface="Calibri"/>
              </a:rPr>
              <a:t>OBJECTIVE</a:t>
            </a:r>
          </a:p>
        </p:txBody>
      </p:sp>
      <p:sp>
        <p:nvSpPr>
          <p:cNvPr id="23" name="TextBox 22"/>
          <p:cNvSpPr txBox="1"/>
          <p:nvPr/>
        </p:nvSpPr>
        <p:spPr>
          <a:xfrm>
            <a:off x="7132320" y="2148840"/>
            <a:ext cx="4297680" cy="1188720"/>
          </a:xfrm>
          <a:prstGeom prst="rect">
            <a:avLst/>
          </a:prstGeom>
          <a:noFill/>
        </p:spPr>
        <p:txBody>
          <a:bodyPr wrap="square" lIns="0" rIns="0" tIns="0" bIns="0" anchor="t">
            <a:spAutoFit/>
          </a:bodyPr>
          <a:lstStyle/>
          <a:p>
            <a:pPr algn="l">
              <a:spcAft>
                <a:spcPts val="0"/>
              </a:spcAft>
            </a:pPr>
            <a:r>
              <a:rPr sz="1700" b="1" i="0">
                <a:solidFill>
                  <a:srgbClr val="FFFFFF"/>
                </a:solidFill>
                <a:latin typeface="Calibri"/>
              </a:rPr>
              <a:t>Predict whether a breast cancer patient survives beyond five years from four omics layers, and recover the biomarkers and gene network behind the prediction.</a:t>
            </a:r>
          </a:p>
        </p:txBody>
      </p:sp>
      <p:sp>
        <p:nvSpPr>
          <p:cNvPr id="24" name="TextBox 23"/>
          <p:cNvSpPr txBox="1"/>
          <p:nvPr/>
        </p:nvSpPr>
        <p:spPr>
          <a:xfrm>
            <a:off x="7132320" y="3474720"/>
            <a:ext cx="4297680" cy="274320"/>
          </a:xfrm>
          <a:prstGeom prst="rect">
            <a:avLst/>
          </a:prstGeom>
          <a:noFill/>
        </p:spPr>
        <p:txBody>
          <a:bodyPr wrap="square" lIns="0" rIns="0" tIns="0" bIns="0" anchor="t">
            <a:spAutoFit/>
          </a:bodyPr>
          <a:lstStyle/>
          <a:p>
            <a:pPr algn="l">
              <a:spcAft>
                <a:spcPts val="0"/>
              </a:spcAft>
            </a:pPr>
            <a:r>
              <a:rPr sz="1100" b="1" i="0">
                <a:solidFill>
                  <a:srgbClr val="A9C7F0"/>
                </a:solidFill>
                <a:latin typeface="Calibri"/>
              </a:rPr>
              <a:t>APPROACH</a:t>
            </a:r>
          </a:p>
        </p:txBody>
      </p:sp>
      <p:sp>
        <p:nvSpPr>
          <p:cNvPr id="25" name="TextBox 24"/>
          <p:cNvSpPr txBox="1"/>
          <p:nvPr/>
        </p:nvSpPr>
        <p:spPr>
          <a:xfrm>
            <a:off x="7132320" y="3794760"/>
            <a:ext cx="4297680" cy="1737360"/>
          </a:xfrm>
          <a:prstGeom prst="rect">
            <a:avLst/>
          </a:prstGeom>
          <a:noFill/>
        </p:spPr>
        <p:txBody>
          <a:bodyPr wrap="square" lIns="0" rIns="0" tIns="0" bIns="0" anchor="t">
            <a:spAutoFit/>
          </a:bodyPr>
          <a:lstStyle/>
          <a:p>
            <a:pPr algn="l" marL="201168" indent="-201168">
              <a:spcAft>
                <a:spcPts val="400"/>
              </a:spcAft>
              <a:buChar char="•"/>
            </a:pPr>
            <a:r>
              <a:rPr sz="1400" b="0" i="0">
                <a:solidFill>
                  <a:srgbClr val="D5DEEA"/>
                </a:solidFill>
                <a:latin typeface="Calibri"/>
              </a:rPr>
              <a:t>Univariate and multivariate feature engineering per modality</a:t>
            </a:r>
          </a:p>
          <a:p>
            <a:pPr algn="l" marL="201168" indent="-201168">
              <a:spcAft>
                <a:spcPts val="400"/>
              </a:spcAft>
              <a:buChar char="•"/>
            </a:pPr>
            <a:r>
              <a:rPr sz="1400" b="0" i="0">
                <a:solidFill>
                  <a:srgbClr val="D5DEEA"/>
                </a:solidFill>
                <a:latin typeface="Calibri"/>
              </a:rPr>
              <a:t>SVM and random forest base models, plus PLS-DA latent variables</a:t>
            </a:r>
          </a:p>
          <a:p>
            <a:pPr algn="l" marL="201168" indent="-201168">
              <a:spcAft>
                <a:spcPts val="400"/>
              </a:spcAft>
              <a:buChar char="•"/>
            </a:pPr>
            <a:r>
              <a:rPr sz="1400" b="0" i="0">
                <a:solidFill>
                  <a:srgbClr val="D5DEEA"/>
                </a:solidFill>
                <a:latin typeface="Calibri"/>
              </a:rPr>
              <a:t>A stacked meta-model for integration</a:t>
            </a:r>
          </a:p>
          <a:p>
            <a:pPr algn="l" marL="201168" indent="-201168">
              <a:spcAft>
                <a:spcPts val="400"/>
              </a:spcAft>
              <a:buChar char="•"/>
            </a:pPr>
            <a:r>
              <a:rPr sz="1400" b="0" i="0">
                <a:solidFill>
                  <a:srgbClr val="D5DEEA"/>
                </a:solidFill>
                <a:latin typeface="Calibri"/>
              </a:rPr>
              <a:t>Pathway, network and miRNA analysis of the selected features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48640" y="347472"/>
            <a:ext cx="8229600" cy="274320"/>
          </a:xfrm>
          <a:prstGeom prst="rect">
            <a:avLst/>
          </a:prstGeom>
          <a:noFill/>
        </p:spPr>
        <p:txBody>
          <a:bodyPr wrap="square" lIns="0" rIns="0" tIns="0" bIns="0" anchor="t">
            <a:spAutoFit/>
          </a:bodyPr>
          <a:lstStyle/>
          <a:p>
            <a:pPr algn="l">
              <a:spcAft>
                <a:spcPts val="0"/>
              </a:spcAft>
            </a:pPr>
            <a:r>
              <a:rPr sz="1200" b="1" i="0">
                <a:solidFill>
                  <a:srgbClr val="1F5FAE"/>
                </a:solidFill>
                <a:latin typeface="Calibri"/>
              </a:rPr>
              <a:t>MULTI-OMICS PROJECT  ·  DATA</a:t>
            </a:r>
          </a:p>
        </p:txBody>
      </p:sp>
      <p:sp>
        <p:nvSpPr>
          <p:cNvPr id="3" name="TextBox 2"/>
          <p:cNvSpPr txBox="1"/>
          <p:nvPr/>
        </p:nvSpPr>
        <p:spPr>
          <a:xfrm>
            <a:off x="548640" y="621792"/>
            <a:ext cx="11091672" cy="914400"/>
          </a:xfrm>
          <a:prstGeom prst="rect">
            <a:avLst/>
          </a:prstGeom>
          <a:noFill/>
        </p:spPr>
        <p:txBody>
          <a:bodyPr wrap="square" lIns="0" rIns="0" tIns="0" bIns="0" anchor="t">
            <a:spAutoFit/>
          </a:bodyPr>
          <a:lstStyle/>
          <a:p>
            <a:pPr algn="l">
              <a:lnSpc>
                <a:spcPct val="95000"/>
              </a:lnSpc>
              <a:spcAft>
                <a:spcPts val="0"/>
              </a:spcAft>
            </a:pPr>
            <a:r>
              <a:rPr sz="2600" b="1" i="0">
                <a:solidFill>
                  <a:srgbClr val="0E2A47"/>
                </a:solidFill>
                <a:latin typeface="Calibri"/>
              </a:rPr>
              <a:t>302 TCGA breast cancer patients had all four omics layers and at least five years of follow-up</a:t>
            </a:r>
          </a:p>
        </p:txBody>
      </p:sp>
      <p:sp>
        <p:nvSpPr>
          <p:cNvPr id="4" name="Rectangle 3"/>
          <p:cNvSpPr/>
          <p:nvPr/>
        </p:nvSpPr>
        <p:spPr>
          <a:xfrm>
            <a:off x="548640" y="6108192"/>
            <a:ext cx="11091672" cy="329184"/>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6108192"/>
            <a:ext cx="64008" cy="329184"/>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108192"/>
            <a:ext cx="10817352" cy="329184"/>
          </a:xfrm>
          <a:prstGeom prst="rect">
            <a:avLst/>
          </a:prstGeom>
          <a:noFill/>
        </p:spPr>
        <p:txBody>
          <a:bodyPr wrap="square" lIns="0" rIns="0" tIns="0" bIns="0" anchor="ctr">
            <a:spAutoFit/>
          </a:bodyPr>
          <a:lstStyle/>
          <a:p>
            <a:pPr algn="l">
              <a:spcAft>
                <a:spcPts val="0"/>
              </a:spcAft>
            </a:pPr>
            <a:r>
              <a:rPr sz="1100" b="1" i="0">
                <a:solidFill>
                  <a:srgbClr val="1F5FAE"/>
                </a:solidFill>
                <a:latin typeface="Calibri"/>
              </a:rPr>
              <a:t>ROLE LINK   </a:t>
            </a:r>
            <a:r>
              <a:rPr sz="1300" b="0" i="0">
                <a:solidFill>
                  <a:srgbClr val="52514E"/>
                </a:solidFill>
                <a:latin typeface="Calibri"/>
              </a:rPr>
              <a:t>Real-world biomarker data: QC, preprocessing and integration across modalities</a:t>
            </a:r>
          </a:p>
        </p:txBody>
      </p:sp>
      <p:sp>
        <p:nvSpPr>
          <p:cNvPr id="7" name="TextBox 6"/>
          <p:cNvSpPr txBox="1"/>
          <p:nvPr/>
        </p:nvSpPr>
        <p:spPr>
          <a:xfrm>
            <a:off x="548640" y="6510528"/>
            <a:ext cx="6400800" cy="228600"/>
          </a:xfrm>
          <a:prstGeom prst="rect">
            <a:avLst/>
          </a:prstGeom>
          <a:noFill/>
        </p:spPr>
        <p:txBody>
          <a:bodyPr wrap="square" lIns="0" rIns="0" tIns="0" bIns="0" anchor="t">
            <a:spAutoFit/>
          </a:bodyPr>
          <a:lstStyle/>
          <a:p>
            <a:pPr algn="l">
              <a:spcAft>
                <a:spcPts val="0"/>
              </a:spcAft>
            </a:pPr>
            <a:r>
              <a:rPr sz="1000" b="0" i="0">
                <a:solidFill>
                  <a:srgbClr val="8A8984"/>
                </a:solidFill>
                <a:latin typeface="Calibri"/>
              </a:rPr>
              <a:t>Kunal Tembhare  ·  Computational biology and multi-omics ML</a:t>
            </a:r>
          </a:p>
        </p:txBody>
      </p:sp>
      <p:sp>
        <p:nvSpPr>
          <p:cNvPr id="8" name="TextBox 7"/>
          <p:cNvSpPr txBox="1"/>
          <p:nvPr/>
        </p:nvSpPr>
        <p:spPr>
          <a:xfrm>
            <a:off x="10268712" y="6510528"/>
            <a:ext cx="1371600" cy="228600"/>
          </a:xfrm>
          <a:prstGeom prst="rect">
            <a:avLst/>
          </a:prstGeom>
          <a:noFill/>
        </p:spPr>
        <p:txBody>
          <a:bodyPr wrap="square" lIns="0" rIns="0" tIns="0" bIns="0" anchor="t">
            <a:spAutoFit/>
          </a:bodyPr>
          <a:lstStyle/>
          <a:p>
            <a:pPr algn="r">
              <a:spcAft>
                <a:spcPts val="0"/>
              </a:spcAft>
            </a:pPr>
            <a:r>
              <a:rPr sz="1000" b="0" i="0">
                <a:solidFill>
                  <a:srgbClr val="8A8984"/>
                </a:solidFill>
                <a:latin typeface="Calibri"/>
              </a:rPr>
              <a:t>5 / 27</a:t>
            </a:r>
          </a:p>
        </p:txBody>
      </p:sp>
      <p:sp>
        <p:nvSpPr>
          <p:cNvPr id="9" name="TextBox 8"/>
          <p:cNvSpPr txBox="1"/>
          <p:nvPr/>
        </p:nvSpPr>
        <p:spPr>
          <a:xfrm>
            <a:off x="548640" y="1645920"/>
            <a:ext cx="5486400" cy="228600"/>
          </a:xfrm>
          <a:prstGeom prst="rect">
            <a:avLst/>
          </a:prstGeom>
          <a:noFill/>
        </p:spPr>
        <p:txBody>
          <a:bodyPr wrap="square" lIns="0" rIns="0" tIns="0" bIns="0" anchor="t">
            <a:spAutoFit/>
          </a:bodyPr>
          <a:lstStyle/>
          <a:p>
            <a:pPr algn="l">
              <a:spcAft>
                <a:spcPts val="0"/>
              </a:spcAft>
            </a:pPr>
            <a:r>
              <a:rPr sz="1100" b="1" i="0">
                <a:solidFill>
                  <a:srgbClr val="8A8984"/>
                </a:solidFill>
                <a:latin typeface="Calibri"/>
              </a:rPr>
              <a:t>COHORT</a:t>
            </a:r>
          </a:p>
        </p:txBody>
      </p:sp>
      <p:sp>
        <p:nvSpPr>
          <p:cNvPr id="10" name="TextBox 9"/>
          <p:cNvSpPr txBox="1"/>
          <p:nvPr/>
        </p:nvSpPr>
        <p:spPr>
          <a:xfrm>
            <a:off x="548640" y="1920240"/>
            <a:ext cx="1737360" cy="731520"/>
          </a:xfrm>
          <a:prstGeom prst="rect">
            <a:avLst/>
          </a:prstGeom>
          <a:noFill/>
        </p:spPr>
        <p:txBody>
          <a:bodyPr wrap="square" lIns="0" rIns="0" tIns="0" bIns="0" anchor="ctr">
            <a:spAutoFit/>
          </a:bodyPr>
          <a:lstStyle/>
          <a:p>
            <a:pPr algn="l">
              <a:spcAft>
                <a:spcPts val="0"/>
              </a:spcAft>
            </a:pPr>
            <a:r>
              <a:rPr sz="4400" b="1" i="0">
                <a:solidFill>
                  <a:srgbClr val="0E2A47"/>
                </a:solidFill>
                <a:latin typeface="Calibri"/>
              </a:rPr>
              <a:t>1,026</a:t>
            </a:r>
          </a:p>
        </p:txBody>
      </p:sp>
      <p:sp>
        <p:nvSpPr>
          <p:cNvPr id="11" name="TextBox 10"/>
          <p:cNvSpPr txBox="1"/>
          <p:nvPr/>
        </p:nvSpPr>
        <p:spPr>
          <a:xfrm>
            <a:off x="2377440" y="1920240"/>
            <a:ext cx="3931920" cy="731520"/>
          </a:xfrm>
          <a:prstGeom prst="rect">
            <a:avLst/>
          </a:prstGeom>
          <a:noFill/>
        </p:spPr>
        <p:txBody>
          <a:bodyPr wrap="square" lIns="0" rIns="0" tIns="0" bIns="0" anchor="ctr">
            <a:spAutoFit/>
          </a:bodyPr>
          <a:lstStyle/>
          <a:p>
            <a:pPr algn="l">
              <a:spcAft>
                <a:spcPts val="0"/>
              </a:spcAft>
            </a:pPr>
            <a:r>
              <a:rPr sz="1350" b="0" i="0">
                <a:solidFill>
                  <a:srgbClr val="14171C"/>
                </a:solidFill>
                <a:latin typeface="Calibri"/>
              </a:rPr>
              <a:t>female ductal and lobular carcinoma patients in TCGA, with survival status for at least five years</a:t>
            </a:r>
          </a:p>
        </p:txBody>
      </p:sp>
      <p:cxnSp>
        <p:nvCxnSpPr>
          <p:cNvPr id="12" name="Connector 11"/>
          <p:cNvCxnSpPr/>
          <p:nvPr/>
        </p:nvCxnSpPr>
        <p:spPr>
          <a:xfrm>
            <a:off x="1371600" y="2697480"/>
            <a:ext cx="0" cy="228600"/>
          </a:xfrm>
          <a:prstGeom prst="line">
            <a:avLst/>
          </a:prstGeom>
          <a:ln w="22225">
            <a:solidFill>
              <a:srgbClr val="8A898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48640" y="2971800"/>
            <a:ext cx="1737360" cy="731520"/>
          </a:xfrm>
          <a:prstGeom prst="rect">
            <a:avLst/>
          </a:prstGeom>
          <a:noFill/>
        </p:spPr>
        <p:txBody>
          <a:bodyPr wrap="square" lIns="0" rIns="0" tIns="0" bIns="0" anchor="ctr">
            <a:spAutoFit/>
          </a:bodyPr>
          <a:lstStyle/>
          <a:p>
            <a:pPr algn="l">
              <a:spcAft>
                <a:spcPts val="0"/>
              </a:spcAft>
            </a:pPr>
            <a:r>
              <a:rPr sz="4400" b="1" i="0">
                <a:solidFill>
                  <a:srgbClr val="0E2A47"/>
                </a:solidFill>
                <a:latin typeface="Calibri"/>
              </a:rPr>
              <a:t>302</a:t>
            </a:r>
          </a:p>
        </p:txBody>
      </p:sp>
      <p:sp>
        <p:nvSpPr>
          <p:cNvPr id="14" name="TextBox 13"/>
          <p:cNvSpPr txBox="1"/>
          <p:nvPr/>
        </p:nvSpPr>
        <p:spPr>
          <a:xfrm>
            <a:off x="2377440" y="2971800"/>
            <a:ext cx="3931920" cy="731520"/>
          </a:xfrm>
          <a:prstGeom prst="rect">
            <a:avLst/>
          </a:prstGeom>
          <a:noFill/>
        </p:spPr>
        <p:txBody>
          <a:bodyPr wrap="square" lIns="0" rIns="0" tIns="0" bIns="0" anchor="ctr">
            <a:spAutoFit/>
          </a:bodyPr>
          <a:lstStyle/>
          <a:p>
            <a:pPr algn="l">
              <a:spcAft>
                <a:spcPts val="0"/>
              </a:spcAft>
            </a:pPr>
            <a:r>
              <a:rPr sz="1350" b="0" i="0">
                <a:solidFill>
                  <a:srgbClr val="14171C"/>
                </a:solidFill>
                <a:latin typeface="Calibri"/>
              </a:rPr>
              <a:t>patients with all four omics layers and clinical data available</a:t>
            </a:r>
          </a:p>
        </p:txBody>
      </p:sp>
      <p:sp>
        <p:nvSpPr>
          <p:cNvPr id="15" name="TextBox 14"/>
          <p:cNvSpPr txBox="1"/>
          <p:nvPr/>
        </p:nvSpPr>
        <p:spPr>
          <a:xfrm>
            <a:off x="548640" y="3886200"/>
            <a:ext cx="5760720" cy="274320"/>
          </a:xfrm>
          <a:prstGeom prst="rect">
            <a:avLst/>
          </a:prstGeom>
          <a:noFill/>
        </p:spPr>
        <p:txBody>
          <a:bodyPr wrap="square" lIns="0" rIns="0" tIns="0" bIns="0" anchor="t">
            <a:spAutoFit/>
          </a:bodyPr>
          <a:lstStyle/>
          <a:p>
            <a:pPr algn="l">
              <a:spcAft>
                <a:spcPts val="0"/>
              </a:spcAft>
            </a:pPr>
            <a:r>
              <a:rPr sz="1300" b="0" i="0">
                <a:solidFill>
                  <a:srgbClr val="52514E"/>
                </a:solidFill>
                <a:latin typeface="Calibri"/>
              </a:rPr>
              <a:t>Survival classes: 73% long, 27% short (imbalanced)</a:t>
            </a:r>
          </a:p>
        </p:txBody>
      </p:sp>
      <p:sp>
        <p:nvSpPr>
          <p:cNvPr id="16" name="Rectangle 15"/>
          <p:cNvSpPr/>
          <p:nvPr/>
        </p:nvSpPr>
        <p:spPr>
          <a:xfrm>
            <a:off x="548640" y="4206240"/>
            <a:ext cx="4197096" cy="457200"/>
          </a:xfrm>
          <a:prstGeom prst="rect">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745736" y="4206240"/>
            <a:ext cx="1563624" cy="457200"/>
          </a:xfrm>
          <a:prstGeom prst="rect">
            <a:avLst/>
          </a:prstGeom>
          <a:solidFill>
            <a:srgbClr val="A9BF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8640" y="4206240"/>
            <a:ext cx="4197096" cy="457200"/>
          </a:xfrm>
          <a:prstGeom prst="rect">
            <a:avLst/>
          </a:prstGeom>
          <a:noFill/>
        </p:spPr>
        <p:txBody>
          <a:bodyPr wrap="square" lIns="0" rIns="0" tIns="0" bIns="0" anchor="ctr">
            <a:spAutoFit/>
          </a:bodyPr>
          <a:lstStyle/>
          <a:p>
            <a:pPr algn="ctr">
              <a:spcAft>
                <a:spcPts val="0"/>
              </a:spcAft>
            </a:pPr>
            <a:r>
              <a:rPr sz="1400" b="1" i="0">
                <a:solidFill>
                  <a:srgbClr val="FFFFFF"/>
                </a:solidFill>
                <a:latin typeface="Calibri"/>
              </a:rPr>
              <a:t>220 long survival</a:t>
            </a:r>
          </a:p>
        </p:txBody>
      </p:sp>
      <p:sp>
        <p:nvSpPr>
          <p:cNvPr id="19" name="TextBox 18"/>
          <p:cNvSpPr txBox="1"/>
          <p:nvPr/>
        </p:nvSpPr>
        <p:spPr>
          <a:xfrm>
            <a:off x="4745736" y="4206240"/>
            <a:ext cx="1563624" cy="457200"/>
          </a:xfrm>
          <a:prstGeom prst="rect">
            <a:avLst/>
          </a:prstGeom>
          <a:noFill/>
        </p:spPr>
        <p:txBody>
          <a:bodyPr wrap="square" lIns="0" rIns="0" tIns="0" bIns="0" anchor="ctr">
            <a:spAutoFit/>
          </a:bodyPr>
          <a:lstStyle/>
          <a:p>
            <a:pPr algn="ctr">
              <a:spcAft>
                <a:spcPts val="0"/>
              </a:spcAft>
            </a:pPr>
            <a:r>
              <a:rPr sz="1400" b="1" i="0">
                <a:solidFill>
                  <a:srgbClr val="0E2A47"/>
                </a:solidFill>
                <a:latin typeface="Calibri"/>
              </a:rPr>
              <a:t>82 short</a:t>
            </a:r>
          </a:p>
        </p:txBody>
      </p:sp>
      <p:sp>
        <p:nvSpPr>
          <p:cNvPr id="20" name="TextBox 19"/>
          <p:cNvSpPr txBox="1"/>
          <p:nvPr/>
        </p:nvSpPr>
        <p:spPr>
          <a:xfrm>
            <a:off x="548640" y="4892040"/>
            <a:ext cx="5760720" cy="274320"/>
          </a:xfrm>
          <a:prstGeom prst="rect">
            <a:avLst/>
          </a:prstGeom>
          <a:noFill/>
        </p:spPr>
        <p:txBody>
          <a:bodyPr wrap="square" lIns="0" rIns="0" tIns="0" bIns="0" anchor="t">
            <a:spAutoFit/>
          </a:bodyPr>
          <a:lstStyle/>
          <a:p>
            <a:pPr algn="l">
              <a:spcAft>
                <a:spcPts val="0"/>
              </a:spcAft>
            </a:pPr>
            <a:r>
              <a:rPr sz="1300" b="0" i="0">
                <a:solidFill>
                  <a:srgbClr val="52514E"/>
                </a:solidFill>
                <a:latin typeface="Calibri"/>
              </a:rPr>
              <a:t>Split: 85% training (4-fold CV) and 15% held-out test</a:t>
            </a:r>
          </a:p>
        </p:txBody>
      </p:sp>
      <p:sp>
        <p:nvSpPr>
          <p:cNvPr id="21" name="Rectangle 20"/>
          <p:cNvSpPr/>
          <p:nvPr/>
        </p:nvSpPr>
        <p:spPr>
          <a:xfrm>
            <a:off x="548640" y="5212080"/>
            <a:ext cx="4882896" cy="457200"/>
          </a:xfrm>
          <a:prstGeom prst="rect">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431536" y="5212080"/>
            <a:ext cx="877824" cy="457200"/>
          </a:xfrm>
          <a:prstGeom prst="rect">
            <a:avLst/>
          </a:prstGeom>
          <a:solidFill>
            <a:srgbClr val="A9BF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48640" y="5212080"/>
            <a:ext cx="4882896" cy="457200"/>
          </a:xfrm>
          <a:prstGeom prst="rect">
            <a:avLst/>
          </a:prstGeom>
          <a:noFill/>
        </p:spPr>
        <p:txBody>
          <a:bodyPr wrap="square" lIns="0" rIns="0" tIns="0" bIns="0" anchor="ctr">
            <a:spAutoFit/>
          </a:bodyPr>
          <a:lstStyle/>
          <a:p>
            <a:pPr algn="ctr">
              <a:spcAft>
                <a:spcPts val="0"/>
              </a:spcAft>
            </a:pPr>
            <a:r>
              <a:rPr sz="1400" b="1" i="0">
                <a:solidFill>
                  <a:srgbClr val="FFFFFF"/>
                </a:solidFill>
                <a:latin typeface="Calibri"/>
              </a:rPr>
              <a:t>256 training</a:t>
            </a:r>
          </a:p>
        </p:txBody>
      </p:sp>
      <p:sp>
        <p:nvSpPr>
          <p:cNvPr id="24" name="TextBox 23"/>
          <p:cNvSpPr txBox="1"/>
          <p:nvPr/>
        </p:nvSpPr>
        <p:spPr>
          <a:xfrm>
            <a:off x="5431536" y="5212080"/>
            <a:ext cx="877824" cy="457200"/>
          </a:xfrm>
          <a:prstGeom prst="rect">
            <a:avLst/>
          </a:prstGeom>
          <a:noFill/>
        </p:spPr>
        <p:txBody>
          <a:bodyPr wrap="square" lIns="0" rIns="0" tIns="0" bIns="0" anchor="ctr">
            <a:spAutoFit/>
          </a:bodyPr>
          <a:lstStyle/>
          <a:p>
            <a:pPr algn="ctr">
              <a:spcAft>
                <a:spcPts val="0"/>
              </a:spcAft>
            </a:pPr>
            <a:r>
              <a:rPr sz="1400" b="1" i="0">
                <a:solidFill>
                  <a:srgbClr val="0E2A47"/>
                </a:solidFill>
                <a:latin typeface="Calibri"/>
              </a:rPr>
              <a:t>46 test</a:t>
            </a:r>
          </a:p>
        </p:txBody>
      </p:sp>
      <p:sp>
        <p:nvSpPr>
          <p:cNvPr id="25" name="TextBox 24"/>
          <p:cNvSpPr txBox="1"/>
          <p:nvPr/>
        </p:nvSpPr>
        <p:spPr>
          <a:xfrm>
            <a:off x="6675120" y="1645920"/>
            <a:ext cx="4572000" cy="228600"/>
          </a:xfrm>
          <a:prstGeom prst="rect">
            <a:avLst/>
          </a:prstGeom>
          <a:noFill/>
        </p:spPr>
        <p:txBody>
          <a:bodyPr wrap="square" lIns="0" rIns="0" tIns="0" bIns="0" anchor="t">
            <a:spAutoFit/>
          </a:bodyPr>
          <a:lstStyle/>
          <a:p>
            <a:pPr algn="l">
              <a:spcAft>
                <a:spcPts val="0"/>
              </a:spcAft>
            </a:pPr>
            <a:r>
              <a:rPr sz="1100" b="1" i="0">
                <a:solidFill>
                  <a:srgbClr val="8A8984"/>
                </a:solidFill>
                <a:latin typeface="Calibri"/>
              </a:rPr>
              <a:t>FOUR OMICS LAYERS</a:t>
            </a:r>
          </a:p>
        </p:txBody>
      </p:sp>
      <p:sp>
        <p:nvSpPr>
          <p:cNvPr id="26" name="Rectangle 25"/>
          <p:cNvSpPr/>
          <p:nvPr/>
        </p:nvSpPr>
        <p:spPr>
          <a:xfrm>
            <a:off x="6675120" y="1920240"/>
            <a:ext cx="4965192" cy="91440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675120" y="1920240"/>
            <a:ext cx="109728" cy="9144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995160" y="2029968"/>
            <a:ext cx="4480560" cy="274320"/>
          </a:xfrm>
          <a:prstGeom prst="rect">
            <a:avLst/>
          </a:prstGeom>
          <a:noFill/>
        </p:spPr>
        <p:txBody>
          <a:bodyPr wrap="square" lIns="0" rIns="0" tIns="0" bIns="0" anchor="t">
            <a:spAutoFit/>
          </a:bodyPr>
          <a:lstStyle/>
          <a:p>
            <a:pPr algn="l">
              <a:spcAft>
                <a:spcPts val="0"/>
              </a:spcAft>
            </a:pPr>
            <a:r>
              <a:rPr sz="1600" b="1" i="0">
                <a:solidFill>
                  <a:srgbClr val="0E2A47"/>
                </a:solidFill>
                <a:latin typeface="Calibri"/>
              </a:rPr>
              <a:t>Gene expression</a:t>
            </a:r>
          </a:p>
        </p:txBody>
      </p:sp>
      <p:sp>
        <p:nvSpPr>
          <p:cNvPr id="29" name="TextBox 28"/>
          <p:cNvSpPr txBox="1"/>
          <p:nvPr/>
        </p:nvSpPr>
        <p:spPr>
          <a:xfrm>
            <a:off x="6995160" y="2350008"/>
            <a:ext cx="4480560" cy="457200"/>
          </a:xfrm>
          <a:prstGeom prst="rect">
            <a:avLst/>
          </a:prstGeom>
          <a:noFill/>
        </p:spPr>
        <p:txBody>
          <a:bodyPr wrap="square" lIns="0" rIns="0" tIns="0" bIns="0" anchor="t">
            <a:spAutoFit/>
          </a:bodyPr>
          <a:lstStyle/>
          <a:p>
            <a:pPr algn="l">
              <a:spcAft>
                <a:spcPts val="0"/>
              </a:spcAft>
            </a:pPr>
            <a:r>
              <a:rPr sz="1350" b="0" i="0">
                <a:solidFill>
                  <a:srgbClr val="14171C"/>
                </a:solidFill>
                <a:latin typeface="Calibri"/>
              </a:rPr>
              <a:t>FPKM values, continuous.</a:t>
            </a:r>
          </a:p>
        </p:txBody>
      </p:sp>
      <p:sp>
        <p:nvSpPr>
          <p:cNvPr id="30" name="Rectangle 29"/>
          <p:cNvSpPr/>
          <p:nvPr/>
        </p:nvSpPr>
        <p:spPr>
          <a:xfrm>
            <a:off x="6675120" y="2926080"/>
            <a:ext cx="4965192" cy="91440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675120" y="2926080"/>
            <a:ext cx="109728" cy="914400"/>
          </a:xfrm>
          <a:prstGeom prst="rect">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995160" y="3035808"/>
            <a:ext cx="4480560" cy="274320"/>
          </a:xfrm>
          <a:prstGeom prst="rect">
            <a:avLst/>
          </a:prstGeom>
          <a:noFill/>
        </p:spPr>
        <p:txBody>
          <a:bodyPr wrap="square" lIns="0" rIns="0" tIns="0" bIns="0" anchor="t">
            <a:spAutoFit/>
          </a:bodyPr>
          <a:lstStyle/>
          <a:p>
            <a:pPr algn="l">
              <a:spcAft>
                <a:spcPts val="0"/>
              </a:spcAft>
            </a:pPr>
            <a:r>
              <a:rPr sz="1600" b="1" i="0">
                <a:solidFill>
                  <a:srgbClr val="0E2A47"/>
                </a:solidFill>
                <a:latin typeface="Calibri"/>
              </a:rPr>
              <a:t>miRNA expression</a:t>
            </a:r>
          </a:p>
        </p:txBody>
      </p:sp>
      <p:sp>
        <p:nvSpPr>
          <p:cNvPr id="33" name="TextBox 32"/>
          <p:cNvSpPr txBox="1"/>
          <p:nvPr/>
        </p:nvSpPr>
        <p:spPr>
          <a:xfrm>
            <a:off x="6995160" y="3355848"/>
            <a:ext cx="4480560" cy="457200"/>
          </a:xfrm>
          <a:prstGeom prst="rect">
            <a:avLst/>
          </a:prstGeom>
          <a:noFill/>
        </p:spPr>
        <p:txBody>
          <a:bodyPr wrap="square" lIns="0" rIns="0" tIns="0" bIns="0" anchor="t">
            <a:spAutoFit/>
          </a:bodyPr>
          <a:lstStyle/>
          <a:p>
            <a:pPr algn="l">
              <a:spcAft>
                <a:spcPts val="0"/>
              </a:spcAft>
            </a:pPr>
            <a:r>
              <a:rPr sz="1350" b="0" i="0">
                <a:solidFill>
                  <a:srgbClr val="14171C"/>
                </a:solidFill>
                <a:latin typeface="Calibri"/>
              </a:rPr>
              <a:t>RPKM values, continuous.</a:t>
            </a:r>
          </a:p>
        </p:txBody>
      </p:sp>
      <p:sp>
        <p:nvSpPr>
          <p:cNvPr id="34" name="Rectangle 33"/>
          <p:cNvSpPr/>
          <p:nvPr/>
        </p:nvSpPr>
        <p:spPr>
          <a:xfrm>
            <a:off x="6675120" y="3931920"/>
            <a:ext cx="4965192" cy="91440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675120" y="3931920"/>
            <a:ext cx="109728" cy="914400"/>
          </a:xfrm>
          <a:prstGeom prst="rect">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995160" y="4041648"/>
            <a:ext cx="4480560" cy="274320"/>
          </a:xfrm>
          <a:prstGeom prst="rect">
            <a:avLst/>
          </a:prstGeom>
          <a:noFill/>
        </p:spPr>
        <p:txBody>
          <a:bodyPr wrap="square" lIns="0" rIns="0" tIns="0" bIns="0" anchor="t">
            <a:spAutoFit/>
          </a:bodyPr>
          <a:lstStyle/>
          <a:p>
            <a:pPr algn="l">
              <a:spcAft>
                <a:spcPts val="0"/>
              </a:spcAft>
            </a:pPr>
            <a:r>
              <a:rPr sz="1600" b="1" i="0">
                <a:solidFill>
                  <a:srgbClr val="0E2A47"/>
                </a:solidFill>
                <a:latin typeface="Calibri"/>
              </a:rPr>
              <a:t>DNA methylation</a:t>
            </a:r>
          </a:p>
        </p:txBody>
      </p:sp>
      <p:sp>
        <p:nvSpPr>
          <p:cNvPr id="37" name="TextBox 36"/>
          <p:cNvSpPr txBox="1"/>
          <p:nvPr/>
        </p:nvSpPr>
        <p:spPr>
          <a:xfrm>
            <a:off x="6995160" y="4361688"/>
            <a:ext cx="4480560" cy="457200"/>
          </a:xfrm>
          <a:prstGeom prst="rect">
            <a:avLst/>
          </a:prstGeom>
          <a:noFill/>
        </p:spPr>
        <p:txBody>
          <a:bodyPr wrap="square" lIns="0" rIns="0" tIns="0" bIns="0" anchor="t">
            <a:spAutoFit/>
          </a:bodyPr>
          <a:lstStyle/>
          <a:p>
            <a:pPr algn="l">
              <a:spcAft>
                <a:spcPts val="0"/>
              </a:spcAft>
            </a:pPr>
            <a:r>
              <a:rPr sz="1350" b="0" i="0">
                <a:solidFill>
                  <a:srgbClr val="14171C"/>
                </a:solidFill>
                <a:latin typeface="Calibri"/>
              </a:rPr>
              <a:t>Beta values scaled between 0 and 1.</a:t>
            </a:r>
          </a:p>
        </p:txBody>
      </p:sp>
      <p:sp>
        <p:nvSpPr>
          <p:cNvPr id="38" name="Rectangle 37"/>
          <p:cNvSpPr/>
          <p:nvPr/>
        </p:nvSpPr>
        <p:spPr>
          <a:xfrm>
            <a:off x="6675120" y="4937760"/>
            <a:ext cx="4965192" cy="91440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6675120" y="4937760"/>
            <a:ext cx="109728" cy="914400"/>
          </a:xfrm>
          <a:prstGeom prst="rect">
            <a:avLst/>
          </a:prstGeom>
          <a:solidFill>
            <a:srgbClr val="EDA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995160" y="5047488"/>
            <a:ext cx="4480560" cy="274320"/>
          </a:xfrm>
          <a:prstGeom prst="rect">
            <a:avLst/>
          </a:prstGeom>
          <a:noFill/>
        </p:spPr>
        <p:txBody>
          <a:bodyPr wrap="square" lIns="0" rIns="0" tIns="0" bIns="0" anchor="t">
            <a:spAutoFit/>
          </a:bodyPr>
          <a:lstStyle/>
          <a:p>
            <a:pPr algn="l">
              <a:spcAft>
                <a:spcPts val="0"/>
              </a:spcAft>
            </a:pPr>
            <a:r>
              <a:rPr sz="1600" b="1" i="0">
                <a:solidFill>
                  <a:srgbClr val="0E2A47"/>
                </a:solidFill>
                <a:latin typeface="Calibri"/>
              </a:rPr>
              <a:t>Copy number variation</a:t>
            </a:r>
          </a:p>
        </p:txBody>
      </p:sp>
      <p:sp>
        <p:nvSpPr>
          <p:cNvPr id="41" name="TextBox 40"/>
          <p:cNvSpPr txBox="1"/>
          <p:nvPr/>
        </p:nvSpPr>
        <p:spPr>
          <a:xfrm>
            <a:off x="6995160" y="5367528"/>
            <a:ext cx="4480560" cy="457200"/>
          </a:xfrm>
          <a:prstGeom prst="rect">
            <a:avLst/>
          </a:prstGeom>
          <a:noFill/>
        </p:spPr>
        <p:txBody>
          <a:bodyPr wrap="square" lIns="0" rIns="0" tIns="0" bIns="0" anchor="t">
            <a:spAutoFit/>
          </a:bodyPr>
          <a:lstStyle/>
          <a:p>
            <a:pPr algn="l">
              <a:spcAft>
                <a:spcPts val="0"/>
              </a:spcAft>
            </a:pPr>
            <a:r>
              <a:rPr sz="1350" b="0" i="0">
                <a:solidFill>
                  <a:srgbClr val="14171C"/>
                </a:solidFill>
                <a:latin typeface="Calibri"/>
              </a:rPr>
              <a:t>GISTIC2 discrete calls: loss, neutral or gain.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48640" y="347472"/>
            <a:ext cx="8229600" cy="274320"/>
          </a:xfrm>
          <a:prstGeom prst="rect">
            <a:avLst/>
          </a:prstGeom>
          <a:noFill/>
        </p:spPr>
        <p:txBody>
          <a:bodyPr wrap="square" lIns="0" rIns="0" tIns="0" bIns="0" anchor="t">
            <a:spAutoFit/>
          </a:bodyPr>
          <a:lstStyle/>
          <a:p>
            <a:pPr algn="l">
              <a:spcAft>
                <a:spcPts val="0"/>
              </a:spcAft>
            </a:pPr>
            <a:r>
              <a:rPr sz="1200" b="1" i="0">
                <a:solidFill>
                  <a:srgbClr val="1F5FAE"/>
                </a:solidFill>
                <a:latin typeface="Calibri"/>
              </a:rPr>
              <a:t>MULTI-OMICS PROJECT  ·  METHOD</a:t>
            </a:r>
          </a:p>
        </p:txBody>
      </p:sp>
      <p:sp>
        <p:nvSpPr>
          <p:cNvPr id="3" name="TextBox 2"/>
          <p:cNvSpPr txBox="1"/>
          <p:nvPr/>
        </p:nvSpPr>
        <p:spPr>
          <a:xfrm>
            <a:off x="548640" y="621792"/>
            <a:ext cx="11091672" cy="914400"/>
          </a:xfrm>
          <a:prstGeom prst="rect">
            <a:avLst/>
          </a:prstGeom>
          <a:noFill/>
        </p:spPr>
        <p:txBody>
          <a:bodyPr wrap="square" lIns="0" rIns="0" tIns="0" bIns="0" anchor="t">
            <a:spAutoFit/>
          </a:bodyPr>
          <a:lstStyle/>
          <a:p>
            <a:pPr algn="l">
              <a:lnSpc>
                <a:spcPct val="95000"/>
              </a:lnSpc>
              <a:spcAft>
                <a:spcPts val="0"/>
              </a:spcAft>
            </a:pPr>
            <a:r>
              <a:rPr sz="2600" b="1" i="0">
                <a:solidFill>
                  <a:srgbClr val="0E2A47"/>
                </a:solidFill>
                <a:latin typeface="Calibri"/>
              </a:rPr>
              <a:t>Feature selection was tuned to stop overfitting, not only to maximise training score</a:t>
            </a:r>
          </a:p>
        </p:txBody>
      </p:sp>
      <p:sp>
        <p:nvSpPr>
          <p:cNvPr id="4" name="Rectangle 3"/>
          <p:cNvSpPr/>
          <p:nvPr/>
        </p:nvSpPr>
        <p:spPr>
          <a:xfrm>
            <a:off x="548640" y="6108192"/>
            <a:ext cx="11091672" cy="329184"/>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6108192"/>
            <a:ext cx="64008" cy="329184"/>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108192"/>
            <a:ext cx="10817352" cy="329184"/>
          </a:xfrm>
          <a:prstGeom prst="rect">
            <a:avLst/>
          </a:prstGeom>
          <a:noFill/>
        </p:spPr>
        <p:txBody>
          <a:bodyPr wrap="square" lIns="0" rIns="0" tIns="0" bIns="0" anchor="ctr">
            <a:spAutoFit/>
          </a:bodyPr>
          <a:lstStyle/>
          <a:p>
            <a:pPr algn="l">
              <a:spcAft>
                <a:spcPts val="0"/>
              </a:spcAft>
            </a:pPr>
            <a:r>
              <a:rPr sz="1100" b="1" i="0">
                <a:solidFill>
                  <a:srgbClr val="1F5FAE"/>
                </a:solidFill>
                <a:latin typeface="Calibri"/>
              </a:rPr>
              <a:t>ROLE LINK   </a:t>
            </a:r>
            <a:r>
              <a:rPr sz="1300" b="0" i="0">
                <a:solidFill>
                  <a:srgbClr val="52514E"/>
                </a:solidFill>
                <a:latin typeface="Calibri"/>
              </a:rPr>
              <a:t>Feature engineering and control of overfitting on high-dimensional data</a:t>
            </a:r>
          </a:p>
        </p:txBody>
      </p:sp>
      <p:sp>
        <p:nvSpPr>
          <p:cNvPr id="7" name="TextBox 6"/>
          <p:cNvSpPr txBox="1"/>
          <p:nvPr/>
        </p:nvSpPr>
        <p:spPr>
          <a:xfrm>
            <a:off x="548640" y="6510528"/>
            <a:ext cx="6400800" cy="228600"/>
          </a:xfrm>
          <a:prstGeom prst="rect">
            <a:avLst/>
          </a:prstGeom>
          <a:noFill/>
        </p:spPr>
        <p:txBody>
          <a:bodyPr wrap="square" lIns="0" rIns="0" tIns="0" bIns="0" anchor="t">
            <a:spAutoFit/>
          </a:bodyPr>
          <a:lstStyle/>
          <a:p>
            <a:pPr algn="l">
              <a:spcAft>
                <a:spcPts val="0"/>
              </a:spcAft>
            </a:pPr>
            <a:r>
              <a:rPr sz="1000" b="0" i="0">
                <a:solidFill>
                  <a:srgbClr val="8A8984"/>
                </a:solidFill>
                <a:latin typeface="Calibri"/>
              </a:rPr>
              <a:t>Kunal Tembhare  ·  Computational biology and multi-omics ML</a:t>
            </a:r>
          </a:p>
        </p:txBody>
      </p:sp>
      <p:sp>
        <p:nvSpPr>
          <p:cNvPr id="8" name="TextBox 7"/>
          <p:cNvSpPr txBox="1"/>
          <p:nvPr/>
        </p:nvSpPr>
        <p:spPr>
          <a:xfrm>
            <a:off x="10268712" y="6510528"/>
            <a:ext cx="1371600" cy="228600"/>
          </a:xfrm>
          <a:prstGeom prst="rect">
            <a:avLst/>
          </a:prstGeom>
          <a:noFill/>
        </p:spPr>
        <p:txBody>
          <a:bodyPr wrap="square" lIns="0" rIns="0" tIns="0" bIns="0" anchor="t">
            <a:spAutoFit/>
          </a:bodyPr>
          <a:lstStyle/>
          <a:p>
            <a:pPr algn="r">
              <a:spcAft>
                <a:spcPts val="0"/>
              </a:spcAft>
            </a:pPr>
            <a:r>
              <a:rPr sz="1000" b="0" i="0">
                <a:solidFill>
                  <a:srgbClr val="8A8984"/>
                </a:solidFill>
                <a:latin typeface="Calibri"/>
              </a:rPr>
              <a:t>6 / 27</a:t>
            </a:r>
          </a:p>
        </p:txBody>
      </p:sp>
      <p:sp>
        <p:nvSpPr>
          <p:cNvPr id="9" name="Oval 8"/>
          <p:cNvSpPr/>
          <p:nvPr/>
        </p:nvSpPr>
        <p:spPr>
          <a:xfrm>
            <a:off x="548640" y="1737360"/>
            <a:ext cx="475488" cy="475488"/>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600" b="1">
                <a:solidFill>
                  <a:srgbClr val="FFFFFF"/>
                </a:solidFill>
                <a:latin typeface="Calibri"/>
              </a:rPr>
              <a:t>1</a:t>
            </a:r>
          </a:p>
        </p:txBody>
      </p:sp>
      <p:sp>
        <p:nvSpPr>
          <p:cNvPr id="10" name="TextBox 9"/>
          <p:cNvSpPr txBox="1"/>
          <p:nvPr/>
        </p:nvSpPr>
        <p:spPr>
          <a:xfrm>
            <a:off x="1234440" y="1691640"/>
            <a:ext cx="5760720" cy="292608"/>
          </a:xfrm>
          <a:prstGeom prst="rect">
            <a:avLst/>
          </a:prstGeom>
          <a:noFill/>
        </p:spPr>
        <p:txBody>
          <a:bodyPr wrap="square" lIns="0" rIns="0" tIns="0" bIns="0" anchor="t">
            <a:spAutoFit/>
          </a:bodyPr>
          <a:lstStyle/>
          <a:p>
            <a:pPr algn="l">
              <a:spcAft>
                <a:spcPts val="0"/>
              </a:spcAft>
            </a:pPr>
            <a:r>
              <a:rPr sz="1600" b="1" i="0">
                <a:solidFill>
                  <a:srgbClr val="0E2A47"/>
                </a:solidFill>
                <a:latin typeface="Calibri"/>
              </a:rPr>
              <a:t>Clean</a:t>
            </a:r>
          </a:p>
        </p:txBody>
      </p:sp>
      <p:sp>
        <p:nvSpPr>
          <p:cNvPr id="11" name="TextBox 10"/>
          <p:cNvSpPr txBox="1"/>
          <p:nvPr/>
        </p:nvSpPr>
        <p:spPr>
          <a:xfrm>
            <a:off x="1234440" y="2020824"/>
            <a:ext cx="5760720" cy="731520"/>
          </a:xfrm>
          <a:prstGeom prst="rect">
            <a:avLst/>
          </a:prstGeom>
          <a:noFill/>
        </p:spPr>
        <p:txBody>
          <a:bodyPr wrap="square" lIns="0" rIns="0" tIns="0" bIns="0" anchor="t">
            <a:spAutoFit/>
          </a:bodyPr>
          <a:lstStyle/>
          <a:p>
            <a:pPr algn="l">
              <a:spcAft>
                <a:spcPts val="0"/>
              </a:spcAft>
            </a:pPr>
            <a:r>
              <a:rPr sz="1350" b="0" i="0">
                <a:solidFill>
                  <a:srgbClr val="14171C"/>
                </a:solidFill>
                <a:latin typeface="Calibri"/>
              </a:rPr>
              <a:t>Remove features with missing values. Keep protein-coding genes for expression and copy number.</a:t>
            </a:r>
          </a:p>
        </p:txBody>
      </p:sp>
      <p:sp>
        <p:nvSpPr>
          <p:cNvPr id="12" name="Oval 11"/>
          <p:cNvSpPr/>
          <p:nvPr/>
        </p:nvSpPr>
        <p:spPr>
          <a:xfrm>
            <a:off x="548640" y="2816352"/>
            <a:ext cx="475488" cy="475488"/>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600" b="1">
                <a:solidFill>
                  <a:srgbClr val="FFFFFF"/>
                </a:solidFill>
                <a:latin typeface="Calibri"/>
              </a:rPr>
              <a:t>2</a:t>
            </a:r>
          </a:p>
        </p:txBody>
      </p:sp>
      <p:sp>
        <p:nvSpPr>
          <p:cNvPr id="13" name="TextBox 12"/>
          <p:cNvSpPr txBox="1"/>
          <p:nvPr/>
        </p:nvSpPr>
        <p:spPr>
          <a:xfrm>
            <a:off x="1234440" y="2770632"/>
            <a:ext cx="5760720" cy="292608"/>
          </a:xfrm>
          <a:prstGeom prst="rect">
            <a:avLst/>
          </a:prstGeom>
          <a:noFill/>
        </p:spPr>
        <p:txBody>
          <a:bodyPr wrap="square" lIns="0" rIns="0" tIns="0" bIns="0" anchor="t">
            <a:spAutoFit/>
          </a:bodyPr>
          <a:lstStyle/>
          <a:p>
            <a:pPr algn="l">
              <a:spcAft>
                <a:spcPts val="0"/>
              </a:spcAft>
            </a:pPr>
            <a:r>
              <a:rPr sz="1600" b="1" i="0">
                <a:solidFill>
                  <a:srgbClr val="0E2A47"/>
                </a:solidFill>
                <a:latin typeface="Calibri"/>
              </a:rPr>
              <a:t>Scale</a:t>
            </a:r>
          </a:p>
        </p:txBody>
      </p:sp>
      <p:sp>
        <p:nvSpPr>
          <p:cNvPr id="14" name="TextBox 13"/>
          <p:cNvSpPr txBox="1"/>
          <p:nvPr/>
        </p:nvSpPr>
        <p:spPr>
          <a:xfrm>
            <a:off x="1234440" y="3099816"/>
            <a:ext cx="5760720" cy="731520"/>
          </a:xfrm>
          <a:prstGeom prst="rect">
            <a:avLst/>
          </a:prstGeom>
          <a:noFill/>
        </p:spPr>
        <p:txBody>
          <a:bodyPr wrap="square" lIns="0" rIns="0" tIns="0" bIns="0" anchor="t">
            <a:spAutoFit/>
          </a:bodyPr>
          <a:lstStyle/>
          <a:p>
            <a:pPr algn="l">
              <a:spcAft>
                <a:spcPts val="0"/>
              </a:spcAft>
            </a:pPr>
            <a:r>
              <a:rPr sz="1350" b="0" i="0">
                <a:solidFill>
                  <a:srgbClr val="14171C"/>
                </a:solidFill>
                <a:latin typeface="Calibri"/>
              </a:rPr>
              <a:t>MinMaxScaler outperformed row-mean centering with Frobenius normalisation, so it was used.</a:t>
            </a:r>
          </a:p>
        </p:txBody>
      </p:sp>
      <p:sp>
        <p:nvSpPr>
          <p:cNvPr id="15" name="Oval 14"/>
          <p:cNvSpPr/>
          <p:nvPr/>
        </p:nvSpPr>
        <p:spPr>
          <a:xfrm>
            <a:off x="548640" y="3895344"/>
            <a:ext cx="475488" cy="475488"/>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600" b="1">
                <a:solidFill>
                  <a:srgbClr val="FFFFFF"/>
                </a:solidFill>
                <a:latin typeface="Calibri"/>
              </a:rPr>
              <a:t>3</a:t>
            </a:r>
          </a:p>
        </p:txBody>
      </p:sp>
      <p:sp>
        <p:nvSpPr>
          <p:cNvPr id="16" name="TextBox 15"/>
          <p:cNvSpPr txBox="1"/>
          <p:nvPr/>
        </p:nvSpPr>
        <p:spPr>
          <a:xfrm>
            <a:off x="1234440" y="3849624"/>
            <a:ext cx="5760720" cy="292608"/>
          </a:xfrm>
          <a:prstGeom prst="rect">
            <a:avLst/>
          </a:prstGeom>
          <a:noFill/>
        </p:spPr>
        <p:txBody>
          <a:bodyPr wrap="square" lIns="0" rIns="0" tIns="0" bIns="0" anchor="t">
            <a:spAutoFit/>
          </a:bodyPr>
          <a:lstStyle/>
          <a:p>
            <a:pPr algn="l">
              <a:spcAft>
                <a:spcPts val="0"/>
              </a:spcAft>
            </a:pPr>
            <a:r>
              <a:rPr sz="1600" b="1" i="0">
                <a:solidFill>
                  <a:srgbClr val="0E2A47"/>
                </a:solidFill>
                <a:latin typeface="Calibri"/>
              </a:rPr>
              <a:t>Select per modality</a:t>
            </a:r>
          </a:p>
        </p:txBody>
      </p:sp>
      <p:sp>
        <p:nvSpPr>
          <p:cNvPr id="17" name="TextBox 16"/>
          <p:cNvSpPr txBox="1"/>
          <p:nvPr/>
        </p:nvSpPr>
        <p:spPr>
          <a:xfrm>
            <a:off x="1234440" y="4178808"/>
            <a:ext cx="5760720" cy="731520"/>
          </a:xfrm>
          <a:prstGeom prst="rect">
            <a:avLst/>
          </a:prstGeom>
          <a:noFill/>
        </p:spPr>
        <p:txBody>
          <a:bodyPr wrap="square" lIns="0" rIns="0" tIns="0" bIns="0" anchor="t">
            <a:spAutoFit/>
          </a:bodyPr>
          <a:lstStyle/>
          <a:p>
            <a:pPr algn="l">
              <a:spcAft>
                <a:spcPts val="0"/>
              </a:spcAft>
            </a:pPr>
            <a:r>
              <a:rPr sz="1350" b="0" i="0">
                <a:solidFill>
                  <a:srgbClr val="14171C"/>
                </a:solidFill>
                <a:latin typeface="Calibri"/>
              </a:rPr>
              <a:t>Rank features with t-test, χ², mutual information and mRMR. Continuous data were discretised for χ² and MI. Features had to hold across all four CV folds.</a:t>
            </a:r>
          </a:p>
        </p:txBody>
      </p:sp>
      <p:sp>
        <p:nvSpPr>
          <p:cNvPr id="18" name="Oval 17"/>
          <p:cNvSpPr/>
          <p:nvPr/>
        </p:nvSpPr>
        <p:spPr>
          <a:xfrm>
            <a:off x="548640" y="4974336"/>
            <a:ext cx="475488" cy="475488"/>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600" b="1">
                <a:solidFill>
                  <a:srgbClr val="FFFFFF"/>
                </a:solidFill>
                <a:latin typeface="Calibri"/>
              </a:rPr>
              <a:t>4</a:t>
            </a:r>
          </a:p>
        </p:txBody>
      </p:sp>
      <p:sp>
        <p:nvSpPr>
          <p:cNvPr id="19" name="TextBox 18"/>
          <p:cNvSpPr txBox="1"/>
          <p:nvPr/>
        </p:nvSpPr>
        <p:spPr>
          <a:xfrm>
            <a:off x="1234440" y="4928616"/>
            <a:ext cx="5760720" cy="292608"/>
          </a:xfrm>
          <a:prstGeom prst="rect">
            <a:avLst/>
          </a:prstGeom>
          <a:noFill/>
        </p:spPr>
        <p:txBody>
          <a:bodyPr wrap="square" lIns="0" rIns="0" tIns="0" bIns="0" anchor="t">
            <a:spAutoFit/>
          </a:bodyPr>
          <a:lstStyle/>
          <a:p>
            <a:pPr algn="l">
              <a:spcAft>
                <a:spcPts val="0"/>
              </a:spcAft>
            </a:pPr>
            <a:r>
              <a:rPr sz="1600" b="1" i="0">
                <a:solidFill>
                  <a:srgbClr val="0E2A47"/>
                </a:solidFill>
                <a:latin typeface="Calibri"/>
              </a:rPr>
              <a:t>Cap the feature count</a:t>
            </a:r>
          </a:p>
        </p:txBody>
      </p:sp>
      <p:sp>
        <p:nvSpPr>
          <p:cNvPr id="20" name="TextBox 19"/>
          <p:cNvSpPr txBox="1"/>
          <p:nvPr/>
        </p:nvSpPr>
        <p:spPr>
          <a:xfrm>
            <a:off x="1234440" y="5257800"/>
            <a:ext cx="5760720" cy="731520"/>
          </a:xfrm>
          <a:prstGeom prst="rect">
            <a:avLst/>
          </a:prstGeom>
          <a:noFill/>
        </p:spPr>
        <p:txBody>
          <a:bodyPr wrap="square" lIns="0" rIns="0" tIns="0" bIns="0" anchor="t">
            <a:spAutoFit/>
          </a:bodyPr>
          <a:lstStyle/>
          <a:p>
            <a:pPr algn="l">
              <a:spcAft>
                <a:spcPts val="0"/>
              </a:spcAft>
            </a:pPr>
            <a:r>
              <a:rPr sz="1350" b="0" i="0">
                <a:solidFill>
                  <a:srgbClr val="14171C"/>
                </a:solidFill>
                <a:latin typeface="Calibri"/>
              </a:rPr>
              <a:t>Feature-set size was limited where training and test curves began to diverge. This removed overfitting in the SVM models.</a:t>
            </a:r>
          </a:p>
        </p:txBody>
      </p:sp>
      <p:sp>
        <p:nvSpPr>
          <p:cNvPr id="21" name="TextBox 20"/>
          <p:cNvSpPr txBox="1"/>
          <p:nvPr/>
        </p:nvSpPr>
        <p:spPr>
          <a:xfrm>
            <a:off x="7406640" y="1645920"/>
            <a:ext cx="4206240" cy="228600"/>
          </a:xfrm>
          <a:prstGeom prst="rect">
            <a:avLst/>
          </a:prstGeom>
          <a:noFill/>
        </p:spPr>
        <p:txBody>
          <a:bodyPr wrap="square" lIns="0" rIns="0" tIns="0" bIns="0" anchor="t">
            <a:spAutoFit/>
          </a:bodyPr>
          <a:lstStyle/>
          <a:p>
            <a:pPr algn="l">
              <a:spcAft>
                <a:spcPts val="0"/>
              </a:spcAft>
            </a:pPr>
            <a:r>
              <a:rPr sz="1100" b="1" i="0">
                <a:solidFill>
                  <a:srgbClr val="8A8984"/>
                </a:solidFill>
                <a:latin typeface="Calibri"/>
              </a:rPr>
              <a:t>BEST FILTER METHOD PER MODALITY</a:t>
            </a:r>
          </a:p>
        </p:txBody>
      </p:sp>
      <p:sp>
        <p:nvSpPr>
          <p:cNvPr id="22" name="Oval 21"/>
          <p:cNvSpPr/>
          <p:nvPr/>
        </p:nvSpPr>
        <p:spPr>
          <a:xfrm>
            <a:off x="7406640" y="2039112"/>
            <a:ext cx="237744" cy="237744"/>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818120" y="1965960"/>
            <a:ext cx="3749039" cy="384048"/>
          </a:xfrm>
          <a:prstGeom prst="rect">
            <a:avLst/>
          </a:prstGeom>
          <a:noFill/>
        </p:spPr>
        <p:txBody>
          <a:bodyPr wrap="square" lIns="0" rIns="0" tIns="0" bIns="0" anchor="ctr">
            <a:spAutoFit/>
          </a:bodyPr>
          <a:lstStyle/>
          <a:p>
            <a:pPr algn="l">
              <a:spcAft>
                <a:spcPts val="0"/>
              </a:spcAft>
            </a:pPr>
            <a:r>
              <a:rPr sz="1400" b="1" i="0">
                <a:solidFill>
                  <a:srgbClr val="0E2A47"/>
                </a:solidFill>
                <a:latin typeface="Calibri"/>
              </a:rPr>
              <a:t>Gene expression   </a:t>
            </a:r>
            <a:r>
              <a:rPr sz="1400" b="0" i="0">
                <a:solidFill>
                  <a:srgbClr val="52514E"/>
                </a:solidFill>
                <a:latin typeface="Calibri"/>
              </a:rPr>
              <a:t>t-test</a:t>
            </a:r>
          </a:p>
        </p:txBody>
      </p:sp>
      <p:sp>
        <p:nvSpPr>
          <p:cNvPr id="24" name="Oval 23"/>
          <p:cNvSpPr/>
          <p:nvPr/>
        </p:nvSpPr>
        <p:spPr>
          <a:xfrm>
            <a:off x="7406640" y="2514600"/>
            <a:ext cx="237744" cy="237744"/>
          </a:xfrm>
          <a:prstGeom prst="ellipse">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818120" y="2441448"/>
            <a:ext cx="3749039" cy="384048"/>
          </a:xfrm>
          <a:prstGeom prst="rect">
            <a:avLst/>
          </a:prstGeom>
          <a:noFill/>
        </p:spPr>
        <p:txBody>
          <a:bodyPr wrap="square" lIns="0" rIns="0" tIns="0" bIns="0" anchor="ctr">
            <a:spAutoFit/>
          </a:bodyPr>
          <a:lstStyle/>
          <a:p>
            <a:pPr algn="l">
              <a:spcAft>
                <a:spcPts val="0"/>
              </a:spcAft>
            </a:pPr>
            <a:r>
              <a:rPr sz="1400" b="1" i="0">
                <a:solidFill>
                  <a:srgbClr val="0E2A47"/>
                </a:solidFill>
                <a:latin typeface="Calibri"/>
              </a:rPr>
              <a:t>miRNA expression   </a:t>
            </a:r>
            <a:r>
              <a:rPr sz="1400" b="0" i="0">
                <a:solidFill>
                  <a:srgbClr val="52514E"/>
                </a:solidFill>
                <a:latin typeface="Calibri"/>
              </a:rPr>
              <a:t>mutual information</a:t>
            </a:r>
          </a:p>
        </p:txBody>
      </p:sp>
      <p:sp>
        <p:nvSpPr>
          <p:cNvPr id="26" name="Oval 25"/>
          <p:cNvSpPr/>
          <p:nvPr/>
        </p:nvSpPr>
        <p:spPr>
          <a:xfrm>
            <a:off x="7406640" y="2990088"/>
            <a:ext cx="237744" cy="237744"/>
          </a:xfrm>
          <a:prstGeom prst="ellipse">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818120" y="2916936"/>
            <a:ext cx="3749039" cy="384048"/>
          </a:xfrm>
          <a:prstGeom prst="rect">
            <a:avLst/>
          </a:prstGeom>
          <a:noFill/>
        </p:spPr>
        <p:txBody>
          <a:bodyPr wrap="square" lIns="0" rIns="0" tIns="0" bIns="0" anchor="ctr">
            <a:spAutoFit/>
          </a:bodyPr>
          <a:lstStyle/>
          <a:p>
            <a:pPr algn="l">
              <a:spcAft>
                <a:spcPts val="0"/>
              </a:spcAft>
            </a:pPr>
            <a:r>
              <a:rPr sz="1400" b="1" i="0">
                <a:solidFill>
                  <a:srgbClr val="0E2A47"/>
                </a:solidFill>
                <a:latin typeface="Calibri"/>
              </a:rPr>
              <a:t>DNA methylation   </a:t>
            </a:r>
            <a:r>
              <a:rPr sz="1400" b="0" i="0">
                <a:solidFill>
                  <a:srgbClr val="52514E"/>
                </a:solidFill>
                <a:latin typeface="Calibri"/>
              </a:rPr>
              <a:t>mutual information</a:t>
            </a:r>
          </a:p>
        </p:txBody>
      </p:sp>
      <p:sp>
        <p:nvSpPr>
          <p:cNvPr id="28" name="Oval 27"/>
          <p:cNvSpPr/>
          <p:nvPr/>
        </p:nvSpPr>
        <p:spPr>
          <a:xfrm>
            <a:off x="7406640" y="3465576"/>
            <a:ext cx="237744" cy="237744"/>
          </a:xfrm>
          <a:prstGeom prst="ellipse">
            <a:avLst/>
          </a:prstGeom>
          <a:solidFill>
            <a:srgbClr val="EDA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818120" y="3392424"/>
            <a:ext cx="3749039" cy="384048"/>
          </a:xfrm>
          <a:prstGeom prst="rect">
            <a:avLst/>
          </a:prstGeom>
          <a:noFill/>
        </p:spPr>
        <p:txBody>
          <a:bodyPr wrap="square" lIns="0" rIns="0" tIns="0" bIns="0" anchor="ctr">
            <a:spAutoFit/>
          </a:bodyPr>
          <a:lstStyle/>
          <a:p>
            <a:pPr algn="l">
              <a:spcAft>
                <a:spcPts val="0"/>
              </a:spcAft>
            </a:pPr>
            <a:r>
              <a:rPr sz="1400" b="1" i="0">
                <a:solidFill>
                  <a:srgbClr val="0E2A47"/>
                </a:solidFill>
                <a:latin typeface="Calibri"/>
              </a:rPr>
              <a:t>Copy number   </a:t>
            </a:r>
            <a:r>
              <a:rPr sz="1400" b="0" i="0">
                <a:solidFill>
                  <a:srgbClr val="52514E"/>
                </a:solidFill>
                <a:latin typeface="Calibri"/>
              </a:rPr>
              <a:t>mutual information</a:t>
            </a:r>
          </a:p>
        </p:txBody>
      </p:sp>
      <p:sp>
        <p:nvSpPr>
          <p:cNvPr id="30" name="Rectangle 29"/>
          <p:cNvSpPr/>
          <p:nvPr/>
        </p:nvSpPr>
        <p:spPr>
          <a:xfrm>
            <a:off x="7406640" y="4069080"/>
            <a:ext cx="4233672" cy="1234440"/>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406640" y="4069080"/>
            <a:ext cx="73152" cy="1234440"/>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680960" y="4206240"/>
            <a:ext cx="3840480" cy="1005840"/>
          </a:xfrm>
          <a:prstGeom prst="rect">
            <a:avLst/>
          </a:prstGeom>
          <a:noFill/>
        </p:spPr>
        <p:txBody>
          <a:bodyPr wrap="square" lIns="0" rIns="0" tIns="0" bIns="0" anchor="t">
            <a:spAutoFit/>
          </a:bodyPr>
          <a:lstStyle/>
          <a:p>
            <a:pPr algn="l">
              <a:spcAft>
                <a:spcPts val="0"/>
              </a:spcAft>
            </a:pPr>
            <a:r>
              <a:rPr sz="1400" b="1" i="0">
                <a:solidFill>
                  <a:srgbClr val="0E2A47"/>
                </a:solidFill>
                <a:latin typeface="Calibri"/>
              </a:rPr>
              <a:t>Random forest kept overfitting </a:t>
            </a:r>
            <a:r>
              <a:rPr sz="1400" b="0" i="0">
                <a:solidFill>
                  <a:srgbClr val="14171C"/>
                </a:solidFill>
                <a:latin typeface="Calibri"/>
              </a:rPr>
              <a:t>even with capped feature sets: the train-test gap in accuracy and AUC stayed large. This shaped the final model choice.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48640" y="347472"/>
            <a:ext cx="8229600" cy="274320"/>
          </a:xfrm>
          <a:prstGeom prst="rect">
            <a:avLst/>
          </a:prstGeom>
          <a:noFill/>
        </p:spPr>
        <p:txBody>
          <a:bodyPr wrap="square" lIns="0" rIns="0" tIns="0" bIns="0" anchor="t">
            <a:spAutoFit/>
          </a:bodyPr>
          <a:lstStyle/>
          <a:p>
            <a:pPr algn="l">
              <a:spcAft>
                <a:spcPts val="0"/>
              </a:spcAft>
            </a:pPr>
            <a:r>
              <a:rPr sz="1200" b="1" i="0">
                <a:solidFill>
                  <a:srgbClr val="1F5FAE"/>
                </a:solidFill>
                <a:latin typeface="Calibri"/>
              </a:rPr>
              <a:t>MULTI-OMICS PROJECT  ·  FRAMEWORK</a:t>
            </a:r>
          </a:p>
        </p:txBody>
      </p:sp>
      <p:sp>
        <p:nvSpPr>
          <p:cNvPr id="3" name="TextBox 2"/>
          <p:cNvSpPr txBox="1"/>
          <p:nvPr/>
        </p:nvSpPr>
        <p:spPr>
          <a:xfrm>
            <a:off x="548640" y="621792"/>
            <a:ext cx="11091672" cy="914400"/>
          </a:xfrm>
          <a:prstGeom prst="rect">
            <a:avLst/>
          </a:prstGeom>
          <a:noFill/>
        </p:spPr>
        <p:txBody>
          <a:bodyPr wrap="square" lIns="0" rIns="0" tIns="0" bIns="0" anchor="t">
            <a:spAutoFit/>
          </a:bodyPr>
          <a:lstStyle/>
          <a:p>
            <a:pPr algn="l">
              <a:lnSpc>
                <a:spcPct val="95000"/>
              </a:lnSpc>
              <a:spcAft>
                <a:spcPts val="0"/>
              </a:spcAft>
            </a:pPr>
            <a:r>
              <a:rPr sz="2600" b="1" i="0">
                <a:solidFill>
                  <a:srgbClr val="0E2A47"/>
                </a:solidFill>
                <a:latin typeface="Calibri"/>
              </a:rPr>
              <a:t>A three-level stacked ensemble fuses the modalities while keeping features interpretable</a:t>
            </a:r>
          </a:p>
        </p:txBody>
      </p:sp>
      <p:sp>
        <p:nvSpPr>
          <p:cNvPr id="4" name="Rectangle 3"/>
          <p:cNvSpPr/>
          <p:nvPr/>
        </p:nvSpPr>
        <p:spPr>
          <a:xfrm>
            <a:off x="548640" y="6108192"/>
            <a:ext cx="11091672" cy="329184"/>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6108192"/>
            <a:ext cx="64008" cy="329184"/>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108192"/>
            <a:ext cx="10817352" cy="329184"/>
          </a:xfrm>
          <a:prstGeom prst="rect">
            <a:avLst/>
          </a:prstGeom>
          <a:noFill/>
        </p:spPr>
        <p:txBody>
          <a:bodyPr wrap="square" lIns="0" rIns="0" tIns="0" bIns="0" anchor="ctr">
            <a:spAutoFit/>
          </a:bodyPr>
          <a:lstStyle/>
          <a:p>
            <a:pPr algn="l">
              <a:spcAft>
                <a:spcPts val="0"/>
              </a:spcAft>
            </a:pPr>
            <a:r>
              <a:rPr sz="1100" b="1" i="0">
                <a:solidFill>
                  <a:srgbClr val="1F5FAE"/>
                </a:solidFill>
                <a:latin typeface="Calibri"/>
              </a:rPr>
              <a:t>ROLE LINK   </a:t>
            </a:r>
            <a:r>
              <a:rPr sz="1300" b="0" i="0">
                <a:solidFill>
                  <a:srgbClr val="52514E"/>
                </a:solidFill>
                <a:latin typeface="Calibri"/>
              </a:rPr>
              <a:t>Multi-omic integration framework combining latent-variable and ensemble methods</a:t>
            </a:r>
          </a:p>
        </p:txBody>
      </p:sp>
      <p:sp>
        <p:nvSpPr>
          <p:cNvPr id="7" name="TextBox 6"/>
          <p:cNvSpPr txBox="1"/>
          <p:nvPr/>
        </p:nvSpPr>
        <p:spPr>
          <a:xfrm>
            <a:off x="548640" y="6510528"/>
            <a:ext cx="6400800" cy="228600"/>
          </a:xfrm>
          <a:prstGeom prst="rect">
            <a:avLst/>
          </a:prstGeom>
          <a:noFill/>
        </p:spPr>
        <p:txBody>
          <a:bodyPr wrap="square" lIns="0" rIns="0" tIns="0" bIns="0" anchor="t">
            <a:spAutoFit/>
          </a:bodyPr>
          <a:lstStyle/>
          <a:p>
            <a:pPr algn="l">
              <a:spcAft>
                <a:spcPts val="0"/>
              </a:spcAft>
            </a:pPr>
            <a:r>
              <a:rPr sz="1000" b="0" i="0">
                <a:solidFill>
                  <a:srgbClr val="8A8984"/>
                </a:solidFill>
                <a:latin typeface="Calibri"/>
              </a:rPr>
              <a:t>Kunal Tembhare  ·  Computational biology and multi-omics ML</a:t>
            </a:r>
          </a:p>
        </p:txBody>
      </p:sp>
      <p:sp>
        <p:nvSpPr>
          <p:cNvPr id="8" name="TextBox 7"/>
          <p:cNvSpPr txBox="1"/>
          <p:nvPr/>
        </p:nvSpPr>
        <p:spPr>
          <a:xfrm>
            <a:off x="10268712" y="6510528"/>
            <a:ext cx="1371600" cy="228600"/>
          </a:xfrm>
          <a:prstGeom prst="rect">
            <a:avLst/>
          </a:prstGeom>
          <a:noFill/>
        </p:spPr>
        <p:txBody>
          <a:bodyPr wrap="square" lIns="0" rIns="0" tIns="0" bIns="0" anchor="t">
            <a:spAutoFit/>
          </a:bodyPr>
          <a:lstStyle/>
          <a:p>
            <a:pPr algn="r">
              <a:spcAft>
                <a:spcPts val="0"/>
              </a:spcAft>
            </a:pPr>
            <a:r>
              <a:rPr sz="1000" b="0" i="0">
                <a:solidFill>
                  <a:srgbClr val="8A8984"/>
                </a:solidFill>
                <a:latin typeface="Calibri"/>
              </a:rPr>
              <a:t>7 / 27</a:t>
            </a:r>
          </a:p>
        </p:txBody>
      </p:sp>
      <p:sp>
        <p:nvSpPr>
          <p:cNvPr id="9" name="Rectangle 8"/>
          <p:cNvSpPr/>
          <p:nvPr/>
        </p:nvSpPr>
        <p:spPr>
          <a:xfrm>
            <a:off x="548640" y="1783080"/>
            <a:ext cx="2468880" cy="566928"/>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783080"/>
            <a:ext cx="109728" cy="56692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59" y="1783080"/>
            <a:ext cx="2103120" cy="566928"/>
          </a:xfrm>
          <a:prstGeom prst="rect">
            <a:avLst/>
          </a:prstGeom>
          <a:noFill/>
        </p:spPr>
        <p:txBody>
          <a:bodyPr wrap="square" lIns="0" rIns="0" tIns="0" bIns="0" anchor="ctr">
            <a:spAutoFit/>
          </a:bodyPr>
          <a:lstStyle/>
          <a:p>
            <a:pPr algn="l">
              <a:spcAft>
                <a:spcPts val="0"/>
              </a:spcAft>
            </a:pPr>
            <a:r>
              <a:rPr sz="1450" b="1" i="0">
                <a:solidFill>
                  <a:srgbClr val="0E2A47"/>
                </a:solidFill>
                <a:latin typeface="Calibri"/>
              </a:rPr>
              <a:t>Gene expression</a:t>
            </a:r>
          </a:p>
        </p:txBody>
      </p:sp>
      <p:cxnSp>
        <p:nvCxnSpPr>
          <p:cNvPr id="12" name="Connector 11"/>
          <p:cNvCxnSpPr/>
          <p:nvPr/>
        </p:nvCxnSpPr>
        <p:spPr>
          <a:xfrm>
            <a:off x="3017520" y="2066543"/>
            <a:ext cx="274320" cy="0"/>
          </a:xfrm>
          <a:prstGeom prst="line">
            <a:avLst/>
          </a:prstGeom>
          <a:ln w="15875">
            <a:solidFill>
              <a:srgbClr val="8A8984"/>
            </a:solidFill>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548640" y="2487168"/>
            <a:ext cx="2468880" cy="566928"/>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48640" y="2487168"/>
            <a:ext cx="109728" cy="566928"/>
          </a:xfrm>
          <a:prstGeom prst="rect">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59" y="2487168"/>
            <a:ext cx="2103120" cy="566928"/>
          </a:xfrm>
          <a:prstGeom prst="rect">
            <a:avLst/>
          </a:prstGeom>
          <a:noFill/>
        </p:spPr>
        <p:txBody>
          <a:bodyPr wrap="square" lIns="0" rIns="0" tIns="0" bIns="0" anchor="ctr">
            <a:spAutoFit/>
          </a:bodyPr>
          <a:lstStyle/>
          <a:p>
            <a:pPr algn="l">
              <a:spcAft>
                <a:spcPts val="0"/>
              </a:spcAft>
            </a:pPr>
            <a:r>
              <a:rPr sz="1450" b="1" i="0">
                <a:solidFill>
                  <a:srgbClr val="0E2A47"/>
                </a:solidFill>
                <a:latin typeface="Calibri"/>
              </a:rPr>
              <a:t>miRNA expression</a:t>
            </a:r>
          </a:p>
        </p:txBody>
      </p:sp>
      <p:cxnSp>
        <p:nvCxnSpPr>
          <p:cNvPr id="16" name="Connector 15"/>
          <p:cNvCxnSpPr/>
          <p:nvPr/>
        </p:nvCxnSpPr>
        <p:spPr>
          <a:xfrm>
            <a:off x="3017520" y="2770632"/>
            <a:ext cx="274320" cy="0"/>
          </a:xfrm>
          <a:prstGeom prst="line">
            <a:avLst/>
          </a:prstGeom>
          <a:ln w="15875">
            <a:solidFill>
              <a:srgbClr val="8A8984"/>
            </a:solidFill>
          </a:ln>
        </p:spPr>
        <p:style>
          <a:lnRef idx="2">
            <a:schemeClr val="accent1"/>
          </a:lnRef>
          <a:fillRef idx="0">
            <a:schemeClr val="accent1"/>
          </a:fillRef>
          <a:effectRef idx="1">
            <a:schemeClr val="accent1"/>
          </a:effectRef>
          <a:fontRef idx="minor">
            <a:schemeClr val="tx1"/>
          </a:fontRef>
        </p:style>
      </p:cxnSp>
      <p:sp>
        <p:nvSpPr>
          <p:cNvPr id="17" name="Rectangle 16"/>
          <p:cNvSpPr/>
          <p:nvPr/>
        </p:nvSpPr>
        <p:spPr>
          <a:xfrm>
            <a:off x="548640" y="3191256"/>
            <a:ext cx="2468880" cy="566928"/>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3191256"/>
            <a:ext cx="109728" cy="566928"/>
          </a:xfrm>
          <a:prstGeom prst="rect">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59" y="3191256"/>
            <a:ext cx="2103120" cy="566928"/>
          </a:xfrm>
          <a:prstGeom prst="rect">
            <a:avLst/>
          </a:prstGeom>
          <a:noFill/>
        </p:spPr>
        <p:txBody>
          <a:bodyPr wrap="square" lIns="0" rIns="0" tIns="0" bIns="0" anchor="ctr">
            <a:spAutoFit/>
          </a:bodyPr>
          <a:lstStyle/>
          <a:p>
            <a:pPr algn="l">
              <a:spcAft>
                <a:spcPts val="0"/>
              </a:spcAft>
            </a:pPr>
            <a:r>
              <a:rPr sz="1450" b="1" i="0">
                <a:solidFill>
                  <a:srgbClr val="0E2A47"/>
                </a:solidFill>
                <a:latin typeface="Calibri"/>
              </a:rPr>
              <a:t>DNA methylation</a:t>
            </a:r>
          </a:p>
        </p:txBody>
      </p:sp>
      <p:cxnSp>
        <p:nvCxnSpPr>
          <p:cNvPr id="20" name="Connector 19"/>
          <p:cNvCxnSpPr/>
          <p:nvPr/>
        </p:nvCxnSpPr>
        <p:spPr>
          <a:xfrm>
            <a:off x="3017520" y="3474720"/>
            <a:ext cx="274320" cy="0"/>
          </a:xfrm>
          <a:prstGeom prst="line">
            <a:avLst/>
          </a:prstGeom>
          <a:ln w="15875">
            <a:solidFill>
              <a:srgbClr val="8A8984"/>
            </a:solidFill>
          </a:ln>
        </p:spPr>
        <p:style>
          <a:lnRef idx="2">
            <a:schemeClr val="accent1"/>
          </a:lnRef>
          <a:fillRef idx="0">
            <a:schemeClr val="accent1"/>
          </a:fillRef>
          <a:effectRef idx="1">
            <a:schemeClr val="accent1"/>
          </a:effectRef>
          <a:fontRef idx="minor">
            <a:schemeClr val="tx1"/>
          </a:fontRef>
        </p:style>
      </p:cxnSp>
      <p:sp>
        <p:nvSpPr>
          <p:cNvPr id="21" name="Rectangle 20"/>
          <p:cNvSpPr/>
          <p:nvPr/>
        </p:nvSpPr>
        <p:spPr>
          <a:xfrm>
            <a:off x="548640" y="3895344"/>
            <a:ext cx="2468880" cy="566928"/>
          </a:xfrm>
          <a:prstGeom prst="rect">
            <a:avLst/>
          </a:prstGeom>
          <a:solidFill>
            <a:srgbClr val="FFFFFF"/>
          </a:solidFill>
          <a:ln w="9525">
            <a:solidFill>
              <a:srgbClr val="DAD9D2"/>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48640" y="3895344"/>
            <a:ext cx="109728" cy="566928"/>
          </a:xfrm>
          <a:prstGeom prst="rect">
            <a:avLst/>
          </a:prstGeom>
          <a:solidFill>
            <a:srgbClr val="EDA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2959" y="3895344"/>
            <a:ext cx="2103120" cy="566928"/>
          </a:xfrm>
          <a:prstGeom prst="rect">
            <a:avLst/>
          </a:prstGeom>
          <a:noFill/>
        </p:spPr>
        <p:txBody>
          <a:bodyPr wrap="square" lIns="0" rIns="0" tIns="0" bIns="0" anchor="ctr">
            <a:spAutoFit/>
          </a:bodyPr>
          <a:lstStyle/>
          <a:p>
            <a:pPr algn="l">
              <a:spcAft>
                <a:spcPts val="0"/>
              </a:spcAft>
            </a:pPr>
            <a:r>
              <a:rPr sz="1450" b="1" i="0">
                <a:solidFill>
                  <a:srgbClr val="0E2A47"/>
                </a:solidFill>
                <a:latin typeface="Calibri"/>
              </a:rPr>
              <a:t>Copy number*</a:t>
            </a:r>
          </a:p>
        </p:txBody>
      </p:sp>
      <p:cxnSp>
        <p:nvCxnSpPr>
          <p:cNvPr id="24" name="Connector 23"/>
          <p:cNvCxnSpPr/>
          <p:nvPr/>
        </p:nvCxnSpPr>
        <p:spPr>
          <a:xfrm>
            <a:off x="3017520" y="4178807"/>
            <a:ext cx="274320" cy="0"/>
          </a:xfrm>
          <a:prstGeom prst="line">
            <a:avLst/>
          </a:prstGeom>
          <a:ln w="15875">
            <a:solidFill>
              <a:srgbClr val="8A8984"/>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3291840" y="2066543"/>
            <a:ext cx="0" cy="2112265"/>
          </a:xfrm>
          <a:prstGeom prst="line">
            <a:avLst/>
          </a:prstGeom>
          <a:ln w="15875">
            <a:solidFill>
              <a:srgbClr val="8A8984"/>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548640" y="4572000"/>
            <a:ext cx="2743200" cy="411480"/>
          </a:xfrm>
          <a:prstGeom prst="rect">
            <a:avLst/>
          </a:prstGeom>
          <a:noFill/>
        </p:spPr>
        <p:txBody>
          <a:bodyPr wrap="square" lIns="0" rIns="0" tIns="0" bIns="0" anchor="t">
            <a:spAutoFit/>
          </a:bodyPr>
          <a:lstStyle/>
          <a:p>
            <a:pPr algn="l">
              <a:spcAft>
                <a:spcPts val="0"/>
              </a:spcAft>
            </a:pPr>
            <a:r>
              <a:rPr sz="1200" b="0" i="0">
                <a:solidFill>
                  <a:srgbClr val="52514E"/>
                </a:solidFill>
                <a:latin typeface="Calibri"/>
              </a:rPr>
              <a:t>*Used only in RF + PLS-DA: it lowered SVM performance.</a:t>
            </a:r>
          </a:p>
        </p:txBody>
      </p:sp>
      <p:sp>
        <p:nvSpPr>
          <p:cNvPr id="27" name="Rectangle 26"/>
          <p:cNvSpPr/>
          <p:nvPr/>
        </p:nvSpPr>
        <p:spPr>
          <a:xfrm>
            <a:off x="3840480" y="1783080"/>
            <a:ext cx="3383280" cy="141732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023360" y="1874519"/>
            <a:ext cx="3017520" cy="274320"/>
          </a:xfrm>
          <a:prstGeom prst="rect">
            <a:avLst/>
          </a:prstGeom>
          <a:noFill/>
        </p:spPr>
        <p:txBody>
          <a:bodyPr wrap="square" lIns="0" rIns="0" tIns="0" bIns="0" anchor="t">
            <a:spAutoFit/>
          </a:bodyPr>
          <a:lstStyle/>
          <a:p>
            <a:pPr algn="l">
              <a:spcAft>
                <a:spcPts val="0"/>
              </a:spcAft>
            </a:pPr>
            <a:r>
              <a:rPr sz="1500" b="1" i="0">
                <a:solidFill>
                  <a:srgbClr val="0E2A47"/>
                </a:solidFill>
                <a:latin typeface="Calibri"/>
              </a:rPr>
              <a:t>A · Univariate branch</a:t>
            </a:r>
          </a:p>
        </p:txBody>
      </p:sp>
      <p:sp>
        <p:nvSpPr>
          <p:cNvPr id="29" name="TextBox 28"/>
          <p:cNvSpPr txBox="1"/>
          <p:nvPr/>
        </p:nvSpPr>
        <p:spPr>
          <a:xfrm>
            <a:off x="4023360" y="2212848"/>
            <a:ext cx="3017520" cy="960120"/>
          </a:xfrm>
          <a:prstGeom prst="rect">
            <a:avLst/>
          </a:prstGeom>
          <a:noFill/>
        </p:spPr>
        <p:txBody>
          <a:bodyPr wrap="square" lIns="0" rIns="0" tIns="0" bIns="0" anchor="t">
            <a:spAutoFit/>
          </a:bodyPr>
          <a:lstStyle/>
          <a:p>
            <a:pPr algn="l">
              <a:spcAft>
                <a:spcPts val="0"/>
              </a:spcAft>
            </a:pPr>
            <a:r>
              <a:rPr sz="1300" b="0" i="0">
                <a:solidFill>
                  <a:srgbClr val="14171C"/>
                </a:solidFill>
                <a:latin typeface="Calibri"/>
              </a:rPr>
              <a:t>Top-ranked features per modality feed one SVM (Platt-scaled) or random forest per modality.</a:t>
            </a:r>
          </a:p>
        </p:txBody>
      </p:sp>
      <p:sp>
        <p:nvSpPr>
          <p:cNvPr id="30" name="Rectangle 29"/>
          <p:cNvSpPr/>
          <p:nvPr/>
        </p:nvSpPr>
        <p:spPr>
          <a:xfrm>
            <a:off x="3840480" y="3429000"/>
            <a:ext cx="3383280" cy="141732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023360" y="3520440"/>
            <a:ext cx="3017520" cy="274320"/>
          </a:xfrm>
          <a:prstGeom prst="rect">
            <a:avLst/>
          </a:prstGeom>
          <a:noFill/>
        </p:spPr>
        <p:txBody>
          <a:bodyPr wrap="square" lIns="0" rIns="0" tIns="0" bIns="0" anchor="t">
            <a:spAutoFit/>
          </a:bodyPr>
          <a:lstStyle/>
          <a:p>
            <a:pPr algn="l">
              <a:spcAft>
                <a:spcPts val="0"/>
              </a:spcAft>
            </a:pPr>
            <a:r>
              <a:rPr sz="1500" b="1" i="0">
                <a:solidFill>
                  <a:srgbClr val="0E2A47"/>
                </a:solidFill>
                <a:latin typeface="Calibri"/>
              </a:rPr>
              <a:t>B · Latent-variable branch</a:t>
            </a:r>
          </a:p>
        </p:txBody>
      </p:sp>
      <p:sp>
        <p:nvSpPr>
          <p:cNvPr id="32" name="TextBox 31"/>
          <p:cNvSpPr txBox="1"/>
          <p:nvPr/>
        </p:nvSpPr>
        <p:spPr>
          <a:xfrm>
            <a:off x="4023360" y="3858768"/>
            <a:ext cx="3017520" cy="960120"/>
          </a:xfrm>
          <a:prstGeom prst="rect">
            <a:avLst/>
          </a:prstGeom>
          <a:noFill/>
        </p:spPr>
        <p:txBody>
          <a:bodyPr wrap="square" lIns="0" rIns="0" tIns="0" bIns="0" anchor="t">
            <a:spAutoFit/>
          </a:bodyPr>
          <a:lstStyle/>
          <a:p>
            <a:pPr algn="l">
              <a:spcAft>
                <a:spcPts val="0"/>
              </a:spcAft>
            </a:pPr>
            <a:r>
              <a:rPr sz="1300" b="0" i="0">
                <a:solidFill>
                  <a:srgbClr val="14171C"/>
                </a:solidFill>
                <a:latin typeface="Calibri"/>
              </a:rPr>
              <a:t>500–2,000 features per modality feed one PLS-DA model, recovering information that small feature sets lose.</a:t>
            </a:r>
          </a:p>
        </p:txBody>
      </p:sp>
      <p:cxnSp>
        <p:nvCxnSpPr>
          <p:cNvPr id="33" name="Connector 32"/>
          <p:cNvCxnSpPr/>
          <p:nvPr/>
        </p:nvCxnSpPr>
        <p:spPr>
          <a:xfrm>
            <a:off x="3291840" y="2491740"/>
            <a:ext cx="548640" cy="0"/>
          </a:xfrm>
          <a:prstGeom prst="line">
            <a:avLst/>
          </a:prstGeom>
          <a:ln w="22225">
            <a:solidFill>
              <a:srgbClr val="52514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3291840" y="4137660"/>
            <a:ext cx="548640" cy="0"/>
          </a:xfrm>
          <a:prstGeom prst="line">
            <a:avLst/>
          </a:prstGeom>
          <a:ln w="22225">
            <a:solidFill>
              <a:srgbClr val="52514E"/>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ectangle 34"/>
          <p:cNvSpPr/>
          <p:nvPr/>
        </p:nvSpPr>
        <p:spPr>
          <a:xfrm>
            <a:off x="7772400" y="2743200"/>
            <a:ext cx="2103120" cy="1554480"/>
          </a:xfrm>
          <a:prstGeom prst="rect">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909560" y="2834640"/>
            <a:ext cx="1828800" cy="1371600"/>
          </a:xfrm>
          <a:prstGeom prst="rect">
            <a:avLst/>
          </a:prstGeom>
          <a:noFill/>
        </p:spPr>
        <p:txBody>
          <a:bodyPr wrap="square" lIns="0" rIns="0" tIns="0" bIns="0" anchor="ctr">
            <a:spAutoFit/>
          </a:bodyPr>
          <a:lstStyle/>
          <a:p>
            <a:pPr algn="l">
              <a:spcAft>
                <a:spcPts val="400"/>
              </a:spcAft>
            </a:pPr>
            <a:r>
              <a:rPr sz="1600" b="1" i="0">
                <a:solidFill>
                  <a:srgbClr val="FFFFFF"/>
                </a:solidFill>
                <a:latin typeface="Calibri"/>
              </a:rPr>
              <a:t>Meta-model</a:t>
            </a:r>
          </a:p>
          <a:p>
            <a:pPr algn="l">
              <a:spcAft>
                <a:spcPts val="400"/>
              </a:spcAft>
            </a:pPr>
            <a:r>
              <a:rPr sz="1300" b="0" i="0">
                <a:solidFill>
                  <a:srgbClr val="D5DEEA"/>
                </a:solidFill>
                <a:latin typeface="Calibri"/>
              </a:rPr>
              <a:t>SVM or RF trained on the stacked predicted probabilities from A and B</a:t>
            </a:r>
          </a:p>
        </p:txBody>
      </p:sp>
      <p:cxnSp>
        <p:nvCxnSpPr>
          <p:cNvPr id="37" name="Connector 36"/>
          <p:cNvCxnSpPr/>
          <p:nvPr/>
        </p:nvCxnSpPr>
        <p:spPr>
          <a:xfrm>
            <a:off x="7223760" y="2491740"/>
            <a:ext cx="548640" cy="571500"/>
          </a:xfrm>
          <a:prstGeom prst="line">
            <a:avLst/>
          </a:prstGeom>
          <a:ln w="22225">
            <a:solidFill>
              <a:srgbClr val="52514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V="1">
            <a:off x="7223760" y="4023360"/>
            <a:ext cx="548640" cy="114300"/>
          </a:xfrm>
          <a:prstGeom prst="line">
            <a:avLst/>
          </a:prstGeom>
          <a:ln w="22225">
            <a:solidFill>
              <a:srgbClr val="52514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9875520" y="3520440"/>
            <a:ext cx="365760" cy="0"/>
          </a:xfrm>
          <a:prstGeom prst="line">
            <a:avLst/>
          </a:prstGeom>
          <a:ln w="22225">
            <a:solidFill>
              <a:srgbClr val="52514E"/>
            </a:solidFill>
            <a:tailEnd type="triangle" w="med" len="med"/>
          </a:ln>
        </p:spPr>
        <p:style>
          <a:lnRef idx="2">
            <a:schemeClr val="accent1"/>
          </a:lnRef>
          <a:fillRef idx="0">
            <a:schemeClr val="accent1"/>
          </a:fillRef>
          <a:effectRef idx="1">
            <a:schemeClr val="accent1"/>
          </a:effectRef>
          <a:fontRef idx="minor">
            <a:schemeClr val="tx1"/>
          </a:fontRef>
        </p:style>
      </p:cxnSp>
      <p:sp>
        <p:nvSpPr>
          <p:cNvPr id="40" name="Rectangle 39"/>
          <p:cNvSpPr/>
          <p:nvPr/>
        </p:nvSpPr>
        <p:spPr>
          <a:xfrm>
            <a:off x="10241280" y="3017520"/>
            <a:ext cx="1399032" cy="1005840"/>
          </a:xfrm>
          <a:prstGeom prst="rect">
            <a:avLst/>
          </a:prstGeom>
          <a:solidFill>
            <a:srgbClr val="EEF2F7"/>
          </a:solidFill>
          <a:ln w="15875">
            <a:solidFill>
              <a:srgbClr val="1F5FA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350" b="1">
                <a:solidFill>
                  <a:srgbClr val="0E2A47"/>
                </a:solidFill>
                <a:latin typeface="Calibri"/>
              </a:rPr>
              <a:t>Long vs short survival</a:t>
            </a:r>
          </a:p>
        </p:txBody>
      </p:sp>
      <p:sp>
        <p:nvSpPr>
          <p:cNvPr id="41" name="TextBox 40"/>
          <p:cNvSpPr txBox="1"/>
          <p:nvPr/>
        </p:nvSpPr>
        <p:spPr>
          <a:xfrm>
            <a:off x="548640" y="5166360"/>
            <a:ext cx="5486400" cy="228600"/>
          </a:xfrm>
          <a:prstGeom prst="rect">
            <a:avLst/>
          </a:prstGeom>
          <a:noFill/>
        </p:spPr>
        <p:txBody>
          <a:bodyPr wrap="square" lIns="0" rIns="0" tIns="0" bIns="0" anchor="t">
            <a:spAutoFit/>
          </a:bodyPr>
          <a:lstStyle/>
          <a:p>
            <a:pPr algn="l">
              <a:spcAft>
                <a:spcPts val="0"/>
              </a:spcAft>
            </a:pPr>
            <a:r>
              <a:rPr sz="1100" b="1" i="0">
                <a:solidFill>
                  <a:srgbClr val="8A8984"/>
                </a:solidFill>
                <a:latin typeface="Calibri"/>
              </a:rPr>
              <a:t>THREE PIPELINES COMPARED</a:t>
            </a:r>
          </a:p>
        </p:txBody>
      </p:sp>
      <p:sp>
        <p:nvSpPr>
          <p:cNvPr id="42" name="Rectangle 41"/>
          <p:cNvSpPr/>
          <p:nvPr/>
        </p:nvSpPr>
        <p:spPr>
          <a:xfrm>
            <a:off x="548640" y="5440680"/>
            <a:ext cx="3931920" cy="530352"/>
          </a:xfrm>
          <a:prstGeom prst="rect">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350" b="1">
                <a:solidFill>
                  <a:srgbClr val="FFFFFF"/>
                </a:solidFill>
                <a:latin typeface="Calibri"/>
              </a:rPr>
              <a:t>SVM + PLS-DA   best, test AUC 0.89</a:t>
            </a:r>
          </a:p>
        </p:txBody>
      </p:sp>
      <p:sp>
        <p:nvSpPr>
          <p:cNvPr id="43" name="Rectangle 42"/>
          <p:cNvSpPr/>
          <p:nvPr/>
        </p:nvSpPr>
        <p:spPr>
          <a:xfrm>
            <a:off x="4663440" y="5440680"/>
            <a:ext cx="3520440" cy="530352"/>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350" b="0">
                <a:solidFill>
                  <a:srgbClr val="14171C"/>
                </a:solidFill>
                <a:latin typeface="Calibri"/>
              </a:rPr>
              <a:t>RF + PLS-DA   RF overfitting persists</a:t>
            </a:r>
          </a:p>
        </p:txBody>
      </p:sp>
      <p:sp>
        <p:nvSpPr>
          <p:cNvPr id="44" name="Rectangle 43"/>
          <p:cNvSpPr/>
          <p:nvPr/>
        </p:nvSpPr>
        <p:spPr>
          <a:xfrm>
            <a:off x="8366760" y="5440680"/>
            <a:ext cx="3273552" cy="530352"/>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350" b="0">
                <a:solidFill>
                  <a:srgbClr val="14171C"/>
                </a:solidFill>
                <a:latin typeface="Calibri"/>
              </a:rPr>
              <a:t>SVM + RF   RF overfitting persists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48640" y="347472"/>
            <a:ext cx="8229600" cy="274320"/>
          </a:xfrm>
          <a:prstGeom prst="rect">
            <a:avLst/>
          </a:prstGeom>
          <a:noFill/>
        </p:spPr>
        <p:txBody>
          <a:bodyPr wrap="square" lIns="0" rIns="0" tIns="0" bIns="0" anchor="t">
            <a:spAutoFit/>
          </a:bodyPr>
          <a:lstStyle/>
          <a:p>
            <a:pPr algn="l">
              <a:spcAft>
                <a:spcPts val="0"/>
              </a:spcAft>
            </a:pPr>
            <a:r>
              <a:rPr sz="1200" b="1" i="0">
                <a:solidFill>
                  <a:srgbClr val="1F5FAE"/>
                </a:solidFill>
                <a:latin typeface="Calibri"/>
              </a:rPr>
              <a:t>MULTI-OMICS PROJECT  ·  RESULTS</a:t>
            </a:r>
          </a:p>
        </p:txBody>
      </p:sp>
      <p:sp>
        <p:nvSpPr>
          <p:cNvPr id="3" name="TextBox 2"/>
          <p:cNvSpPr txBox="1"/>
          <p:nvPr/>
        </p:nvSpPr>
        <p:spPr>
          <a:xfrm>
            <a:off x="548640" y="621792"/>
            <a:ext cx="11091672" cy="914400"/>
          </a:xfrm>
          <a:prstGeom prst="rect">
            <a:avLst/>
          </a:prstGeom>
          <a:noFill/>
        </p:spPr>
        <p:txBody>
          <a:bodyPr wrap="square" lIns="0" rIns="0" tIns="0" bIns="0" anchor="t">
            <a:spAutoFit/>
          </a:bodyPr>
          <a:lstStyle/>
          <a:p>
            <a:pPr algn="l">
              <a:lnSpc>
                <a:spcPct val="95000"/>
              </a:lnSpc>
              <a:spcAft>
                <a:spcPts val="0"/>
              </a:spcAft>
            </a:pPr>
            <a:r>
              <a:rPr sz="2600" b="1" i="0">
                <a:solidFill>
                  <a:srgbClr val="0E2A47"/>
                </a:solidFill>
                <a:latin typeface="Calibri"/>
              </a:rPr>
              <a:t>SVM + PLS-DA reached AUC 0.89 on 46 unseen patients, competitive with prior work and interpretable</a:t>
            </a:r>
          </a:p>
        </p:txBody>
      </p:sp>
      <p:sp>
        <p:nvSpPr>
          <p:cNvPr id="4" name="Rectangle 3"/>
          <p:cNvSpPr/>
          <p:nvPr/>
        </p:nvSpPr>
        <p:spPr>
          <a:xfrm>
            <a:off x="548640" y="6108192"/>
            <a:ext cx="11091672" cy="329184"/>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6108192"/>
            <a:ext cx="64008" cy="329184"/>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108192"/>
            <a:ext cx="10817352" cy="329184"/>
          </a:xfrm>
          <a:prstGeom prst="rect">
            <a:avLst/>
          </a:prstGeom>
          <a:noFill/>
        </p:spPr>
        <p:txBody>
          <a:bodyPr wrap="square" lIns="0" rIns="0" tIns="0" bIns="0" anchor="ctr">
            <a:spAutoFit/>
          </a:bodyPr>
          <a:lstStyle/>
          <a:p>
            <a:pPr algn="l">
              <a:spcAft>
                <a:spcPts val="0"/>
              </a:spcAft>
            </a:pPr>
            <a:r>
              <a:rPr sz="1100" b="1" i="0">
                <a:solidFill>
                  <a:srgbClr val="1F5FAE"/>
                </a:solidFill>
                <a:latin typeface="Calibri"/>
              </a:rPr>
              <a:t>ROLE LINK   </a:t>
            </a:r>
            <a:r>
              <a:rPr sz="1300" b="0" i="0">
                <a:solidFill>
                  <a:srgbClr val="52514E"/>
                </a:solidFill>
                <a:latin typeface="Calibri"/>
              </a:rPr>
              <a:t>Predictive and prognostic biomarker models for survival endpoints</a:t>
            </a:r>
          </a:p>
        </p:txBody>
      </p:sp>
      <p:sp>
        <p:nvSpPr>
          <p:cNvPr id="7" name="TextBox 6"/>
          <p:cNvSpPr txBox="1"/>
          <p:nvPr/>
        </p:nvSpPr>
        <p:spPr>
          <a:xfrm>
            <a:off x="548640" y="6510528"/>
            <a:ext cx="6400800" cy="228600"/>
          </a:xfrm>
          <a:prstGeom prst="rect">
            <a:avLst/>
          </a:prstGeom>
          <a:noFill/>
        </p:spPr>
        <p:txBody>
          <a:bodyPr wrap="square" lIns="0" rIns="0" tIns="0" bIns="0" anchor="t">
            <a:spAutoFit/>
          </a:bodyPr>
          <a:lstStyle/>
          <a:p>
            <a:pPr algn="l">
              <a:spcAft>
                <a:spcPts val="0"/>
              </a:spcAft>
            </a:pPr>
            <a:r>
              <a:rPr sz="1000" b="0" i="0">
                <a:solidFill>
                  <a:srgbClr val="8A8984"/>
                </a:solidFill>
                <a:latin typeface="Calibri"/>
              </a:rPr>
              <a:t>Kunal Tembhare  ·  Computational biology and multi-omics ML</a:t>
            </a:r>
          </a:p>
        </p:txBody>
      </p:sp>
      <p:sp>
        <p:nvSpPr>
          <p:cNvPr id="8" name="TextBox 7"/>
          <p:cNvSpPr txBox="1"/>
          <p:nvPr/>
        </p:nvSpPr>
        <p:spPr>
          <a:xfrm>
            <a:off x="10268712" y="6510528"/>
            <a:ext cx="1371600" cy="228600"/>
          </a:xfrm>
          <a:prstGeom prst="rect">
            <a:avLst/>
          </a:prstGeom>
          <a:noFill/>
        </p:spPr>
        <p:txBody>
          <a:bodyPr wrap="square" lIns="0" rIns="0" tIns="0" bIns="0" anchor="t">
            <a:spAutoFit/>
          </a:bodyPr>
          <a:lstStyle/>
          <a:p>
            <a:pPr algn="r">
              <a:spcAft>
                <a:spcPts val="0"/>
              </a:spcAft>
            </a:pPr>
            <a:r>
              <a:rPr sz="1000" b="0" i="0">
                <a:solidFill>
                  <a:srgbClr val="8A8984"/>
                </a:solidFill>
                <a:latin typeface="Calibri"/>
              </a:rPr>
              <a:t>8 / 27</a:t>
            </a:r>
          </a:p>
        </p:txBody>
      </p:sp>
      <p:sp>
        <p:nvSpPr>
          <p:cNvPr id="9" name="Rectangle 8"/>
          <p:cNvSpPr/>
          <p:nvPr/>
        </p:nvSpPr>
        <p:spPr>
          <a:xfrm>
            <a:off x="548640" y="1691640"/>
            <a:ext cx="3657600" cy="123444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691640"/>
            <a:ext cx="73152" cy="1234440"/>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59" y="1691640"/>
            <a:ext cx="1280160" cy="1234440"/>
          </a:xfrm>
          <a:prstGeom prst="rect">
            <a:avLst/>
          </a:prstGeom>
          <a:noFill/>
        </p:spPr>
        <p:txBody>
          <a:bodyPr wrap="square" lIns="0" rIns="0" tIns="0" bIns="0" anchor="ctr">
            <a:spAutoFit/>
          </a:bodyPr>
          <a:lstStyle/>
          <a:p>
            <a:pPr algn="l">
              <a:spcAft>
                <a:spcPts val="0"/>
              </a:spcAft>
            </a:pPr>
            <a:r>
              <a:rPr sz="4400" b="1" i="0">
                <a:solidFill>
                  <a:srgbClr val="0E2A47"/>
                </a:solidFill>
                <a:latin typeface="Calibri"/>
              </a:rPr>
              <a:t>0.89</a:t>
            </a:r>
          </a:p>
        </p:txBody>
      </p:sp>
      <p:sp>
        <p:nvSpPr>
          <p:cNvPr id="12" name="TextBox 11"/>
          <p:cNvSpPr txBox="1"/>
          <p:nvPr/>
        </p:nvSpPr>
        <p:spPr>
          <a:xfrm>
            <a:off x="2057400" y="1874520"/>
            <a:ext cx="2057400" cy="914400"/>
          </a:xfrm>
          <a:prstGeom prst="rect">
            <a:avLst/>
          </a:prstGeom>
          <a:noFill/>
        </p:spPr>
        <p:txBody>
          <a:bodyPr wrap="square" lIns="0" rIns="0" tIns="0" bIns="0" anchor="ctr">
            <a:spAutoFit/>
          </a:bodyPr>
          <a:lstStyle/>
          <a:p>
            <a:pPr algn="l">
              <a:spcAft>
                <a:spcPts val="200"/>
              </a:spcAft>
            </a:pPr>
            <a:r>
              <a:rPr sz="1500" b="1" i="0">
                <a:solidFill>
                  <a:srgbClr val="0E2A47"/>
                </a:solidFill>
                <a:latin typeface="Calibri"/>
              </a:rPr>
              <a:t>AUC</a:t>
            </a:r>
          </a:p>
          <a:p>
            <a:pPr algn="l">
              <a:spcAft>
                <a:spcPts val="200"/>
              </a:spcAft>
            </a:pPr>
            <a:r>
              <a:rPr sz="1250" b="0" i="0">
                <a:solidFill>
                  <a:srgbClr val="52514E"/>
                </a:solidFill>
                <a:latin typeface="Calibri"/>
              </a:rPr>
              <a:t>on the held-out test set of 46 unseen patients</a:t>
            </a:r>
          </a:p>
        </p:txBody>
      </p:sp>
      <p:sp>
        <p:nvSpPr>
          <p:cNvPr id="13" name="Rectangle 12"/>
          <p:cNvSpPr/>
          <p:nvPr/>
        </p:nvSpPr>
        <p:spPr>
          <a:xfrm>
            <a:off x="548640" y="3063240"/>
            <a:ext cx="3657600" cy="123444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48640" y="3063240"/>
            <a:ext cx="73152" cy="1234440"/>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59" y="3063240"/>
            <a:ext cx="1280160" cy="1234440"/>
          </a:xfrm>
          <a:prstGeom prst="rect">
            <a:avLst/>
          </a:prstGeom>
          <a:noFill/>
        </p:spPr>
        <p:txBody>
          <a:bodyPr wrap="square" lIns="0" rIns="0" tIns="0" bIns="0" anchor="ctr">
            <a:spAutoFit/>
          </a:bodyPr>
          <a:lstStyle/>
          <a:p>
            <a:pPr algn="l">
              <a:spcAft>
                <a:spcPts val="0"/>
              </a:spcAft>
            </a:pPr>
            <a:r>
              <a:rPr sz="4400" b="1" i="0">
                <a:solidFill>
                  <a:srgbClr val="0E2A47"/>
                </a:solidFill>
                <a:latin typeface="Calibri"/>
              </a:rPr>
              <a:t>0.83</a:t>
            </a:r>
          </a:p>
        </p:txBody>
      </p:sp>
      <p:sp>
        <p:nvSpPr>
          <p:cNvPr id="16" name="TextBox 15"/>
          <p:cNvSpPr txBox="1"/>
          <p:nvPr/>
        </p:nvSpPr>
        <p:spPr>
          <a:xfrm>
            <a:off x="2057400" y="3246120"/>
            <a:ext cx="2057400" cy="914400"/>
          </a:xfrm>
          <a:prstGeom prst="rect">
            <a:avLst/>
          </a:prstGeom>
          <a:noFill/>
        </p:spPr>
        <p:txBody>
          <a:bodyPr wrap="square" lIns="0" rIns="0" tIns="0" bIns="0" anchor="ctr">
            <a:spAutoFit/>
          </a:bodyPr>
          <a:lstStyle/>
          <a:p>
            <a:pPr algn="l">
              <a:spcAft>
                <a:spcPts val="200"/>
              </a:spcAft>
            </a:pPr>
            <a:r>
              <a:rPr sz="1500" b="1" i="0">
                <a:solidFill>
                  <a:srgbClr val="0E2A47"/>
                </a:solidFill>
                <a:latin typeface="Calibri"/>
              </a:rPr>
              <a:t>Accuracy</a:t>
            </a:r>
          </a:p>
          <a:p>
            <a:pPr algn="l">
              <a:spcAft>
                <a:spcPts val="200"/>
              </a:spcAft>
            </a:pPr>
            <a:r>
              <a:rPr sz="1250" b="0" i="0">
                <a:solidFill>
                  <a:srgbClr val="52514E"/>
                </a:solidFill>
                <a:latin typeface="Calibri"/>
              </a:rPr>
              <a:t>on the same test set</a:t>
            </a:r>
          </a:p>
        </p:txBody>
      </p:sp>
      <p:sp>
        <p:nvSpPr>
          <p:cNvPr id="17" name="Rectangle 16"/>
          <p:cNvSpPr/>
          <p:nvPr/>
        </p:nvSpPr>
        <p:spPr>
          <a:xfrm>
            <a:off x="548640" y="4434840"/>
            <a:ext cx="3657600" cy="123444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4434840"/>
            <a:ext cx="73152" cy="1234440"/>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59" y="4434840"/>
            <a:ext cx="1280160" cy="1234440"/>
          </a:xfrm>
          <a:prstGeom prst="rect">
            <a:avLst/>
          </a:prstGeom>
          <a:noFill/>
        </p:spPr>
        <p:txBody>
          <a:bodyPr wrap="square" lIns="0" rIns="0" tIns="0" bIns="0" anchor="ctr">
            <a:spAutoFit/>
          </a:bodyPr>
          <a:lstStyle/>
          <a:p>
            <a:pPr algn="l">
              <a:spcAft>
                <a:spcPts val="0"/>
              </a:spcAft>
            </a:pPr>
            <a:r>
              <a:rPr sz="4400" b="1" i="0">
                <a:solidFill>
                  <a:srgbClr val="0E2A47"/>
                </a:solidFill>
                <a:latin typeface="Calibri"/>
              </a:rPr>
              <a:t>3</a:t>
            </a:r>
          </a:p>
        </p:txBody>
      </p:sp>
      <p:sp>
        <p:nvSpPr>
          <p:cNvPr id="20" name="TextBox 19"/>
          <p:cNvSpPr txBox="1"/>
          <p:nvPr/>
        </p:nvSpPr>
        <p:spPr>
          <a:xfrm>
            <a:off x="2057400" y="4617720"/>
            <a:ext cx="2057400" cy="914400"/>
          </a:xfrm>
          <a:prstGeom prst="rect">
            <a:avLst/>
          </a:prstGeom>
          <a:noFill/>
        </p:spPr>
        <p:txBody>
          <a:bodyPr wrap="square" lIns="0" rIns="0" tIns="0" bIns="0" anchor="ctr">
            <a:spAutoFit/>
          </a:bodyPr>
          <a:lstStyle/>
          <a:p>
            <a:pPr algn="l">
              <a:spcAft>
                <a:spcPts val="200"/>
              </a:spcAft>
            </a:pPr>
            <a:r>
              <a:rPr sz="1500" b="1" i="0">
                <a:solidFill>
                  <a:srgbClr val="0E2A47"/>
                </a:solidFill>
                <a:latin typeface="Calibri"/>
              </a:rPr>
              <a:t>Omics layers</a:t>
            </a:r>
          </a:p>
          <a:p>
            <a:pPr algn="l">
              <a:spcAft>
                <a:spcPts val="200"/>
              </a:spcAft>
            </a:pPr>
            <a:r>
              <a:rPr sz="1250" b="0" i="0">
                <a:solidFill>
                  <a:srgbClr val="52514E"/>
                </a:solidFill>
                <a:latin typeface="Calibri"/>
              </a:rPr>
              <a:t>in the best model: gene expression, miRNA expression, DNA methylation</a:t>
            </a:r>
          </a:p>
        </p:txBody>
      </p:sp>
      <p:sp>
        <p:nvSpPr>
          <p:cNvPr id="21" name="TextBox 20"/>
          <p:cNvSpPr txBox="1"/>
          <p:nvPr/>
        </p:nvSpPr>
        <p:spPr>
          <a:xfrm>
            <a:off x="4572000" y="1691640"/>
            <a:ext cx="7040880" cy="274320"/>
          </a:xfrm>
          <a:prstGeom prst="rect">
            <a:avLst/>
          </a:prstGeom>
          <a:noFill/>
        </p:spPr>
        <p:txBody>
          <a:bodyPr wrap="square" lIns="0" rIns="0" tIns="0" bIns="0" anchor="t">
            <a:spAutoFit/>
          </a:bodyPr>
          <a:lstStyle/>
          <a:p>
            <a:pPr algn="l">
              <a:spcAft>
                <a:spcPts val="0"/>
              </a:spcAft>
            </a:pPr>
            <a:r>
              <a:rPr sz="1500" b="1" i="0">
                <a:solidFill>
                  <a:srgbClr val="0E2A47"/>
                </a:solidFill>
                <a:latin typeface="Calibri"/>
              </a:rPr>
              <a:t>Comparison with published breast cancer survival models</a:t>
            </a:r>
          </a:p>
        </p:txBody>
      </p:sp>
      <p:sp>
        <p:nvSpPr>
          <p:cNvPr id="22" name="TextBox 21"/>
          <p:cNvSpPr txBox="1"/>
          <p:nvPr/>
        </p:nvSpPr>
        <p:spPr>
          <a:xfrm>
            <a:off x="4572000" y="2011680"/>
            <a:ext cx="2743200" cy="228600"/>
          </a:xfrm>
          <a:prstGeom prst="rect">
            <a:avLst/>
          </a:prstGeom>
          <a:noFill/>
        </p:spPr>
        <p:txBody>
          <a:bodyPr wrap="square" lIns="0" rIns="0" tIns="0" bIns="0" anchor="t">
            <a:spAutoFit/>
          </a:bodyPr>
          <a:lstStyle/>
          <a:p>
            <a:pPr algn="l">
              <a:spcAft>
                <a:spcPts val="0"/>
              </a:spcAft>
            </a:pPr>
            <a:r>
              <a:rPr sz="1100" b="1" i="0">
                <a:solidFill>
                  <a:srgbClr val="8A8984"/>
                </a:solidFill>
                <a:latin typeface="Calibri"/>
              </a:rPr>
              <a:t>AUC</a:t>
            </a:r>
          </a:p>
        </p:txBody>
      </p:sp>
      <p:graphicFrame>
        <p:nvGraphicFramePr>
          <p:cNvPr id="23" name="Chart 22"/>
          <p:cNvGraphicFramePr>
            <a:graphicFrameLocks noGrp="1"/>
          </p:cNvGraphicFramePr>
          <p:nvPr/>
        </p:nvGraphicFramePr>
        <p:xfrm>
          <a:off x="4572000" y="2212848"/>
          <a:ext cx="7068312" cy="1508760"/>
        </p:xfrm>
        <a:graphic>
          <a:graphicData uri="http://schemas.openxmlformats.org/drawingml/2006/chart">
            <c:chart xmlns:c="http://schemas.openxmlformats.org/drawingml/2006/chart" r:id="rId2"/>
          </a:graphicData>
        </a:graphic>
      </p:graphicFrame>
      <p:sp>
        <p:nvSpPr>
          <p:cNvPr id="24" name="TextBox 23"/>
          <p:cNvSpPr txBox="1"/>
          <p:nvPr/>
        </p:nvSpPr>
        <p:spPr>
          <a:xfrm>
            <a:off x="4572000" y="3749039"/>
            <a:ext cx="2743200" cy="228600"/>
          </a:xfrm>
          <a:prstGeom prst="rect">
            <a:avLst/>
          </a:prstGeom>
          <a:noFill/>
        </p:spPr>
        <p:txBody>
          <a:bodyPr wrap="square" lIns="0" rIns="0" tIns="0" bIns="0" anchor="t">
            <a:spAutoFit/>
          </a:bodyPr>
          <a:lstStyle/>
          <a:p>
            <a:pPr algn="l">
              <a:spcAft>
                <a:spcPts val="0"/>
              </a:spcAft>
            </a:pPr>
            <a:r>
              <a:rPr sz="1100" b="1" i="0">
                <a:solidFill>
                  <a:srgbClr val="8A8984"/>
                </a:solidFill>
                <a:latin typeface="Calibri"/>
              </a:rPr>
              <a:t>ACCURACY</a:t>
            </a:r>
          </a:p>
        </p:txBody>
      </p:sp>
      <p:graphicFrame>
        <p:nvGraphicFramePr>
          <p:cNvPr id="25" name="Chart 24"/>
          <p:cNvGraphicFramePr>
            <a:graphicFrameLocks noGrp="1"/>
          </p:cNvGraphicFramePr>
          <p:nvPr/>
        </p:nvGraphicFramePr>
        <p:xfrm>
          <a:off x="4572000" y="3950207"/>
          <a:ext cx="7068312" cy="1508760"/>
        </p:xfrm>
        <a:graphic>
          <a:graphicData uri="http://schemas.openxmlformats.org/drawingml/2006/chart">
            <c:chart xmlns:c="http://schemas.openxmlformats.org/drawingml/2006/chart" r:id="rId3"/>
          </a:graphicData>
        </a:graphic>
      </p:graphicFrame>
      <p:sp>
        <p:nvSpPr>
          <p:cNvPr id="26" name="TextBox 25"/>
          <p:cNvSpPr txBox="1"/>
          <p:nvPr/>
        </p:nvSpPr>
        <p:spPr>
          <a:xfrm>
            <a:off x="4572000" y="5577840"/>
            <a:ext cx="7040880" cy="411480"/>
          </a:xfrm>
          <a:prstGeom prst="rect">
            <a:avLst/>
          </a:prstGeom>
          <a:noFill/>
        </p:spPr>
        <p:txBody>
          <a:bodyPr wrap="square" lIns="0" rIns="0" tIns="0" bIns="0" anchor="t">
            <a:spAutoFit/>
          </a:bodyPr>
          <a:lstStyle/>
          <a:p>
            <a:pPr algn="l">
              <a:spcAft>
                <a:spcPts val="0"/>
              </a:spcAft>
            </a:pPr>
            <a:r>
              <a:rPr sz="1150" b="0" i="0">
                <a:solidFill>
                  <a:srgbClr val="52514E"/>
                </a:solidFill>
                <a:latin typeface="Calibri"/>
              </a:rPr>
              <a:t>Deep learning scores higher on accuracy but yields no actionable biomarkers. Source: Table 3 of the paper; cohorts and splits differ across studies.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48640" y="347472"/>
            <a:ext cx="8229600" cy="274320"/>
          </a:xfrm>
          <a:prstGeom prst="rect">
            <a:avLst/>
          </a:prstGeom>
          <a:noFill/>
        </p:spPr>
        <p:txBody>
          <a:bodyPr wrap="square" lIns="0" rIns="0" tIns="0" bIns="0" anchor="t">
            <a:spAutoFit/>
          </a:bodyPr>
          <a:lstStyle/>
          <a:p>
            <a:pPr algn="l">
              <a:spcAft>
                <a:spcPts val="0"/>
              </a:spcAft>
            </a:pPr>
            <a:r>
              <a:rPr sz="1200" b="1" i="0">
                <a:solidFill>
                  <a:srgbClr val="1F5FAE"/>
                </a:solidFill>
                <a:latin typeface="Calibri"/>
              </a:rPr>
              <a:t>MULTI-OMICS PROJECT  ·  MODEL SELECTION</a:t>
            </a:r>
          </a:p>
        </p:txBody>
      </p:sp>
      <p:sp>
        <p:nvSpPr>
          <p:cNvPr id="3" name="TextBox 2"/>
          <p:cNvSpPr txBox="1"/>
          <p:nvPr/>
        </p:nvSpPr>
        <p:spPr>
          <a:xfrm>
            <a:off x="548640" y="621792"/>
            <a:ext cx="11091672" cy="914400"/>
          </a:xfrm>
          <a:prstGeom prst="rect">
            <a:avLst/>
          </a:prstGeom>
          <a:noFill/>
        </p:spPr>
        <p:txBody>
          <a:bodyPr wrap="square" lIns="0" rIns="0" tIns="0" bIns="0" anchor="t">
            <a:spAutoFit/>
          </a:bodyPr>
          <a:lstStyle/>
          <a:p>
            <a:pPr algn="l">
              <a:lnSpc>
                <a:spcPct val="95000"/>
              </a:lnSpc>
              <a:spcAft>
                <a:spcPts val="0"/>
              </a:spcAft>
            </a:pPr>
            <a:r>
              <a:rPr sz="2600" b="1" i="0">
                <a:solidFill>
                  <a:srgbClr val="0E2A47"/>
                </a:solidFill>
                <a:latin typeface="Calibri"/>
              </a:rPr>
              <a:t>Model selection followed generalisation, not raw scores</a:t>
            </a:r>
          </a:p>
        </p:txBody>
      </p:sp>
      <p:sp>
        <p:nvSpPr>
          <p:cNvPr id="4" name="Rectangle 3"/>
          <p:cNvSpPr/>
          <p:nvPr/>
        </p:nvSpPr>
        <p:spPr>
          <a:xfrm>
            <a:off x="548640" y="6108192"/>
            <a:ext cx="11091672" cy="329184"/>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6108192"/>
            <a:ext cx="64008" cy="329184"/>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108192"/>
            <a:ext cx="10817352" cy="329184"/>
          </a:xfrm>
          <a:prstGeom prst="rect">
            <a:avLst/>
          </a:prstGeom>
          <a:noFill/>
        </p:spPr>
        <p:txBody>
          <a:bodyPr wrap="square" lIns="0" rIns="0" tIns="0" bIns="0" anchor="ctr">
            <a:spAutoFit/>
          </a:bodyPr>
          <a:lstStyle/>
          <a:p>
            <a:pPr algn="l">
              <a:spcAft>
                <a:spcPts val="0"/>
              </a:spcAft>
            </a:pPr>
            <a:r>
              <a:rPr sz="1100" b="1" i="0">
                <a:solidFill>
                  <a:srgbClr val="1F5FAE"/>
                </a:solidFill>
                <a:latin typeface="Calibri"/>
              </a:rPr>
              <a:t>ROLE LINK   </a:t>
            </a:r>
            <a:r>
              <a:rPr sz="1300" b="0" i="0">
                <a:solidFill>
                  <a:srgbClr val="52514E"/>
                </a:solidFill>
                <a:latin typeface="Calibri"/>
              </a:rPr>
              <a:t>Understanding model assumptions, limitations and validation</a:t>
            </a:r>
          </a:p>
        </p:txBody>
      </p:sp>
      <p:sp>
        <p:nvSpPr>
          <p:cNvPr id="7" name="TextBox 6"/>
          <p:cNvSpPr txBox="1"/>
          <p:nvPr/>
        </p:nvSpPr>
        <p:spPr>
          <a:xfrm>
            <a:off x="548640" y="6510528"/>
            <a:ext cx="6400800" cy="228600"/>
          </a:xfrm>
          <a:prstGeom prst="rect">
            <a:avLst/>
          </a:prstGeom>
          <a:noFill/>
        </p:spPr>
        <p:txBody>
          <a:bodyPr wrap="square" lIns="0" rIns="0" tIns="0" bIns="0" anchor="t">
            <a:spAutoFit/>
          </a:bodyPr>
          <a:lstStyle/>
          <a:p>
            <a:pPr algn="l">
              <a:spcAft>
                <a:spcPts val="0"/>
              </a:spcAft>
            </a:pPr>
            <a:r>
              <a:rPr sz="1000" b="0" i="0">
                <a:solidFill>
                  <a:srgbClr val="8A8984"/>
                </a:solidFill>
                <a:latin typeface="Calibri"/>
              </a:rPr>
              <a:t>Kunal Tembhare  ·  Computational biology and multi-omics ML</a:t>
            </a:r>
          </a:p>
        </p:txBody>
      </p:sp>
      <p:sp>
        <p:nvSpPr>
          <p:cNvPr id="8" name="TextBox 7"/>
          <p:cNvSpPr txBox="1"/>
          <p:nvPr/>
        </p:nvSpPr>
        <p:spPr>
          <a:xfrm>
            <a:off x="10268712" y="6510528"/>
            <a:ext cx="1371600" cy="228600"/>
          </a:xfrm>
          <a:prstGeom prst="rect">
            <a:avLst/>
          </a:prstGeom>
          <a:noFill/>
        </p:spPr>
        <p:txBody>
          <a:bodyPr wrap="square" lIns="0" rIns="0" tIns="0" bIns="0" anchor="t">
            <a:spAutoFit/>
          </a:bodyPr>
          <a:lstStyle/>
          <a:p>
            <a:pPr algn="r">
              <a:spcAft>
                <a:spcPts val="0"/>
              </a:spcAft>
            </a:pPr>
            <a:r>
              <a:rPr sz="1000" b="0" i="0">
                <a:solidFill>
                  <a:srgbClr val="8A8984"/>
                </a:solidFill>
                <a:latin typeface="Calibri"/>
              </a:rPr>
              <a:t>9 / 27</a:t>
            </a:r>
          </a:p>
        </p:txBody>
      </p:sp>
      <p:sp>
        <p:nvSpPr>
          <p:cNvPr id="9" name="Rectangle 8"/>
          <p:cNvSpPr/>
          <p:nvPr/>
        </p:nvSpPr>
        <p:spPr>
          <a:xfrm>
            <a:off x="548640" y="1691640"/>
            <a:ext cx="5449824" cy="1874519"/>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691640"/>
            <a:ext cx="73152" cy="1874519"/>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59" y="1856232"/>
            <a:ext cx="5029200" cy="320040"/>
          </a:xfrm>
          <a:prstGeom prst="rect">
            <a:avLst/>
          </a:prstGeom>
          <a:noFill/>
        </p:spPr>
        <p:txBody>
          <a:bodyPr wrap="square" lIns="0" rIns="0" tIns="0" bIns="0" anchor="t">
            <a:spAutoFit/>
          </a:bodyPr>
          <a:lstStyle/>
          <a:p>
            <a:pPr algn="l">
              <a:spcAft>
                <a:spcPts val="0"/>
              </a:spcAft>
            </a:pPr>
            <a:r>
              <a:rPr sz="1700" b="1" i="0">
                <a:solidFill>
                  <a:srgbClr val="0E2A47"/>
                </a:solidFill>
                <a:latin typeface="Calibri"/>
              </a:rPr>
              <a:t>Random forest scored higher but overfit</a:t>
            </a:r>
          </a:p>
        </p:txBody>
      </p:sp>
      <p:sp>
        <p:nvSpPr>
          <p:cNvPr id="12" name="TextBox 11"/>
          <p:cNvSpPr txBox="1"/>
          <p:nvPr/>
        </p:nvSpPr>
        <p:spPr>
          <a:xfrm>
            <a:off x="822959" y="2313432"/>
            <a:ext cx="4983480" cy="1188720"/>
          </a:xfrm>
          <a:prstGeom prst="rect">
            <a:avLst/>
          </a:prstGeom>
          <a:noFill/>
        </p:spPr>
        <p:txBody>
          <a:bodyPr wrap="square" lIns="0" rIns="0" tIns="0" bIns="0" anchor="t">
            <a:spAutoFit/>
          </a:bodyPr>
          <a:lstStyle/>
          <a:p>
            <a:pPr algn="l">
              <a:spcAft>
                <a:spcPts val="0"/>
              </a:spcAft>
            </a:pPr>
            <a:r>
              <a:rPr sz="1550" b="0" i="0">
                <a:solidFill>
                  <a:srgbClr val="14171C"/>
                </a:solidFill>
                <a:latin typeface="Calibri"/>
              </a:rPr>
              <a:t>Train and test accuracy and AUC diverged far more for RF than for SVM, and predicted probabilities on training data were inflated. RF was judged less likely to generalise.</a:t>
            </a:r>
          </a:p>
        </p:txBody>
      </p:sp>
      <p:sp>
        <p:nvSpPr>
          <p:cNvPr id="13" name="Rectangle 12"/>
          <p:cNvSpPr/>
          <p:nvPr/>
        </p:nvSpPr>
        <p:spPr>
          <a:xfrm>
            <a:off x="6190488" y="1691640"/>
            <a:ext cx="5449824" cy="1874519"/>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190488" y="1691640"/>
            <a:ext cx="73152" cy="1874519"/>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4807" y="1856232"/>
            <a:ext cx="5029200" cy="320040"/>
          </a:xfrm>
          <a:prstGeom prst="rect">
            <a:avLst/>
          </a:prstGeom>
          <a:noFill/>
        </p:spPr>
        <p:txBody>
          <a:bodyPr wrap="square" lIns="0" rIns="0" tIns="0" bIns="0" anchor="t">
            <a:spAutoFit/>
          </a:bodyPr>
          <a:lstStyle/>
          <a:p>
            <a:pPr algn="l">
              <a:spcAft>
                <a:spcPts val="0"/>
              </a:spcAft>
            </a:pPr>
            <a:r>
              <a:rPr sz="1700" b="1" i="0">
                <a:solidFill>
                  <a:srgbClr val="0E2A47"/>
                </a:solidFill>
                <a:latin typeface="Calibri"/>
              </a:rPr>
              <a:t>PLS-DA latent variables improved the SVM</a:t>
            </a:r>
          </a:p>
        </p:txBody>
      </p:sp>
      <p:sp>
        <p:nvSpPr>
          <p:cNvPr id="16" name="TextBox 15"/>
          <p:cNvSpPr txBox="1"/>
          <p:nvPr/>
        </p:nvSpPr>
        <p:spPr>
          <a:xfrm>
            <a:off x="6464807" y="2313432"/>
            <a:ext cx="4983480" cy="1188720"/>
          </a:xfrm>
          <a:prstGeom prst="rect">
            <a:avLst/>
          </a:prstGeom>
          <a:noFill/>
        </p:spPr>
        <p:txBody>
          <a:bodyPr wrap="square" lIns="0" rIns="0" tIns="0" bIns="0" anchor="t">
            <a:spAutoFit/>
          </a:bodyPr>
          <a:lstStyle/>
          <a:p>
            <a:pPr algn="l">
              <a:spcAft>
                <a:spcPts val="0"/>
              </a:spcAft>
            </a:pPr>
            <a:r>
              <a:rPr sz="1550" b="0" i="0">
                <a:solidFill>
                  <a:srgbClr val="14171C"/>
                </a:solidFill>
                <a:latin typeface="Calibri"/>
              </a:rPr>
              <a:t>SVM meta-models on one to three modalities improved once their PLS-DA models were added. The same gain did not appear for RF.</a:t>
            </a:r>
          </a:p>
        </p:txBody>
      </p:sp>
      <p:sp>
        <p:nvSpPr>
          <p:cNvPr id="17" name="Rectangle 16"/>
          <p:cNvSpPr/>
          <p:nvPr/>
        </p:nvSpPr>
        <p:spPr>
          <a:xfrm>
            <a:off x="548640" y="3703320"/>
            <a:ext cx="5449824" cy="1874519"/>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3703320"/>
            <a:ext cx="73152" cy="1874519"/>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59" y="3867912"/>
            <a:ext cx="5029200" cy="320040"/>
          </a:xfrm>
          <a:prstGeom prst="rect">
            <a:avLst/>
          </a:prstGeom>
          <a:noFill/>
        </p:spPr>
        <p:txBody>
          <a:bodyPr wrap="square" lIns="0" rIns="0" tIns="0" bIns="0" anchor="t">
            <a:spAutoFit/>
          </a:bodyPr>
          <a:lstStyle/>
          <a:p>
            <a:pPr algn="l">
              <a:spcAft>
                <a:spcPts val="0"/>
              </a:spcAft>
            </a:pPr>
            <a:r>
              <a:rPr sz="1700" b="1" i="0">
                <a:solidFill>
                  <a:srgbClr val="0E2A47"/>
                </a:solidFill>
                <a:latin typeface="Calibri"/>
              </a:rPr>
              <a:t>More modalities was not always better</a:t>
            </a:r>
          </a:p>
        </p:txBody>
      </p:sp>
      <p:sp>
        <p:nvSpPr>
          <p:cNvPr id="20" name="TextBox 19"/>
          <p:cNvSpPr txBox="1"/>
          <p:nvPr/>
        </p:nvSpPr>
        <p:spPr>
          <a:xfrm>
            <a:off x="822959" y="4325112"/>
            <a:ext cx="4983480" cy="1188720"/>
          </a:xfrm>
          <a:prstGeom prst="rect">
            <a:avLst/>
          </a:prstGeom>
          <a:noFill/>
        </p:spPr>
        <p:txBody>
          <a:bodyPr wrap="square" lIns="0" rIns="0" tIns="0" bIns="0" anchor="t">
            <a:spAutoFit/>
          </a:bodyPr>
          <a:lstStyle/>
          <a:p>
            <a:pPr algn="l">
              <a:spcAft>
                <a:spcPts val="0"/>
              </a:spcAft>
            </a:pPr>
            <a:r>
              <a:rPr sz="1550" b="0" i="0">
                <a:solidFill>
                  <a:srgbClr val="14171C"/>
                </a:solidFill>
                <a:latin typeface="Calibri"/>
              </a:rPr>
              <a:t>Gene plus miRNA expression was the best pair; adding methylation gave the best trio. Discrete copy number sharply lowered SVM performance, so it was dropped from SVM pipelines.</a:t>
            </a:r>
          </a:p>
        </p:txBody>
      </p:sp>
      <p:sp>
        <p:nvSpPr>
          <p:cNvPr id="21" name="Rectangle 20"/>
          <p:cNvSpPr/>
          <p:nvPr/>
        </p:nvSpPr>
        <p:spPr>
          <a:xfrm>
            <a:off x="6190488" y="3703320"/>
            <a:ext cx="5449824" cy="1874519"/>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90488" y="3703320"/>
            <a:ext cx="73152" cy="1874519"/>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64807" y="3867912"/>
            <a:ext cx="5029200" cy="320040"/>
          </a:xfrm>
          <a:prstGeom prst="rect">
            <a:avLst/>
          </a:prstGeom>
          <a:noFill/>
        </p:spPr>
        <p:txBody>
          <a:bodyPr wrap="square" lIns="0" rIns="0" tIns="0" bIns="0" anchor="t">
            <a:spAutoFit/>
          </a:bodyPr>
          <a:lstStyle/>
          <a:p>
            <a:pPr algn="l">
              <a:spcAft>
                <a:spcPts val="0"/>
              </a:spcAft>
            </a:pPr>
            <a:r>
              <a:rPr sz="1700" b="1" i="0">
                <a:solidFill>
                  <a:srgbClr val="0E2A47"/>
                </a:solidFill>
                <a:latin typeface="Calibri"/>
              </a:rPr>
              <a:t>Validated beyond a single split</a:t>
            </a:r>
          </a:p>
        </p:txBody>
      </p:sp>
      <p:sp>
        <p:nvSpPr>
          <p:cNvPr id="24" name="TextBox 23"/>
          <p:cNvSpPr txBox="1"/>
          <p:nvPr/>
        </p:nvSpPr>
        <p:spPr>
          <a:xfrm>
            <a:off x="6464807" y="4325112"/>
            <a:ext cx="4983480" cy="1188720"/>
          </a:xfrm>
          <a:prstGeom prst="rect">
            <a:avLst/>
          </a:prstGeom>
          <a:noFill/>
        </p:spPr>
        <p:txBody>
          <a:bodyPr wrap="square" lIns="0" rIns="0" tIns="0" bIns="0" anchor="t">
            <a:spAutoFit/>
          </a:bodyPr>
          <a:lstStyle/>
          <a:p>
            <a:pPr algn="l">
              <a:spcAft>
                <a:spcPts val="0"/>
              </a:spcAft>
            </a:pPr>
            <a:r>
              <a:rPr sz="1550" b="0" i="0">
                <a:solidFill>
                  <a:srgbClr val="14171C"/>
                </a:solidFill>
                <a:latin typeface="Calibri"/>
              </a:rPr>
              <a:t>4-fold CV tuned hyperparameters, and 15 reshuffles of the full dataset showed no considerable test-accuracy drop. MCC was reported because of the 220:82 class imbalance.</a:t>
            </a:r>
          </a:p>
        </p:txBody>
      </p:sp>
      <p:sp>
        <p:nvSpPr>
          <p:cNvPr id="25" name="TextBox 24"/>
          <p:cNvSpPr txBox="1"/>
          <p:nvPr/>
        </p:nvSpPr>
        <p:spPr>
          <a:xfrm>
            <a:off x="548640" y="5760720"/>
            <a:ext cx="11091672" cy="274320"/>
          </a:xfrm>
          <a:prstGeom prst="rect">
            <a:avLst/>
          </a:prstGeom>
          <a:noFill/>
        </p:spPr>
        <p:txBody>
          <a:bodyPr wrap="square" lIns="0" rIns="0" tIns="0" bIns="0" anchor="t">
            <a:spAutoFit/>
          </a:bodyPr>
          <a:lstStyle/>
          <a:p>
            <a:pPr algn="l">
              <a:spcAft>
                <a:spcPts val="0"/>
              </a:spcAft>
            </a:pPr>
            <a:r>
              <a:rPr sz="1300" b="0" i="0">
                <a:solidFill>
                  <a:srgbClr val="52514E"/>
                </a:solidFill>
                <a:latin typeface="Calibri"/>
              </a:rPr>
              <a:t>Best single modality: gene expression for SVM, miRNA expression for RF.</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48640" y="347472"/>
            <a:ext cx="8229600" cy="274320"/>
          </a:xfrm>
          <a:prstGeom prst="rect">
            <a:avLst/>
          </a:prstGeom>
          <a:noFill/>
        </p:spPr>
        <p:txBody>
          <a:bodyPr wrap="square" lIns="0" rIns="0" tIns="0" bIns="0" anchor="t">
            <a:spAutoFit/>
          </a:bodyPr>
          <a:lstStyle/>
          <a:p>
            <a:pPr algn="l">
              <a:spcAft>
                <a:spcPts val="0"/>
              </a:spcAft>
            </a:pPr>
            <a:r>
              <a:rPr sz="1200" b="1" i="0">
                <a:solidFill>
                  <a:srgbClr val="1F5FAE"/>
                </a:solidFill>
                <a:latin typeface="Calibri"/>
              </a:rPr>
              <a:t>MULTI-OMICS PROJECT  ·  BIOMARKER ANALYSIS</a:t>
            </a:r>
          </a:p>
        </p:txBody>
      </p:sp>
      <p:sp>
        <p:nvSpPr>
          <p:cNvPr id="3" name="TextBox 2"/>
          <p:cNvSpPr txBox="1"/>
          <p:nvPr/>
        </p:nvSpPr>
        <p:spPr>
          <a:xfrm>
            <a:off x="548640" y="621792"/>
            <a:ext cx="11091672" cy="914400"/>
          </a:xfrm>
          <a:prstGeom prst="rect">
            <a:avLst/>
          </a:prstGeom>
          <a:noFill/>
        </p:spPr>
        <p:txBody>
          <a:bodyPr wrap="square" lIns="0" rIns="0" tIns="0" bIns="0" anchor="t">
            <a:spAutoFit/>
          </a:bodyPr>
          <a:lstStyle/>
          <a:p>
            <a:pPr algn="l">
              <a:lnSpc>
                <a:spcPct val="95000"/>
              </a:lnSpc>
              <a:spcAft>
                <a:spcPts val="0"/>
              </a:spcAft>
            </a:pPr>
            <a:r>
              <a:rPr sz="2600" b="1" i="0">
                <a:solidFill>
                  <a:srgbClr val="0E2A47"/>
                </a:solidFill>
                <a:latin typeface="Calibri"/>
              </a:rPr>
              <a:t>Selected features were traced back to pathways, protein networks and miRNA regulators</a:t>
            </a:r>
          </a:p>
        </p:txBody>
      </p:sp>
      <p:sp>
        <p:nvSpPr>
          <p:cNvPr id="4" name="Rectangle 3"/>
          <p:cNvSpPr/>
          <p:nvPr/>
        </p:nvSpPr>
        <p:spPr>
          <a:xfrm>
            <a:off x="548640" y="6108192"/>
            <a:ext cx="11091672" cy="329184"/>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6108192"/>
            <a:ext cx="64008" cy="329184"/>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108192"/>
            <a:ext cx="10817352" cy="329184"/>
          </a:xfrm>
          <a:prstGeom prst="rect">
            <a:avLst/>
          </a:prstGeom>
          <a:noFill/>
        </p:spPr>
        <p:txBody>
          <a:bodyPr wrap="square" lIns="0" rIns="0" tIns="0" bIns="0" anchor="ctr">
            <a:spAutoFit/>
          </a:bodyPr>
          <a:lstStyle/>
          <a:p>
            <a:pPr algn="l">
              <a:spcAft>
                <a:spcPts val="0"/>
              </a:spcAft>
            </a:pPr>
            <a:r>
              <a:rPr sz="1100" b="1" i="0">
                <a:solidFill>
                  <a:srgbClr val="1F5FAE"/>
                </a:solidFill>
                <a:latin typeface="Calibri"/>
              </a:rPr>
              <a:t>ROLE LINK   </a:t>
            </a:r>
            <a:r>
              <a:rPr sz="1300" b="0" i="0">
                <a:solidFill>
                  <a:srgbClr val="52514E"/>
                </a:solidFill>
                <a:latin typeface="Calibri"/>
              </a:rPr>
              <a:t>Mechanism-oriented interpretation of biomarkers</a:t>
            </a:r>
          </a:p>
        </p:txBody>
      </p:sp>
      <p:sp>
        <p:nvSpPr>
          <p:cNvPr id="7" name="TextBox 6"/>
          <p:cNvSpPr txBox="1"/>
          <p:nvPr/>
        </p:nvSpPr>
        <p:spPr>
          <a:xfrm>
            <a:off x="548640" y="6510528"/>
            <a:ext cx="6400800" cy="228600"/>
          </a:xfrm>
          <a:prstGeom prst="rect">
            <a:avLst/>
          </a:prstGeom>
          <a:noFill/>
        </p:spPr>
        <p:txBody>
          <a:bodyPr wrap="square" lIns="0" rIns="0" tIns="0" bIns="0" anchor="t">
            <a:spAutoFit/>
          </a:bodyPr>
          <a:lstStyle/>
          <a:p>
            <a:pPr algn="l">
              <a:spcAft>
                <a:spcPts val="0"/>
              </a:spcAft>
            </a:pPr>
            <a:r>
              <a:rPr sz="1000" b="0" i="0">
                <a:solidFill>
                  <a:srgbClr val="8A8984"/>
                </a:solidFill>
                <a:latin typeface="Calibri"/>
              </a:rPr>
              <a:t>Kunal Tembhare  ·  Computational biology and multi-omics ML</a:t>
            </a:r>
          </a:p>
        </p:txBody>
      </p:sp>
      <p:sp>
        <p:nvSpPr>
          <p:cNvPr id="8" name="TextBox 7"/>
          <p:cNvSpPr txBox="1"/>
          <p:nvPr/>
        </p:nvSpPr>
        <p:spPr>
          <a:xfrm>
            <a:off x="10268712" y="6510528"/>
            <a:ext cx="1371600" cy="228600"/>
          </a:xfrm>
          <a:prstGeom prst="rect">
            <a:avLst/>
          </a:prstGeom>
          <a:noFill/>
        </p:spPr>
        <p:txBody>
          <a:bodyPr wrap="square" lIns="0" rIns="0" tIns="0" bIns="0" anchor="t">
            <a:spAutoFit/>
          </a:bodyPr>
          <a:lstStyle/>
          <a:p>
            <a:pPr algn="r">
              <a:spcAft>
                <a:spcPts val="0"/>
              </a:spcAft>
            </a:pPr>
            <a:r>
              <a:rPr sz="1000" b="0" i="0">
                <a:solidFill>
                  <a:srgbClr val="8A8984"/>
                </a:solidFill>
                <a:latin typeface="Calibri"/>
              </a:rPr>
              <a:t>10 / 27</a:t>
            </a:r>
          </a:p>
        </p:txBody>
      </p:sp>
      <p:sp>
        <p:nvSpPr>
          <p:cNvPr id="9" name="Oval 8"/>
          <p:cNvSpPr/>
          <p:nvPr/>
        </p:nvSpPr>
        <p:spPr>
          <a:xfrm>
            <a:off x="548640" y="1682496"/>
            <a:ext cx="182880" cy="182880"/>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59" y="1645920"/>
            <a:ext cx="7315200" cy="256032"/>
          </a:xfrm>
          <a:prstGeom prst="rect">
            <a:avLst/>
          </a:prstGeom>
          <a:noFill/>
        </p:spPr>
        <p:txBody>
          <a:bodyPr wrap="square" lIns="0" rIns="0" tIns="0" bIns="0" anchor="t">
            <a:spAutoFit/>
          </a:bodyPr>
          <a:lstStyle/>
          <a:p>
            <a:pPr algn="l">
              <a:spcAft>
                <a:spcPts val="0"/>
              </a:spcAft>
            </a:pPr>
            <a:r>
              <a:rPr sz="1100" b="1" i="0">
                <a:solidFill>
                  <a:srgbClr val="52514E"/>
                </a:solidFill>
                <a:latin typeface="Calibri"/>
              </a:rPr>
              <a:t>GENE EXPRESSION BIOMARKERS</a:t>
            </a:r>
          </a:p>
        </p:txBody>
      </p:sp>
      <p:sp>
        <p:nvSpPr>
          <p:cNvPr id="11" name="Rectangle 10"/>
          <p:cNvSpPr/>
          <p:nvPr/>
        </p:nvSpPr>
        <p:spPr>
          <a:xfrm>
            <a:off x="548640" y="1965960"/>
            <a:ext cx="2011680" cy="128016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1965960"/>
            <a:ext cx="2011680" cy="6400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5800" y="2103120"/>
            <a:ext cx="1737360" cy="457200"/>
          </a:xfrm>
          <a:prstGeom prst="rect">
            <a:avLst/>
          </a:prstGeom>
          <a:noFill/>
        </p:spPr>
        <p:txBody>
          <a:bodyPr wrap="square" lIns="0" rIns="0" tIns="0" bIns="0" anchor="t">
            <a:spAutoFit/>
          </a:bodyPr>
          <a:lstStyle/>
          <a:p>
            <a:pPr algn="l">
              <a:spcAft>
                <a:spcPts val="0"/>
              </a:spcAft>
            </a:pPr>
            <a:r>
              <a:rPr sz="2600" b="1" i="0">
                <a:solidFill>
                  <a:srgbClr val="0E2A47"/>
                </a:solidFill>
                <a:latin typeface="Calibri"/>
              </a:rPr>
              <a:t>845</a:t>
            </a:r>
          </a:p>
        </p:txBody>
      </p:sp>
      <p:sp>
        <p:nvSpPr>
          <p:cNvPr id="14" name="TextBox 13"/>
          <p:cNvSpPr txBox="1"/>
          <p:nvPr/>
        </p:nvSpPr>
        <p:spPr>
          <a:xfrm>
            <a:off x="685800" y="2560320"/>
            <a:ext cx="1737360" cy="685800"/>
          </a:xfrm>
          <a:prstGeom prst="rect">
            <a:avLst/>
          </a:prstGeom>
          <a:noFill/>
        </p:spPr>
        <p:txBody>
          <a:bodyPr wrap="square" lIns="0" rIns="0" tIns="0" bIns="0" anchor="t">
            <a:spAutoFit/>
          </a:bodyPr>
          <a:lstStyle/>
          <a:p>
            <a:pPr algn="l">
              <a:spcAft>
                <a:spcPts val="0"/>
              </a:spcAft>
            </a:pPr>
            <a:r>
              <a:rPr sz="1250" b="0" i="0">
                <a:solidFill>
                  <a:srgbClr val="14171C"/>
                </a:solidFill>
                <a:latin typeface="Calibri"/>
              </a:rPr>
              <a:t>biomarkers from univariate and multivariate selection</a:t>
            </a:r>
          </a:p>
        </p:txBody>
      </p:sp>
      <p:cxnSp>
        <p:nvCxnSpPr>
          <p:cNvPr id="15" name="Connector 14"/>
          <p:cNvCxnSpPr/>
          <p:nvPr/>
        </p:nvCxnSpPr>
        <p:spPr>
          <a:xfrm>
            <a:off x="2587752" y="2606040"/>
            <a:ext cx="201168" cy="0"/>
          </a:xfrm>
          <a:prstGeom prst="line">
            <a:avLst/>
          </a:prstGeom>
          <a:ln w="22225">
            <a:solidFill>
              <a:srgbClr val="8A898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ectangle 15"/>
          <p:cNvSpPr/>
          <p:nvPr/>
        </p:nvSpPr>
        <p:spPr>
          <a:xfrm>
            <a:off x="2816352" y="1965960"/>
            <a:ext cx="2011680" cy="128016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816352" y="1965960"/>
            <a:ext cx="2011680" cy="6400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953512" y="2103120"/>
            <a:ext cx="1737360" cy="457200"/>
          </a:xfrm>
          <a:prstGeom prst="rect">
            <a:avLst/>
          </a:prstGeom>
          <a:noFill/>
        </p:spPr>
        <p:txBody>
          <a:bodyPr wrap="square" lIns="0" rIns="0" tIns="0" bIns="0" anchor="t">
            <a:spAutoFit/>
          </a:bodyPr>
          <a:lstStyle/>
          <a:p>
            <a:pPr algn="l">
              <a:spcAft>
                <a:spcPts val="0"/>
              </a:spcAft>
            </a:pPr>
            <a:r>
              <a:rPr sz="2600" b="1" i="0">
                <a:solidFill>
                  <a:srgbClr val="0E2A47"/>
                </a:solidFill>
                <a:latin typeface="Calibri"/>
              </a:rPr>
              <a:t>768</a:t>
            </a:r>
          </a:p>
        </p:txBody>
      </p:sp>
      <p:sp>
        <p:nvSpPr>
          <p:cNvPr id="19" name="TextBox 18"/>
          <p:cNvSpPr txBox="1"/>
          <p:nvPr/>
        </p:nvSpPr>
        <p:spPr>
          <a:xfrm>
            <a:off x="2953512" y="2560320"/>
            <a:ext cx="1737360" cy="685800"/>
          </a:xfrm>
          <a:prstGeom prst="rect">
            <a:avLst/>
          </a:prstGeom>
          <a:noFill/>
        </p:spPr>
        <p:txBody>
          <a:bodyPr wrap="square" lIns="0" rIns="0" tIns="0" bIns="0" anchor="t">
            <a:spAutoFit/>
          </a:bodyPr>
          <a:lstStyle/>
          <a:p>
            <a:pPr algn="l">
              <a:spcAft>
                <a:spcPts val="0"/>
              </a:spcAft>
            </a:pPr>
            <a:r>
              <a:rPr sz="1250" b="0" i="0">
                <a:solidFill>
                  <a:srgbClr val="14171C"/>
                </a:solidFill>
                <a:latin typeface="Calibri"/>
              </a:rPr>
              <a:t>mapped to genes; 244 GO terms enriched, plus KEGG pathways</a:t>
            </a:r>
          </a:p>
        </p:txBody>
      </p:sp>
      <p:cxnSp>
        <p:nvCxnSpPr>
          <p:cNvPr id="20" name="Connector 19"/>
          <p:cNvCxnSpPr/>
          <p:nvPr/>
        </p:nvCxnSpPr>
        <p:spPr>
          <a:xfrm>
            <a:off x="4855464" y="2606040"/>
            <a:ext cx="201168" cy="0"/>
          </a:xfrm>
          <a:prstGeom prst="line">
            <a:avLst/>
          </a:prstGeom>
          <a:ln w="22225">
            <a:solidFill>
              <a:srgbClr val="8A8984"/>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ectangle 20"/>
          <p:cNvSpPr/>
          <p:nvPr/>
        </p:nvSpPr>
        <p:spPr>
          <a:xfrm>
            <a:off x="5084064" y="1965960"/>
            <a:ext cx="2011680" cy="128016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084064" y="1965960"/>
            <a:ext cx="2011680" cy="6400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221224" y="2103120"/>
            <a:ext cx="1737360" cy="457200"/>
          </a:xfrm>
          <a:prstGeom prst="rect">
            <a:avLst/>
          </a:prstGeom>
          <a:noFill/>
        </p:spPr>
        <p:txBody>
          <a:bodyPr wrap="square" lIns="0" rIns="0" tIns="0" bIns="0" anchor="t">
            <a:spAutoFit/>
          </a:bodyPr>
          <a:lstStyle/>
          <a:p>
            <a:pPr algn="l">
              <a:spcAft>
                <a:spcPts val="0"/>
              </a:spcAft>
            </a:pPr>
            <a:r>
              <a:rPr sz="2600" b="1" i="0">
                <a:solidFill>
                  <a:srgbClr val="0E2A47"/>
                </a:solidFill>
                <a:latin typeface="Calibri"/>
              </a:rPr>
              <a:t>4,221</a:t>
            </a:r>
          </a:p>
        </p:txBody>
      </p:sp>
      <p:sp>
        <p:nvSpPr>
          <p:cNvPr id="24" name="TextBox 23"/>
          <p:cNvSpPr txBox="1"/>
          <p:nvPr/>
        </p:nvSpPr>
        <p:spPr>
          <a:xfrm>
            <a:off x="5221224" y="2560320"/>
            <a:ext cx="1737360" cy="685800"/>
          </a:xfrm>
          <a:prstGeom prst="rect">
            <a:avLst/>
          </a:prstGeom>
          <a:noFill/>
        </p:spPr>
        <p:txBody>
          <a:bodyPr wrap="square" lIns="0" rIns="0" tIns="0" bIns="0" anchor="t">
            <a:spAutoFit/>
          </a:bodyPr>
          <a:lstStyle/>
          <a:p>
            <a:pPr algn="l">
              <a:spcAft>
                <a:spcPts val="0"/>
              </a:spcAft>
            </a:pPr>
            <a:r>
              <a:rPr sz="1250" b="0" i="0">
                <a:solidFill>
                  <a:srgbClr val="14171C"/>
                </a:solidFill>
                <a:latin typeface="Calibri"/>
              </a:rPr>
              <a:t>interactions among the 768 genes (STRING network)</a:t>
            </a:r>
          </a:p>
        </p:txBody>
      </p:sp>
      <p:cxnSp>
        <p:nvCxnSpPr>
          <p:cNvPr id="25" name="Connector 24"/>
          <p:cNvCxnSpPr/>
          <p:nvPr/>
        </p:nvCxnSpPr>
        <p:spPr>
          <a:xfrm>
            <a:off x="7123176" y="2606040"/>
            <a:ext cx="201168" cy="0"/>
          </a:xfrm>
          <a:prstGeom prst="line">
            <a:avLst/>
          </a:prstGeom>
          <a:ln w="22225">
            <a:solidFill>
              <a:srgbClr val="8A8984"/>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 name="Rectangle 25"/>
          <p:cNvSpPr/>
          <p:nvPr/>
        </p:nvSpPr>
        <p:spPr>
          <a:xfrm>
            <a:off x="7351776" y="1965960"/>
            <a:ext cx="2011680" cy="128016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351776" y="1965960"/>
            <a:ext cx="2011680" cy="6400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488936" y="2103120"/>
            <a:ext cx="1737360" cy="457200"/>
          </a:xfrm>
          <a:prstGeom prst="rect">
            <a:avLst/>
          </a:prstGeom>
          <a:noFill/>
        </p:spPr>
        <p:txBody>
          <a:bodyPr wrap="square" lIns="0" rIns="0" tIns="0" bIns="0" anchor="t">
            <a:spAutoFit/>
          </a:bodyPr>
          <a:lstStyle/>
          <a:p>
            <a:pPr algn="l">
              <a:spcAft>
                <a:spcPts val="0"/>
              </a:spcAft>
            </a:pPr>
            <a:r>
              <a:rPr sz="2600" b="1" i="0">
                <a:solidFill>
                  <a:srgbClr val="0E2A47"/>
                </a:solidFill>
                <a:latin typeface="Calibri"/>
              </a:rPr>
              <a:t>4</a:t>
            </a:r>
          </a:p>
        </p:txBody>
      </p:sp>
      <p:sp>
        <p:nvSpPr>
          <p:cNvPr id="29" name="TextBox 28"/>
          <p:cNvSpPr txBox="1"/>
          <p:nvPr/>
        </p:nvSpPr>
        <p:spPr>
          <a:xfrm>
            <a:off x="7488936" y="2560320"/>
            <a:ext cx="1737360" cy="685800"/>
          </a:xfrm>
          <a:prstGeom prst="rect">
            <a:avLst/>
          </a:prstGeom>
          <a:noFill/>
        </p:spPr>
        <p:txBody>
          <a:bodyPr wrap="square" lIns="0" rIns="0" tIns="0" bIns="0" anchor="t">
            <a:spAutoFit/>
          </a:bodyPr>
          <a:lstStyle/>
          <a:p>
            <a:pPr algn="l">
              <a:spcAft>
                <a:spcPts val="0"/>
              </a:spcAft>
            </a:pPr>
            <a:r>
              <a:rPr sz="1250" b="0" i="0">
                <a:solidFill>
                  <a:srgbClr val="14171C"/>
                </a:solidFill>
                <a:latin typeface="Calibri"/>
              </a:rPr>
              <a:t>network modules found with MCODE</a:t>
            </a:r>
          </a:p>
        </p:txBody>
      </p:sp>
      <p:cxnSp>
        <p:nvCxnSpPr>
          <p:cNvPr id="30" name="Connector 29"/>
          <p:cNvCxnSpPr/>
          <p:nvPr/>
        </p:nvCxnSpPr>
        <p:spPr>
          <a:xfrm>
            <a:off x="9390888" y="2606040"/>
            <a:ext cx="201168" cy="0"/>
          </a:xfrm>
          <a:prstGeom prst="line">
            <a:avLst/>
          </a:prstGeom>
          <a:ln w="22225">
            <a:solidFill>
              <a:srgbClr val="8A8984"/>
            </a:solidFill>
            <a:tailEnd type="triangle" w="med" len="med"/>
          </a:ln>
        </p:spPr>
        <p:style>
          <a:lnRef idx="2">
            <a:schemeClr val="accent1"/>
          </a:lnRef>
          <a:fillRef idx="0">
            <a:schemeClr val="accent1"/>
          </a:fillRef>
          <a:effectRef idx="1">
            <a:schemeClr val="accent1"/>
          </a:effectRef>
          <a:fontRef idx="minor">
            <a:schemeClr val="tx1"/>
          </a:fontRef>
        </p:style>
      </p:cxnSp>
      <p:sp>
        <p:nvSpPr>
          <p:cNvPr id="31" name="Rectangle 30"/>
          <p:cNvSpPr/>
          <p:nvPr/>
        </p:nvSpPr>
        <p:spPr>
          <a:xfrm>
            <a:off x="9619488" y="1965960"/>
            <a:ext cx="2011680" cy="128016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619488" y="1965960"/>
            <a:ext cx="2011680" cy="6400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756648" y="2103120"/>
            <a:ext cx="1737360" cy="457200"/>
          </a:xfrm>
          <a:prstGeom prst="rect">
            <a:avLst/>
          </a:prstGeom>
          <a:noFill/>
        </p:spPr>
        <p:txBody>
          <a:bodyPr wrap="square" lIns="0" rIns="0" tIns="0" bIns="0" anchor="t">
            <a:spAutoFit/>
          </a:bodyPr>
          <a:lstStyle/>
          <a:p>
            <a:pPr algn="l">
              <a:spcAft>
                <a:spcPts val="0"/>
              </a:spcAft>
            </a:pPr>
            <a:r>
              <a:rPr sz="2600" b="1" i="0">
                <a:solidFill>
                  <a:srgbClr val="0E2A47"/>
                </a:solidFill>
                <a:latin typeface="Calibri"/>
              </a:rPr>
              <a:t>8</a:t>
            </a:r>
          </a:p>
        </p:txBody>
      </p:sp>
      <p:sp>
        <p:nvSpPr>
          <p:cNvPr id="34" name="TextBox 33"/>
          <p:cNvSpPr txBox="1"/>
          <p:nvPr/>
        </p:nvSpPr>
        <p:spPr>
          <a:xfrm>
            <a:off x="9756648" y="2560320"/>
            <a:ext cx="1737360" cy="685800"/>
          </a:xfrm>
          <a:prstGeom prst="rect">
            <a:avLst/>
          </a:prstGeom>
          <a:noFill/>
        </p:spPr>
        <p:txBody>
          <a:bodyPr wrap="square" lIns="0" rIns="0" tIns="0" bIns="0" anchor="t">
            <a:spAutoFit/>
          </a:bodyPr>
          <a:lstStyle/>
          <a:p>
            <a:pPr algn="l">
              <a:spcAft>
                <a:spcPts val="0"/>
              </a:spcAft>
            </a:pPr>
            <a:r>
              <a:rPr sz="1250" b="0" i="0">
                <a:solidFill>
                  <a:srgbClr val="14171C"/>
                </a:solidFill>
                <a:latin typeface="Calibri"/>
              </a:rPr>
              <a:t>hub genes at the top of degree, betweenness and closeness</a:t>
            </a:r>
          </a:p>
        </p:txBody>
      </p:sp>
      <p:sp>
        <p:nvSpPr>
          <p:cNvPr id="35" name="Oval 34"/>
          <p:cNvSpPr/>
          <p:nvPr/>
        </p:nvSpPr>
        <p:spPr>
          <a:xfrm>
            <a:off x="548640" y="3465576"/>
            <a:ext cx="182880" cy="182880"/>
          </a:xfrm>
          <a:prstGeom prst="ellipse">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22959" y="3429000"/>
            <a:ext cx="7315200" cy="256032"/>
          </a:xfrm>
          <a:prstGeom prst="rect">
            <a:avLst/>
          </a:prstGeom>
          <a:noFill/>
        </p:spPr>
        <p:txBody>
          <a:bodyPr wrap="square" lIns="0" rIns="0" tIns="0" bIns="0" anchor="t">
            <a:spAutoFit/>
          </a:bodyPr>
          <a:lstStyle/>
          <a:p>
            <a:pPr algn="l">
              <a:spcAft>
                <a:spcPts val="0"/>
              </a:spcAft>
            </a:pPr>
            <a:r>
              <a:rPr sz="1100" b="1" i="0">
                <a:solidFill>
                  <a:srgbClr val="52514E"/>
                </a:solidFill>
                <a:latin typeface="Calibri"/>
              </a:rPr>
              <a:t>miRNA BIOMARKERS</a:t>
            </a:r>
          </a:p>
        </p:txBody>
      </p:sp>
      <p:sp>
        <p:nvSpPr>
          <p:cNvPr id="37" name="Rectangle 36"/>
          <p:cNvSpPr/>
          <p:nvPr/>
        </p:nvSpPr>
        <p:spPr>
          <a:xfrm>
            <a:off x="548640" y="3749039"/>
            <a:ext cx="2011680" cy="128016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548640" y="3749039"/>
            <a:ext cx="2011680" cy="64008"/>
          </a:xfrm>
          <a:prstGeom prst="rect">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85800" y="3886200"/>
            <a:ext cx="1737360" cy="457200"/>
          </a:xfrm>
          <a:prstGeom prst="rect">
            <a:avLst/>
          </a:prstGeom>
          <a:noFill/>
        </p:spPr>
        <p:txBody>
          <a:bodyPr wrap="square" lIns="0" rIns="0" tIns="0" bIns="0" anchor="t">
            <a:spAutoFit/>
          </a:bodyPr>
          <a:lstStyle/>
          <a:p>
            <a:pPr algn="l">
              <a:spcAft>
                <a:spcPts val="0"/>
              </a:spcAft>
            </a:pPr>
            <a:r>
              <a:rPr sz="2600" b="1" i="0">
                <a:solidFill>
                  <a:srgbClr val="0E2A47"/>
                </a:solidFill>
                <a:latin typeface="Calibri"/>
              </a:rPr>
              <a:t>148</a:t>
            </a:r>
          </a:p>
        </p:txBody>
      </p:sp>
      <p:sp>
        <p:nvSpPr>
          <p:cNvPr id="40" name="TextBox 39"/>
          <p:cNvSpPr txBox="1"/>
          <p:nvPr/>
        </p:nvSpPr>
        <p:spPr>
          <a:xfrm>
            <a:off x="685800" y="4343400"/>
            <a:ext cx="1737360" cy="685800"/>
          </a:xfrm>
          <a:prstGeom prst="rect">
            <a:avLst/>
          </a:prstGeom>
          <a:noFill/>
        </p:spPr>
        <p:txBody>
          <a:bodyPr wrap="square" lIns="0" rIns="0" tIns="0" bIns="0" anchor="t">
            <a:spAutoFit/>
          </a:bodyPr>
          <a:lstStyle/>
          <a:p>
            <a:pPr algn="l">
              <a:spcAft>
                <a:spcPts val="0"/>
              </a:spcAft>
            </a:pPr>
            <a:r>
              <a:rPr sz="1250" b="0" i="0">
                <a:solidFill>
                  <a:srgbClr val="14171C"/>
                </a:solidFill>
                <a:latin typeface="Calibri"/>
              </a:rPr>
              <a:t>miRNA biomarkers from univariate and multivariate selection</a:t>
            </a:r>
          </a:p>
        </p:txBody>
      </p:sp>
      <p:cxnSp>
        <p:nvCxnSpPr>
          <p:cNvPr id="41" name="Connector 40"/>
          <p:cNvCxnSpPr/>
          <p:nvPr/>
        </p:nvCxnSpPr>
        <p:spPr>
          <a:xfrm>
            <a:off x="2587752" y="4389120"/>
            <a:ext cx="201168" cy="0"/>
          </a:xfrm>
          <a:prstGeom prst="line">
            <a:avLst/>
          </a:prstGeom>
          <a:ln w="22225">
            <a:solidFill>
              <a:srgbClr val="8A8984"/>
            </a:solidFill>
            <a:tailEnd type="triangle" w="med" len="med"/>
          </a:ln>
        </p:spPr>
        <p:style>
          <a:lnRef idx="2">
            <a:schemeClr val="accent1"/>
          </a:lnRef>
          <a:fillRef idx="0">
            <a:schemeClr val="accent1"/>
          </a:fillRef>
          <a:effectRef idx="1">
            <a:schemeClr val="accent1"/>
          </a:effectRef>
          <a:fontRef idx="minor">
            <a:schemeClr val="tx1"/>
          </a:fontRef>
        </p:style>
      </p:cxnSp>
      <p:sp>
        <p:nvSpPr>
          <p:cNvPr id="42" name="Rectangle 41"/>
          <p:cNvSpPr/>
          <p:nvPr/>
        </p:nvSpPr>
        <p:spPr>
          <a:xfrm>
            <a:off x="2816352" y="3749039"/>
            <a:ext cx="2011680" cy="128016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2816352" y="3749039"/>
            <a:ext cx="2011680" cy="64008"/>
          </a:xfrm>
          <a:prstGeom prst="rect">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2953512" y="3886200"/>
            <a:ext cx="1737360" cy="457200"/>
          </a:xfrm>
          <a:prstGeom prst="rect">
            <a:avLst/>
          </a:prstGeom>
          <a:noFill/>
        </p:spPr>
        <p:txBody>
          <a:bodyPr wrap="square" lIns="0" rIns="0" tIns="0" bIns="0" anchor="t">
            <a:spAutoFit/>
          </a:bodyPr>
          <a:lstStyle/>
          <a:p>
            <a:pPr algn="l">
              <a:spcAft>
                <a:spcPts val="0"/>
              </a:spcAft>
            </a:pPr>
            <a:r>
              <a:rPr sz="2600" b="1" i="0">
                <a:solidFill>
                  <a:srgbClr val="0E2A47"/>
                </a:solidFill>
                <a:latin typeface="Calibri"/>
              </a:rPr>
              <a:t>≤ −25</a:t>
            </a:r>
          </a:p>
        </p:txBody>
      </p:sp>
      <p:sp>
        <p:nvSpPr>
          <p:cNvPr id="45" name="TextBox 44"/>
          <p:cNvSpPr txBox="1"/>
          <p:nvPr/>
        </p:nvSpPr>
        <p:spPr>
          <a:xfrm>
            <a:off x="2953512" y="4343400"/>
            <a:ext cx="1737360" cy="685800"/>
          </a:xfrm>
          <a:prstGeom prst="rect">
            <a:avLst/>
          </a:prstGeom>
          <a:noFill/>
        </p:spPr>
        <p:txBody>
          <a:bodyPr wrap="square" lIns="0" rIns="0" tIns="0" bIns="0" anchor="t">
            <a:spAutoFit/>
          </a:bodyPr>
          <a:lstStyle/>
          <a:p>
            <a:pPr algn="l">
              <a:spcAft>
                <a:spcPts val="0"/>
              </a:spcAft>
            </a:pPr>
            <a:r>
              <a:rPr sz="1250" b="0" i="0">
                <a:solidFill>
                  <a:srgbClr val="14171C"/>
                </a:solidFill>
                <a:latin typeface="Calibri"/>
              </a:rPr>
              <a:t>kcal/mol energy cut-off for miRNA–3′UTR target prediction (RNAhybrid)</a:t>
            </a:r>
          </a:p>
        </p:txBody>
      </p:sp>
      <p:cxnSp>
        <p:nvCxnSpPr>
          <p:cNvPr id="46" name="Connector 45"/>
          <p:cNvCxnSpPr/>
          <p:nvPr/>
        </p:nvCxnSpPr>
        <p:spPr>
          <a:xfrm>
            <a:off x="4855464" y="4389120"/>
            <a:ext cx="201168" cy="0"/>
          </a:xfrm>
          <a:prstGeom prst="line">
            <a:avLst/>
          </a:prstGeom>
          <a:ln w="22225">
            <a:solidFill>
              <a:srgbClr val="8A8984"/>
            </a:solidFill>
            <a:tailEnd type="triangle" w="med" len="med"/>
          </a:ln>
        </p:spPr>
        <p:style>
          <a:lnRef idx="2">
            <a:schemeClr val="accent1"/>
          </a:lnRef>
          <a:fillRef idx="0">
            <a:schemeClr val="accent1"/>
          </a:fillRef>
          <a:effectRef idx="1">
            <a:schemeClr val="accent1"/>
          </a:effectRef>
          <a:fontRef idx="minor">
            <a:schemeClr val="tx1"/>
          </a:fontRef>
        </p:style>
      </p:cxnSp>
      <p:sp>
        <p:nvSpPr>
          <p:cNvPr id="47" name="Rectangle 46"/>
          <p:cNvSpPr/>
          <p:nvPr/>
        </p:nvSpPr>
        <p:spPr>
          <a:xfrm>
            <a:off x="5084064" y="3749039"/>
            <a:ext cx="2011680" cy="128016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5084064" y="3749039"/>
            <a:ext cx="2011680" cy="64008"/>
          </a:xfrm>
          <a:prstGeom prst="rect">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221224" y="3886200"/>
            <a:ext cx="1737360" cy="457200"/>
          </a:xfrm>
          <a:prstGeom prst="rect">
            <a:avLst/>
          </a:prstGeom>
          <a:noFill/>
        </p:spPr>
        <p:txBody>
          <a:bodyPr wrap="square" lIns="0" rIns="0" tIns="0" bIns="0" anchor="t">
            <a:spAutoFit/>
          </a:bodyPr>
          <a:lstStyle/>
          <a:p>
            <a:pPr algn="l">
              <a:spcAft>
                <a:spcPts val="0"/>
              </a:spcAft>
            </a:pPr>
            <a:r>
              <a:rPr sz="2600" b="1" i="0">
                <a:solidFill>
                  <a:srgbClr val="0E2A47"/>
                </a:solidFill>
                <a:latin typeface="Calibri"/>
              </a:rPr>
              <a:t>244</a:t>
            </a:r>
          </a:p>
        </p:txBody>
      </p:sp>
      <p:sp>
        <p:nvSpPr>
          <p:cNvPr id="50" name="TextBox 49"/>
          <p:cNvSpPr txBox="1"/>
          <p:nvPr/>
        </p:nvSpPr>
        <p:spPr>
          <a:xfrm>
            <a:off x="5221224" y="4343400"/>
            <a:ext cx="1737360" cy="685800"/>
          </a:xfrm>
          <a:prstGeom prst="rect">
            <a:avLst/>
          </a:prstGeom>
          <a:noFill/>
        </p:spPr>
        <p:txBody>
          <a:bodyPr wrap="square" lIns="0" rIns="0" tIns="0" bIns="0" anchor="t">
            <a:spAutoFit/>
          </a:bodyPr>
          <a:lstStyle/>
          <a:p>
            <a:pPr algn="l">
              <a:spcAft>
                <a:spcPts val="0"/>
              </a:spcAft>
            </a:pPr>
            <a:r>
              <a:rPr sz="1250" b="0" i="0">
                <a:solidFill>
                  <a:srgbClr val="14171C"/>
                </a:solidFill>
                <a:latin typeface="Calibri"/>
              </a:rPr>
              <a:t>of the 768 gene biomarkers are predicted miRNA targets</a:t>
            </a:r>
          </a:p>
        </p:txBody>
      </p:sp>
      <p:cxnSp>
        <p:nvCxnSpPr>
          <p:cNvPr id="51" name="Connector 50"/>
          <p:cNvCxnSpPr/>
          <p:nvPr/>
        </p:nvCxnSpPr>
        <p:spPr>
          <a:xfrm>
            <a:off x="7123176" y="4389120"/>
            <a:ext cx="201168" cy="0"/>
          </a:xfrm>
          <a:prstGeom prst="line">
            <a:avLst/>
          </a:prstGeom>
          <a:ln w="22225">
            <a:solidFill>
              <a:srgbClr val="8A8984"/>
            </a:solidFill>
            <a:tailEnd type="triangle" w="med" len="med"/>
          </a:ln>
        </p:spPr>
        <p:style>
          <a:lnRef idx="2">
            <a:schemeClr val="accent1"/>
          </a:lnRef>
          <a:fillRef idx="0">
            <a:schemeClr val="accent1"/>
          </a:fillRef>
          <a:effectRef idx="1">
            <a:schemeClr val="accent1"/>
          </a:effectRef>
          <a:fontRef idx="minor">
            <a:schemeClr val="tx1"/>
          </a:fontRef>
        </p:style>
      </p:cxnSp>
      <p:sp>
        <p:nvSpPr>
          <p:cNvPr id="52" name="Rectangle 51"/>
          <p:cNvSpPr/>
          <p:nvPr/>
        </p:nvSpPr>
        <p:spPr>
          <a:xfrm>
            <a:off x="7351776" y="3749039"/>
            <a:ext cx="2011680" cy="128016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7351776" y="3749039"/>
            <a:ext cx="2011680" cy="64008"/>
          </a:xfrm>
          <a:prstGeom prst="rect">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7488936" y="3886200"/>
            <a:ext cx="1737360" cy="457200"/>
          </a:xfrm>
          <a:prstGeom prst="rect">
            <a:avLst/>
          </a:prstGeom>
          <a:noFill/>
        </p:spPr>
        <p:txBody>
          <a:bodyPr wrap="square" lIns="0" rIns="0" tIns="0" bIns="0" anchor="t">
            <a:spAutoFit/>
          </a:bodyPr>
          <a:lstStyle/>
          <a:p>
            <a:pPr algn="l">
              <a:spcAft>
                <a:spcPts val="0"/>
              </a:spcAft>
            </a:pPr>
            <a:r>
              <a:rPr sz="2600" b="1" i="0">
                <a:solidFill>
                  <a:srgbClr val="0E2A47"/>
                </a:solidFill>
                <a:latin typeface="Calibri"/>
              </a:rPr>
              <a:t>82</a:t>
            </a:r>
          </a:p>
        </p:txBody>
      </p:sp>
      <p:sp>
        <p:nvSpPr>
          <p:cNvPr id="55" name="TextBox 54"/>
          <p:cNvSpPr txBox="1"/>
          <p:nvPr/>
        </p:nvSpPr>
        <p:spPr>
          <a:xfrm>
            <a:off x="7488936" y="4343400"/>
            <a:ext cx="1737360" cy="685800"/>
          </a:xfrm>
          <a:prstGeom prst="rect">
            <a:avLst/>
          </a:prstGeom>
          <a:noFill/>
        </p:spPr>
        <p:txBody>
          <a:bodyPr wrap="square" lIns="0" rIns="0" tIns="0" bIns="0" anchor="t">
            <a:spAutoFit/>
          </a:bodyPr>
          <a:lstStyle/>
          <a:p>
            <a:pPr algn="l">
              <a:spcAft>
                <a:spcPts val="0"/>
              </a:spcAft>
            </a:pPr>
            <a:r>
              <a:rPr sz="1250" b="0" i="0">
                <a:solidFill>
                  <a:srgbClr val="14171C"/>
                </a:solidFill>
                <a:latin typeface="Calibri"/>
              </a:rPr>
              <a:t>miRNAs regulate 195 functionally enriched targets</a:t>
            </a:r>
          </a:p>
        </p:txBody>
      </p:sp>
      <p:cxnSp>
        <p:nvCxnSpPr>
          <p:cNvPr id="56" name="Connector 55"/>
          <p:cNvCxnSpPr/>
          <p:nvPr/>
        </p:nvCxnSpPr>
        <p:spPr>
          <a:xfrm>
            <a:off x="9390888" y="4389120"/>
            <a:ext cx="201168" cy="0"/>
          </a:xfrm>
          <a:prstGeom prst="line">
            <a:avLst/>
          </a:prstGeom>
          <a:ln w="22225">
            <a:solidFill>
              <a:srgbClr val="8A8984"/>
            </a:solidFill>
            <a:tailEnd type="triangle" w="med" len="med"/>
          </a:ln>
        </p:spPr>
        <p:style>
          <a:lnRef idx="2">
            <a:schemeClr val="accent1"/>
          </a:lnRef>
          <a:fillRef idx="0">
            <a:schemeClr val="accent1"/>
          </a:fillRef>
          <a:effectRef idx="1">
            <a:schemeClr val="accent1"/>
          </a:effectRef>
          <a:fontRef idx="minor">
            <a:schemeClr val="tx1"/>
          </a:fontRef>
        </p:style>
      </p:cxnSp>
      <p:sp>
        <p:nvSpPr>
          <p:cNvPr id="57" name="Rectangle 56"/>
          <p:cNvSpPr/>
          <p:nvPr/>
        </p:nvSpPr>
        <p:spPr>
          <a:xfrm>
            <a:off x="9619488" y="3749039"/>
            <a:ext cx="2011680" cy="128016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9619488" y="3749039"/>
            <a:ext cx="2011680" cy="64008"/>
          </a:xfrm>
          <a:prstGeom prst="rect">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9756648" y="3886200"/>
            <a:ext cx="1737360" cy="457200"/>
          </a:xfrm>
          <a:prstGeom prst="rect">
            <a:avLst/>
          </a:prstGeom>
          <a:noFill/>
        </p:spPr>
        <p:txBody>
          <a:bodyPr wrap="square" lIns="0" rIns="0" tIns="0" bIns="0" anchor="t">
            <a:spAutoFit/>
          </a:bodyPr>
          <a:lstStyle/>
          <a:p>
            <a:pPr algn="l">
              <a:spcAft>
                <a:spcPts val="0"/>
              </a:spcAft>
            </a:pPr>
            <a:r>
              <a:rPr sz="2600" b="1" i="0">
                <a:solidFill>
                  <a:srgbClr val="0E2A47"/>
                </a:solidFill>
                <a:latin typeface="Calibri"/>
              </a:rPr>
              <a:t>24</a:t>
            </a:r>
          </a:p>
        </p:txBody>
      </p:sp>
      <p:sp>
        <p:nvSpPr>
          <p:cNvPr id="60" name="TextBox 59"/>
          <p:cNvSpPr txBox="1"/>
          <p:nvPr/>
        </p:nvSpPr>
        <p:spPr>
          <a:xfrm>
            <a:off x="9756648" y="4343400"/>
            <a:ext cx="1737360" cy="685800"/>
          </a:xfrm>
          <a:prstGeom prst="rect">
            <a:avLst/>
          </a:prstGeom>
          <a:noFill/>
        </p:spPr>
        <p:txBody>
          <a:bodyPr wrap="square" lIns="0" rIns="0" tIns="0" bIns="0" anchor="t">
            <a:spAutoFit/>
          </a:bodyPr>
          <a:lstStyle/>
          <a:p>
            <a:pPr algn="l">
              <a:spcAft>
                <a:spcPts val="0"/>
              </a:spcAft>
            </a:pPr>
            <a:r>
              <a:rPr sz="1250" b="0" i="0">
                <a:solidFill>
                  <a:srgbClr val="14171C"/>
                </a:solidFill>
                <a:latin typeface="Calibri"/>
              </a:rPr>
              <a:t>targets sit in network modules 1 and 3, including hubs HSPA8 and PIK3CA</a:t>
            </a:r>
          </a:p>
        </p:txBody>
      </p:sp>
      <p:sp>
        <p:nvSpPr>
          <p:cNvPr id="61" name="TextBox 60"/>
          <p:cNvSpPr txBox="1"/>
          <p:nvPr/>
        </p:nvSpPr>
        <p:spPr>
          <a:xfrm>
            <a:off x="548640" y="5166360"/>
            <a:ext cx="4572000" cy="228600"/>
          </a:xfrm>
          <a:prstGeom prst="rect">
            <a:avLst/>
          </a:prstGeom>
          <a:noFill/>
        </p:spPr>
        <p:txBody>
          <a:bodyPr wrap="square" lIns="0" rIns="0" tIns="0" bIns="0" anchor="t">
            <a:spAutoFit/>
          </a:bodyPr>
          <a:lstStyle/>
          <a:p>
            <a:pPr algn="l">
              <a:spcAft>
                <a:spcPts val="0"/>
              </a:spcAft>
            </a:pPr>
            <a:r>
              <a:rPr sz="1100" b="1" i="0">
                <a:solidFill>
                  <a:srgbClr val="8A8984"/>
                </a:solidFill>
                <a:latin typeface="Calibri"/>
              </a:rPr>
              <a:t>EIGHT HUB GENES</a:t>
            </a:r>
          </a:p>
        </p:txBody>
      </p:sp>
      <p:sp>
        <p:nvSpPr>
          <p:cNvPr id="62" name="Rounded Rectangle 61"/>
          <p:cNvSpPr/>
          <p:nvPr/>
        </p:nvSpPr>
        <p:spPr>
          <a:xfrm>
            <a:off x="548640" y="5440680"/>
            <a:ext cx="1280160" cy="411480"/>
          </a:xfrm>
          <a:prstGeom prst="roundRect">
            <a:avLst>
              <a:gd name="adj" fmla="val 30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350" b="1">
                <a:solidFill>
                  <a:srgbClr val="0E2A47"/>
                </a:solidFill>
                <a:latin typeface="Calibri"/>
              </a:rPr>
              <a:t>HSP90AA1</a:t>
            </a:r>
          </a:p>
        </p:txBody>
      </p:sp>
      <p:sp>
        <p:nvSpPr>
          <p:cNvPr id="63" name="Rounded Rectangle 62"/>
          <p:cNvSpPr/>
          <p:nvPr/>
        </p:nvSpPr>
        <p:spPr>
          <a:xfrm>
            <a:off x="1938528" y="5440680"/>
            <a:ext cx="1280160" cy="411480"/>
          </a:xfrm>
          <a:prstGeom prst="roundRect">
            <a:avLst>
              <a:gd name="adj" fmla="val 30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350" b="1">
                <a:solidFill>
                  <a:srgbClr val="0E2A47"/>
                </a:solidFill>
                <a:latin typeface="Calibri"/>
              </a:rPr>
              <a:t>HSPA8</a:t>
            </a:r>
          </a:p>
        </p:txBody>
      </p:sp>
      <p:sp>
        <p:nvSpPr>
          <p:cNvPr id="64" name="Rounded Rectangle 63"/>
          <p:cNvSpPr/>
          <p:nvPr/>
        </p:nvSpPr>
        <p:spPr>
          <a:xfrm>
            <a:off x="3328416" y="5440680"/>
            <a:ext cx="1280160" cy="411480"/>
          </a:xfrm>
          <a:prstGeom prst="roundRect">
            <a:avLst>
              <a:gd name="adj" fmla="val 30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350" b="1">
                <a:solidFill>
                  <a:srgbClr val="0E2A47"/>
                </a:solidFill>
                <a:latin typeface="Calibri"/>
              </a:rPr>
              <a:t>IL18</a:t>
            </a:r>
          </a:p>
        </p:txBody>
      </p:sp>
      <p:sp>
        <p:nvSpPr>
          <p:cNvPr id="65" name="Rounded Rectangle 64"/>
          <p:cNvSpPr/>
          <p:nvPr/>
        </p:nvSpPr>
        <p:spPr>
          <a:xfrm>
            <a:off x="4718304" y="5440680"/>
            <a:ext cx="1280160" cy="411480"/>
          </a:xfrm>
          <a:prstGeom prst="roundRect">
            <a:avLst>
              <a:gd name="adj" fmla="val 30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350" b="1">
                <a:solidFill>
                  <a:srgbClr val="0E2A47"/>
                </a:solidFill>
                <a:latin typeface="Calibri"/>
              </a:rPr>
              <a:t>MAPK8</a:t>
            </a:r>
          </a:p>
        </p:txBody>
      </p:sp>
      <p:sp>
        <p:nvSpPr>
          <p:cNvPr id="66" name="Rounded Rectangle 65"/>
          <p:cNvSpPr/>
          <p:nvPr/>
        </p:nvSpPr>
        <p:spPr>
          <a:xfrm>
            <a:off x="6108192" y="5440680"/>
            <a:ext cx="1280160" cy="411480"/>
          </a:xfrm>
          <a:prstGeom prst="roundRect">
            <a:avLst>
              <a:gd name="adj" fmla="val 30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350" b="1">
                <a:solidFill>
                  <a:srgbClr val="0E2A47"/>
                </a:solidFill>
                <a:latin typeface="Calibri"/>
              </a:rPr>
              <a:t>NFKBIA</a:t>
            </a:r>
          </a:p>
        </p:txBody>
      </p:sp>
      <p:sp>
        <p:nvSpPr>
          <p:cNvPr id="67" name="Rounded Rectangle 66"/>
          <p:cNvSpPr/>
          <p:nvPr/>
        </p:nvSpPr>
        <p:spPr>
          <a:xfrm>
            <a:off x="7498079" y="5440680"/>
            <a:ext cx="1280160" cy="411480"/>
          </a:xfrm>
          <a:prstGeom prst="roundRect">
            <a:avLst>
              <a:gd name="adj" fmla="val 30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350" b="1">
                <a:solidFill>
                  <a:srgbClr val="0E2A47"/>
                </a:solidFill>
                <a:latin typeface="Calibri"/>
              </a:rPr>
              <a:t>NOTCH1</a:t>
            </a:r>
          </a:p>
        </p:txBody>
      </p:sp>
      <p:sp>
        <p:nvSpPr>
          <p:cNvPr id="68" name="Rounded Rectangle 67"/>
          <p:cNvSpPr/>
          <p:nvPr/>
        </p:nvSpPr>
        <p:spPr>
          <a:xfrm>
            <a:off x="8887968" y="5440680"/>
            <a:ext cx="1280160" cy="411480"/>
          </a:xfrm>
          <a:prstGeom prst="roundRect">
            <a:avLst>
              <a:gd name="adj" fmla="val 30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350" b="1">
                <a:solidFill>
                  <a:srgbClr val="0E2A47"/>
                </a:solidFill>
                <a:latin typeface="Calibri"/>
              </a:rPr>
              <a:t>PIK3CA</a:t>
            </a:r>
          </a:p>
        </p:txBody>
      </p:sp>
      <p:sp>
        <p:nvSpPr>
          <p:cNvPr id="69" name="Rounded Rectangle 68"/>
          <p:cNvSpPr/>
          <p:nvPr/>
        </p:nvSpPr>
        <p:spPr>
          <a:xfrm>
            <a:off x="10277856" y="5440680"/>
            <a:ext cx="1280160" cy="411480"/>
          </a:xfrm>
          <a:prstGeom prst="roundRect">
            <a:avLst>
              <a:gd name="adj" fmla="val 30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350" b="1">
                <a:solidFill>
                  <a:srgbClr val="0E2A47"/>
                </a:solidFill>
                <a:latin typeface="Calibri"/>
              </a:rPr>
              <a:t>RELA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48640" y="347472"/>
            <a:ext cx="8229600" cy="274320"/>
          </a:xfrm>
          <a:prstGeom prst="rect">
            <a:avLst/>
          </a:prstGeom>
          <a:noFill/>
        </p:spPr>
        <p:txBody>
          <a:bodyPr wrap="square" lIns="0" rIns="0" tIns="0" bIns="0" anchor="t">
            <a:spAutoFit/>
          </a:bodyPr>
          <a:lstStyle/>
          <a:p>
            <a:pPr algn="l">
              <a:spcAft>
                <a:spcPts val="0"/>
              </a:spcAft>
            </a:pPr>
            <a:r>
              <a:rPr sz="1200" b="1" i="0">
                <a:solidFill>
                  <a:srgbClr val="1F5FAE"/>
                </a:solidFill>
                <a:latin typeface="Calibri"/>
              </a:rPr>
              <a:t>MULTI-OMICS PROJECT  ·  FINDINGS</a:t>
            </a:r>
          </a:p>
        </p:txBody>
      </p:sp>
      <p:sp>
        <p:nvSpPr>
          <p:cNvPr id="3" name="TextBox 2"/>
          <p:cNvSpPr txBox="1"/>
          <p:nvPr/>
        </p:nvSpPr>
        <p:spPr>
          <a:xfrm>
            <a:off x="548640" y="621792"/>
            <a:ext cx="11091672" cy="914400"/>
          </a:xfrm>
          <a:prstGeom prst="rect">
            <a:avLst/>
          </a:prstGeom>
          <a:noFill/>
        </p:spPr>
        <p:txBody>
          <a:bodyPr wrap="square" lIns="0" rIns="0" tIns="0" bIns="0" anchor="t">
            <a:spAutoFit/>
          </a:bodyPr>
          <a:lstStyle/>
          <a:p>
            <a:pPr algn="l">
              <a:lnSpc>
                <a:spcPct val="95000"/>
              </a:lnSpc>
              <a:spcAft>
                <a:spcPts val="0"/>
              </a:spcAft>
            </a:pPr>
            <a:r>
              <a:rPr sz="2600" b="1" i="0">
                <a:solidFill>
                  <a:srgbClr val="0E2A47"/>
                </a:solidFill>
                <a:latin typeface="Calibri"/>
              </a:rPr>
              <a:t>Integration surfaced nonsense-mediated decay, a process that single-omics analysis missed</a:t>
            </a:r>
          </a:p>
        </p:txBody>
      </p:sp>
      <p:sp>
        <p:nvSpPr>
          <p:cNvPr id="4" name="Rectangle 3"/>
          <p:cNvSpPr/>
          <p:nvPr/>
        </p:nvSpPr>
        <p:spPr>
          <a:xfrm>
            <a:off x="548640" y="6108192"/>
            <a:ext cx="11091672" cy="329184"/>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6108192"/>
            <a:ext cx="64008" cy="329184"/>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108192"/>
            <a:ext cx="10817352" cy="329184"/>
          </a:xfrm>
          <a:prstGeom prst="rect">
            <a:avLst/>
          </a:prstGeom>
          <a:noFill/>
        </p:spPr>
        <p:txBody>
          <a:bodyPr wrap="square" lIns="0" rIns="0" tIns="0" bIns="0" anchor="ctr">
            <a:spAutoFit/>
          </a:bodyPr>
          <a:lstStyle/>
          <a:p>
            <a:pPr algn="l">
              <a:spcAft>
                <a:spcPts val="0"/>
              </a:spcAft>
            </a:pPr>
            <a:r>
              <a:rPr sz="1100" b="1" i="0">
                <a:solidFill>
                  <a:srgbClr val="1F5FAE"/>
                </a:solidFill>
                <a:latin typeface="Calibri"/>
              </a:rPr>
              <a:t>ROLE LINK   </a:t>
            </a:r>
            <a:r>
              <a:rPr sz="1300" b="0" i="0">
                <a:solidFill>
                  <a:srgbClr val="52514E"/>
                </a:solidFill>
                <a:latin typeface="Calibri"/>
              </a:rPr>
              <a:t>Biomarker findings tied back to mechanism</a:t>
            </a:r>
          </a:p>
        </p:txBody>
      </p:sp>
      <p:sp>
        <p:nvSpPr>
          <p:cNvPr id="7" name="TextBox 6"/>
          <p:cNvSpPr txBox="1"/>
          <p:nvPr/>
        </p:nvSpPr>
        <p:spPr>
          <a:xfrm>
            <a:off x="548640" y="6510528"/>
            <a:ext cx="6400800" cy="228600"/>
          </a:xfrm>
          <a:prstGeom prst="rect">
            <a:avLst/>
          </a:prstGeom>
          <a:noFill/>
        </p:spPr>
        <p:txBody>
          <a:bodyPr wrap="square" lIns="0" rIns="0" tIns="0" bIns="0" anchor="t">
            <a:spAutoFit/>
          </a:bodyPr>
          <a:lstStyle/>
          <a:p>
            <a:pPr algn="l">
              <a:spcAft>
                <a:spcPts val="0"/>
              </a:spcAft>
            </a:pPr>
            <a:r>
              <a:rPr sz="1000" b="0" i="0">
                <a:solidFill>
                  <a:srgbClr val="8A8984"/>
                </a:solidFill>
                <a:latin typeface="Calibri"/>
              </a:rPr>
              <a:t>Kunal Tembhare  ·  Computational biology and multi-omics ML</a:t>
            </a:r>
          </a:p>
        </p:txBody>
      </p:sp>
      <p:sp>
        <p:nvSpPr>
          <p:cNvPr id="8" name="TextBox 7"/>
          <p:cNvSpPr txBox="1"/>
          <p:nvPr/>
        </p:nvSpPr>
        <p:spPr>
          <a:xfrm>
            <a:off x="10268712" y="6510528"/>
            <a:ext cx="1371600" cy="228600"/>
          </a:xfrm>
          <a:prstGeom prst="rect">
            <a:avLst/>
          </a:prstGeom>
          <a:noFill/>
        </p:spPr>
        <p:txBody>
          <a:bodyPr wrap="square" lIns="0" rIns="0" tIns="0" bIns="0" anchor="t">
            <a:spAutoFit/>
          </a:bodyPr>
          <a:lstStyle/>
          <a:p>
            <a:pPr algn="r">
              <a:spcAft>
                <a:spcPts val="0"/>
              </a:spcAft>
            </a:pPr>
            <a:r>
              <a:rPr sz="1000" b="0" i="0">
                <a:solidFill>
                  <a:srgbClr val="8A8984"/>
                </a:solidFill>
                <a:latin typeface="Calibri"/>
              </a:rPr>
              <a:t>11 / 27</a:t>
            </a:r>
          </a:p>
        </p:txBody>
      </p:sp>
      <p:sp>
        <p:nvSpPr>
          <p:cNvPr id="9" name="Rectangle 8"/>
          <p:cNvSpPr/>
          <p:nvPr/>
        </p:nvSpPr>
        <p:spPr>
          <a:xfrm>
            <a:off x="548640" y="1691640"/>
            <a:ext cx="5394960" cy="402336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59" y="1828800"/>
            <a:ext cx="4846320" cy="274320"/>
          </a:xfrm>
          <a:prstGeom prst="rect">
            <a:avLst/>
          </a:prstGeom>
          <a:noFill/>
        </p:spPr>
        <p:txBody>
          <a:bodyPr wrap="square" lIns="0" rIns="0" tIns="0" bIns="0" anchor="t">
            <a:spAutoFit/>
          </a:bodyPr>
          <a:lstStyle/>
          <a:p>
            <a:pPr algn="l">
              <a:spcAft>
                <a:spcPts val="0"/>
              </a:spcAft>
            </a:pPr>
            <a:r>
              <a:rPr sz="1600" b="1" i="0">
                <a:solidFill>
                  <a:srgbClr val="0E2A47"/>
                </a:solidFill>
                <a:latin typeface="Calibri"/>
              </a:rPr>
              <a:t>Two mechanisms linked to the biomarkers</a:t>
            </a:r>
          </a:p>
        </p:txBody>
      </p:sp>
      <p:sp>
        <p:nvSpPr>
          <p:cNvPr id="11" name="TextBox 10"/>
          <p:cNvSpPr txBox="1"/>
          <p:nvPr/>
        </p:nvSpPr>
        <p:spPr>
          <a:xfrm>
            <a:off x="822959" y="2377440"/>
            <a:ext cx="4846320" cy="274320"/>
          </a:xfrm>
          <a:prstGeom prst="rect">
            <a:avLst/>
          </a:prstGeom>
          <a:noFill/>
        </p:spPr>
        <p:txBody>
          <a:bodyPr wrap="square" lIns="0" rIns="0" tIns="0" bIns="0" anchor="t">
            <a:spAutoFit/>
          </a:bodyPr>
          <a:lstStyle/>
          <a:p>
            <a:pPr algn="l">
              <a:spcAft>
                <a:spcPts val="0"/>
              </a:spcAft>
            </a:pPr>
            <a:r>
              <a:rPr sz="1400" b="1" i="0">
                <a:solidFill>
                  <a:srgbClr val="52514E"/>
                </a:solidFill>
                <a:latin typeface="Calibri"/>
              </a:rPr>
              <a:t>Nonsense-mediated decay (NMD)</a:t>
            </a:r>
          </a:p>
        </p:txBody>
      </p:sp>
      <p:sp>
        <p:nvSpPr>
          <p:cNvPr id="12" name="Rounded Rectangle 11"/>
          <p:cNvSpPr/>
          <p:nvPr/>
        </p:nvSpPr>
        <p:spPr>
          <a:xfrm>
            <a:off x="822959" y="2788920"/>
            <a:ext cx="1325880" cy="502920"/>
          </a:xfrm>
          <a:prstGeom prst="roundRect">
            <a:avLst>
              <a:gd name="adj" fmla="val 50000"/>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400" b="1">
                <a:solidFill>
                  <a:srgbClr val="FFFFFF"/>
                </a:solidFill>
                <a:latin typeface="Calibri"/>
              </a:rPr>
              <a:t>HSPA8</a:t>
            </a:r>
          </a:p>
        </p:txBody>
      </p:sp>
      <p:sp>
        <p:nvSpPr>
          <p:cNvPr id="13" name="Rounded Rectangle 12"/>
          <p:cNvSpPr/>
          <p:nvPr/>
        </p:nvSpPr>
        <p:spPr>
          <a:xfrm>
            <a:off x="2606040" y="2788920"/>
            <a:ext cx="1325880" cy="502920"/>
          </a:xfrm>
          <a:prstGeom prst="roundRect">
            <a:avLst>
              <a:gd name="adj" fmla="val 50000"/>
            </a:avLst>
          </a:prstGeom>
          <a:solidFill>
            <a:srgbClr val="D9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400" b="1">
                <a:solidFill>
                  <a:srgbClr val="0E2A47"/>
                </a:solidFill>
                <a:latin typeface="Calibri"/>
              </a:rPr>
              <a:t>UPF1</a:t>
            </a:r>
          </a:p>
        </p:txBody>
      </p:sp>
      <p:sp>
        <p:nvSpPr>
          <p:cNvPr id="14" name="Rounded Rectangle 13"/>
          <p:cNvSpPr/>
          <p:nvPr/>
        </p:nvSpPr>
        <p:spPr>
          <a:xfrm>
            <a:off x="4389120" y="2788920"/>
            <a:ext cx="1325880" cy="502920"/>
          </a:xfrm>
          <a:prstGeom prst="roundRect">
            <a:avLst>
              <a:gd name="adj" fmla="val 50000"/>
            </a:avLst>
          </a:prstGeom>
          <a:solidFill>
            <a:srgbClr val="FFFFFF"/>
          </a:solidFill>
          <a:ln w="19050">
            <a:solidFill>
              <a:srgbClr val="0E2A4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400" b="1">
                <a:solidFill>
                  <a:srgbClr val="0E2A47"/>
                </a:solidFill>
                <a:latin typeface="Calibri"/>
              </a:rPr>
              <a:t>PELO</a:t>
            </a:r>
          </a:p>
        </p:txBody>
      </p:sp>
      <p:cxnSp>
        <p:nvCxnSpPr>
          <p:cNvPr id="15" name="Connector 14"/>
          <p:cNvCxnSpPr/>
          <p:nvPr/>
        </p:nvCxnSpPr>
        <p:spPr>
          <a:xfrm>
            <a:off x="2148840" y="3040380"/>
            <a:ext cx="457200" cy="0"/>
          </a:xfrm>
          <a:prstGeom prst="line">
            <a:avLst/>
          </a:prstGeom>
          <a:ln w="22225">
            <a:solidFill>
              <a:srgbClr val="52514E"/>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3931920" y="3040380"/>
            <a:ext cx="457200" cy="0"/>
          </a:xfrm>
          <a:prstGeom prst="line">
            <a:avLst/>
          </a:prstGeom>
          <a:ln w="22225">
            <a:solidFill>
              <a:srgbClr val="52514E"/>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822959" y="3749039"/>
            <a:ext cx="4846320" cy="274320"/>
          </a:xfrm>
          <a:prstGeom prst="rect">
            <a:avLst/>
          </a:prstGeom>
          <a:noFill/>
        </p:spPr>
        <p:txBody>
          <a:bodyPr wrap="square" lIns="0" rIns="0" tIns="0" bIns="0" anchor="t">
            <a:spAutoFit/>
          </a:bodyPr>
          <a:lstStyle/>
          <a:p>
            <a:pPr algn="l">
              <a:spcAft>
                <a:spcPts val="0"/>
              </a:spcAft>
            </a:pPr>
            <a:r>
              <a:rPr sz="1400" b="1" i="0">
                <a:solidFill>
                  <a:srgbClr val="52514E"/>
                </a:solidFill>
                <a:latin typeface="Calibri"/>
              </a:rPr>
              <a:t>PI3K/AKT signalling</a:t>
            </a:r>
          </a:p>
        </p:txBody>
      </p:sp>
      <p:sp>
        <p:nvSpPr>
          <p:cNvPr id="18" name="Rounded Rectangle 17"/>
          <p:cNvSpPr/>
          <p:nvPr/>
        </p:nvSpPr>
        <p:spPr>
          <a:xfrm>
            <a:off x="822959" y="4160520"/>
            <a:ext cx="1600200" cy="502920"/>
          </a:xfrm>
          <a:prstGeom prst="roundRect">
            <a:avLst>
              <a:gd name="adj" fmla="val 50000"/>
            </a:avLst>
          </a:prstGeom>
          <a:solidFill>
            <a:srgbClr val="FFFFFF"/>
          </a:solidFill>
          <a:ln w="19050">
            <a:solidFill>
              <a:srgbClr val="0E2A4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400" b="1">
                <a:solidFill>
                  <a:srgbClr val="0E2A47"/>
                </a:solidFill>
                <a:latin typeface="Calibri"/>
              </a:rPr>
              <a:t>APOBEC3F</a:t>
            </a:r>
          </a:p>
        </p:txBody>
      </p:sp>
      <p:sp>
        <p:nvSpPr>
          <p:cNvPr id="19" name="Rounded Rectangle 18"/>
          <p:cNvSpPr/>
          <p:nvPr/>
        </p:nvSpPr>
        <p:spPr>
          <a:xfrm>
            <a:off x="4114800" y="4160520"/>
            <a:ext cx="1600200" cy="502920"/>
          </a:xfrm>
          <a:prstGeom prst="roundRect">
            <a:avLst>
              <a:gd name="adj" fmla="val 50000"/>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400" b="1">
                <a:solidFill>
                  <a:srgbClr val="FFFFFF"/>
                </a:solidFill>
                <a:latin typeface="Calibri"/>
              </a:rPr>
              <a:t>PIK3CA</a:t>
            </a:r>
          </a:p>
        </p:txBody>
      </p:sp>
      <p:cxnSp>
        <p:nvCxnSpPr>
          <p:cNvPr id="20" name="Connector 19"/>
          <p:cNvCxnSpPr/>
          <p:nvPr/>
        </p:nvCxnSpPr>
        <p:spPr>
          <a:xfrm>
            <a:off x="2423160" y="4411980"/>
            <a:ext cx="1691640" cy="0"/>
          </a:xfrm>
          <a:prstGeom prst="line">
            <a:avLst/>
          </a:prstGeom>
          <a:ln w="22225">
            <a:solidFill>
              <a:srgbClr val="52514E"/>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2423160" y="4069080"/>
            <a:ext cx="1691640" cy="274320"/>
          </a:xfrm>
          <a:prstGeom prst="rect">
            <a:avLst/>
          </a:prstGeom>
          <a:noFill/>
        </p:spPr>
        <p:txBody>
          <a:bodyPr wrap="square" lIns="0" rIns="0" tIns="0" bIns="0" anchor="t">
            <a:spAutoFit/>
          </a:bodyPr>
          <a:lstStyle/>
          <a:p>
            <a:pPr algn="ctr">
              <a:spcAft>
                <a:spcPts val="0"/>
              </a:spcAft>
            </a:pPr>
            <a:r>
              <a:rPr sz="1200" b="0" i="0">
                <a:solidFill>
                  <a:srgbClr val="52514E"/>
                </a:solidFill>
                <a:latin typeface="Calibri"/>
              </a:rPr>
              <a:t>regulates mutagenesis</a:t>
            </a:r>
          </a:p>
        </p:txBody>
      </p:sp>
      <p:sp>
        <p:nvSpPr>
          <p:cNvPr id="22" name="Rounded Rectangle 21"/>
          <p:cNvSpPr/>
          <p:nvPr/>
        </p:nvSpPr>
        <p:spPr>
          <a:xfrm>
            <a:off x="822959" y="5138928"/>
            <a:ext cx="256032" cy="182880"/>
          </a:xfrm>
          <a:prstGeom prst="roundRect">
            <a:avLst>
              <a:gd name="adj" fmla="val 50000"/>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170431" y="5093208"/>
            <a:ext cx="1828800" cy="274320"/>
          </a:xfrm>
          <a:prstGeom prst="rect">
            <a:avLst/>
          </a:prstGeom>
          <a:noFill/>
        </p:spPr>
        <p:txBody>
          <a:bodyPr wrap="square" lIns="0" rIns="0" tIns="0" bIns="0" anchor="ctr">
            <a:spAutoFit/>
          </a:bodyPr>
          <a:lstStyle/>
          <a:p>
            <a:pPr algn="l">
              <a:spcAft>
                <a:spcPts val="0"/>
              </a:spcAft>
            </a:pPr>
            <a:r>
              <a:rPr sz="1200" b="0" i="0">
                <a:solidFill>
                  <a:srgbClr val="52514E"/>
                </a:solidFill>
                <a:latin typeface="Calibri"/>
              </a:rPr>
              <a:t>Hub gene</a:t>
            </a:r>
          </a:p>
        </p:txBody>
      </p:sp>
      <p:sp>
        <p:nvSpPr>
          <p:cNvPr id="24" name="Rounded Rectangle 23"/>
          <p:cNvSpPr/>
          <p:nvPr/>
        </p:nvSpPr>
        <p:spPr>
          <a:xfrm>
            <a:off x="2057400" y="5138928"/>
            <a:ext cx="256032" cy="182880"/>
          </a:xfrm>
          <a:prstGeom prst="roundRect">
            <a:avLst>
              <a:gd name="adj" fmla="val 50000"/>
            </a:avLst>
          </a:prstGeom>
          <a:solidFill>
            <a:srgbClr val="FFFFFF"/>
          </a:solidFill>
          <a:ln w="19050">
            <a:solidFill>
              <a:srgbClr val="0E2A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404872" y="5093208"/>
            <a:ext cx="1828800" cy="274320"/>
          </a:xfrm>
          <a:prstGeom prst="rect">
            <a:avLst/>
          </a:prstGeom>
          <a:noFill/>
        </p:spPr>
        <p:txBody>
          <a:bodyPr wrap="square" lIns="0" rIns="0" tIns="0" bIns="0" anchor="ctr">
            <a:spAutoFit/>
          </a:bodyPr>
          <a:lstStyle/>
          <a:p>
            <a:pPr algn="l">
              <a:spcAft>
                <a:spcPts val="0"/>
              </a:spcAft>
            </a:pPr>
            <a:r>
              <a:rPr sz="1200" b="0" i="0">
                <a:solidFill>
                  <a:srgbClr val="52514E"/>
                </a:solidFill>
                <a:latin typeface="Calibri"/>
              </a:rPr>
              <a:t>Univariate biomarker</a:t>
            </a:r>
          </a:p>
        </p:txBody>
      </p:sp>
      <p:sp>
        <p:nvSpPr>
          <p:cNvPr id="26" name="Rounded Rectangle 25"/>
          <p:cNvSpPr/>
          <p:nvPr/>
        </p:nvSpPr>
        <p:spPr>
          <a:xfrm>
            <a:off x="3977639" y="5138928"/>
            <a:ext cx="256032" cy="182880"/>
          </a:xfrm>
          <a:prstGeom prst="roundRect">
            <a:avLst>
              <a:gd name="adj" fmla="val 50000"/>
            </a:avLst>
          </a:prstGeom>
          <a:solidFill>
            <a:srgbClr val="D9DE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325112" y="5093208"/>
            <a:ext cx="1828800" cy="274320"/>
          </a:xfrm>
          <a:prstGeom prst="rect">
            <a:avLst/>
          </a:prstGeom>
          <a:noFill/>
        </p:spPr>
        <p:txBody>
          <a:bodyPr wrap="square" lIns="0" rIns="0" tIns="0" bIns="0" anchor="ctr">
            <a:spAutoFit/>
          </a:bodyPr>
          <a:lstStyle/>
          <a:p>
            <a:pPr algn="l">
              <a:spcAft>
                <a:spcPts val="0"/>
              </a:spcAft>
            </a:pPr>
            <a:r>
              <a:rPr sz="1200" b="0" i="0">
                <a:solidFill>
                  <a:srgbClr val="52514E"/>
                </a:solidFill>
                <a:latin typeface="Calibri"/>
              </a:rPr>
              <a:t>Enriched regulator</a:t>
            </a:r>
          </a:p>
        </p:txBody>
      </p:sp>
      <p:sp>
        <p:nvSpPr>
          <p:cNvPr id="28" name="TextBox 27"/>
          <p:cNvSpPr txBox="1"/>
          <p:nvPr/>
        </p:nvSpPr>
        <p:spPr>
          <a:xfrm>
            <a:off x="6309360" y="1645920"/>
            <a:ext cx="5303520" cy="228600"/>
          </a:xfrm>
          <a:prstGeom prst="rect">
            <a:avLst/>
          </a:prstGeom>
          <a:noFill/>
        </p:spPr>
        <p:txBody>
          <a:bodyPr wrap="square" lIns="0" rIns="0" tIns="0" bIns="0" anchor="t">
            <a:spAutoFit/>
          </a:bodyPr>
          <a:lstStyle/>
          <a:p>
            <a:pPr algn="l">
              <a:spcAft>
                <a:spcPts val="0"/>
              </a:spcAft>
            </a:pPr>
            <a:r>
              <a:rPr sz="1100" b="1" i="0">
                <a:solidFill>
                  <a:srgbClr val="8A8984"/>
                </a:solidFill>
                <a:latin typeface="Calibri"/>
              </a:rPr>
              <a:t>WHAT INTEGRATION ADDED</a:t>
            </a:r>
          </a:p>
        </p:txBody>
      </p:sp>
      <p:sp>
        <p:nvSpPr>
          <p:cNvPr id="29" name="TextBox 28"/>
          <p:cNvSpPr txBox="1"/>
          <p:nvPr/>
        </p:nvSpPr>
        <p:spPr>
          <a:xfrm>
            <a:off x="6309360" y="1920240"/>
            <a:ext cx="5330952" cy="2286000"/>
          </a:xfrm>
          <a:prstGeom prst="rect">
            <a:avLst/>
          </a:prstGeom>
          <a:noFill/>
        </p:spPr>
        <p:txBody>
          <a:bodyPr wrap="square" lIns="0" rIns="0" tIns="0" bIns="0" anchor="t">
            <a:spAutoFit/>
          </a:bodyPr>
          <a:lstStyle/>
          <a:p>
            <a:pPr algn="l" marL="201168" indent="-201168">
              <a:spcAft>
                <a:spcPts val="600"/>
              </a:spcAft>
              <a:buChar char="•"/>
            </a:pPr>
            <a:r>
              <a:rPr sz="1400" b="0" i="0">
                <a:solidFill>
                  <a:srgbClr val="14171C"/>
                </a:solidFill>
                <a:latin typeface="Calibri"/>
              </a:rPr>
              <a:t>NMD appeared as an enriched process only after the omics layers were combined. The HSPA8 hub gene and the PELO marker both connect to UPF1, its key regulator.</a:t>
            </a:r>
          </a:p>
          <a:p>
            <a:pPr algn="l" marL="201168" indent="-201168">
              <a:spcAft>
                <a:spcPts val="600"/>
              </a:spcAft>
              <a:buChar char="•"/>
            </a:pPr>
            <a:r>
              <a:rPr sz="1400" b="0" i="0">
                <a:solidFill>
                  <a:srgbClr val="14171C"/>
                </a:solidFill>
                <a:latin typeface="Calibri"/>
              </a:rPr>
              <a:t>PIK3CA, a PI3K/AKT hub gene, has its mutagenesis regulated by APOBEC3F, another selected biomarker.</a:t>
            </a:r>
          </a:p>
          <a:p>
            <a:pPr algn="l" marL="201168" indent="-201168">
              <a:spcAft>
                <a:spcPts val="600"/>
              </a:spcAft>
              <a:buChar char="•"/>
            </a:pPr>
            <a:r>
              <a:rPr sz="1400" b="0" i="0">
                <a:solidFill>
                  <a:srgbClr val="14171C"/>
                </a:solidFill>
                <a:latin typeface="Calibri"/>
              </a:rPr>
              <a:t>Enriched transcription factors: ESR1, ESR2, ILF3, RAD21 and UPF1 in module 1; MYC and CTNNB1 in module 3.</a:t>
            </a:r>
          </a:p>
        </p:txBody>
      </p:sp>
      <p:sp>
        <p:nvSpPr>
          <p:cNvPr id="30" name="TextBox 29"/>
          <p:cNvSpPr txBox="1"/>
          <p:nvPr/>
        </p:nvSpPr>
        <p:spPr>
          <a:xfrm>
            <a:off x="6309360" y="3977639"/>
            <a:ext cx="5303520" cy="228600"/>
          </a:xfrm>
          <a:prstGeom prst="rect">
            <a:avLst/>
          </a:prstGeom>
          <a:noFill/>
        </p:spPr>
        <p:txBody>
          <a:bodyPr wrap="square" lIns="0" rIns="0" tIns="0" bIns="0" anchor="t">
            <a:spAutoFit/>
          </a:bodyPr>
          <a:lstStyle/>
          <a:p>
            <a:pPr algn="l">
              <a:spcAft>
                <a:spcPts val="0"/>
              </a:spcAft>
            </a:pPr>
            <a:r>
              <a:rPr sz="1100" b="1" i="0">
                <a:solidFill>
                  <a:srgbClr val="8A8984"/>
                </a:solidFill>
                <a:latin typeface="Calibri"/>
              </a:rPr>
              <a:t>KNOWN PROGNOSTIC MARKERS RECOVERED</a:t>
            </a:r>
          </a:p>
        </p:txBody>
      </p:sp>
      <p:sp>
        <p:nvSpPr>
          <p:cNvPr id="31" name="TextBox 30"/>
          <p:cNvSpPr txBox="1"/>
          <p:nvPr/>
        </p:nvSpPr>
        <p:spPr>
          <a:xfrm>
            <a:off x="6309360" y="4251960"/>
            <a:ext cx="5330952" cy="822960"/>
          </a:xfrm>
          <a:prstGeom prst="rect">
            <a:avLst/>
          </a:prstGeom>
          <a:noFill/>
        </p:spPr>
        <p:txBody>
          <a:bodyPr wrap="square" lIns="0" rIns="0" tIns="0" bIns="0" anchor="t">
            <a:spAutoFit/>
          </a:bodyPr>
          <a:lstStyle/>
          <a:p>
            <a:pPr algn="l">
              <a:spcAft>
                <a:spcPts val="0"/>
              </a:spcAft>
            </a:pPr>
            <a:r>
              <a:rPr sz="1400" b="0" i="0">
                <a:solidFill>
                  <a:srgbClr val="14171C"/>
                </a:solidFill>
                <a:latin typeface="Calibri"/>
              </a:rPr>
              <a:t>JAK1 (lower expression, shorter survival), DLX5 (metastasis), PTCH1 (recurrence) and ALDH1A3 (treatment resistance).</a:t>
            </a:r>
          </a:p>
        </p:txBody>
      </p:sp>
      <p:sp>
        <p:nvSpPr>
          <p:cNvPr id="32" name="Rectangle 31"/>
          <p:cNvSpPr/>
          <p:nvPr/>
        </p:nvSpPr>
        <p:spPr>
          <a:xfrm>
            <a:off x="6309360" y="5074920"/>
            <a:ext cx="5330952" cy="640080"/>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492240" y="5074920"/>
            <a:ext cx="5029200" cy="640080"/>
          </a:xfrm>
          <a:prstGeom prst="rect">
            <a:avLst/>
          </a:prstGeom>
          <a:noFill/>
        </p:spPr>
        <p:txBody>
          <a:bodyPr wrap="square" lIns="0" rIns="0" tIns="0" bIns="0" anchor="ctr">
            <a:spAutoFit/>
          </a:bodyPr>
          <a:lstStyle/>
          <a:p>
            <a:pPr algn="l">
              <a:spcAft>
                <a:spcPts val="0"/>
              </a:spcAft>
            </a:pPr>
            <a:r>
              <a:rPr sz="1300" b="1" i="0">
                <a:solidFill>
                  <a:srgbClr val="0E2A47"/>
                </a:solidFill>
                <a:latin typeface="Calibri"/>
              </a:rPr>
              <a:t>These are hypotheses: knockout experiments are still needed to confirm them.</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48640" y="347472"/>
            <a:ext cx="8229600" cy="274320"/>
          </a:xfrm>
          <a:prstGeom prst="rect">
            <a:avLst/>
          </a:prstGeom>
          <a:noFill/>
        </p:spPr>
        <p:txBody>
          <a:bodyPr wrap="square" lIns="0" rIns="0" tIns="0" bIns="0" anchor="t">
            <a:spAutoFit/>
          </a:bodyPr>
          <a:lstStyle/>
          <a:p>
            <a:pPr algn="l">
              <a:spcAft>
                <a:spcPts val="0"/>
              </a:spcAft>
            </a:pPr>
            <a:r>
              <a:rPr sz="1200" b="1" i="0">
                <a:solidFill>
                  <a:srgbClr val="1F5FAE"/>
                </a:solidFill>
                <a:latin typeface="Calibri"/>
              </a:rPr>
              <a:t>MULTI-OMICS PROJECT  ·  LIMITATIONS AND NEXT STEPS</a:t>
            </a:r>
          </a:p>
        </p:txBody>
      </p:sp>
      <p:sp>
        <p:nvSpPr>
          <p:cNvPr id="3" name="TextBox 2"/>
          <p:cNvSpPr txBox="1"/>
          <p:nvPr/>
        </p:nvSpPr>
        <p:spPr>
          <a:xfrm>
            <a:off x="548640" y="621792"/>
            <a:ext cx="11091672" cy="914400"/>
          </a:xfrm>
          <a:prstGeom prst="rect">
            <a:avLst/>
          </a:prstGeom>
          <a:noFill/>
        </p:spPr>
        <p:txBody>
          <a:bodyPr wrap="square" lIns="0" rIns="0" tIns="0" bIns="0" anchor="t">
            <a:spAutoFit/>
          </a:bodyPr>
          <a:lstStyle/>
          <a:p>
            <a:pPr algn="l">
              <a:lnSpc>
                <a:spcPct val="95000"/>
              </a:lnSpc>
              <a:spcAft>
                <a:spcPts val="0"/>
              </a:spcAft>
            </a:pPr>
            <a:r>
              <a:rPr sz="2600" b="1" i="0">
                <a:solidFill>
                  <a:srgbClr val="0E2A47"/>
                </a:solidFill>
                <a:latin typeface="Calibri"/>
              </a:rPr>
              <a:t>Limitations I identified, and how I would extend the framework</a:t>
            </a:r>
          </a:p>
        </p:txBody>
      </p:sp>
      <p:sp>
        <p:nvSpPr>
          <p:cNvPr id="4" name="Rectangle 3"/>
          <p:cNvSpPr/>
          <p:nvPr/>
        </p:nvSpPr>
        <p:spPr>
          <a:xfrm>
            <a:off x="548640" y="6108192"/>
            <a:ext cx="11091672" cy="329184"/>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6108192"/>
            <a:ext cx="64008" cy="329184"/>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108192"/>
            <a:ext cx="10817352" cy="329184"/>
          </a:xfrm>
          <a:prstGeom prst="rect">
            <a:avLst/>
          </a:prstGeom>
          <a:noFill/>
        </p:spPr>
        <p:txBody>
          <a:bodyPr wrap="square" lIns="0" rIns="0" tIns="0" bIns="0" anchor="ctr">
            <a:spAutoFit/>
          </a:bodyPr>
          <a:lstStyle/>
          <a:p>
            <a:pPr algn="l">
              <a:spcAft>
                <a:spcPts val="0"/>
              </a:spcAft>
            </a:pPr>
            <a:r>
              <a:rPr sz="1100" b="1" i="0">
                <a:solidFill>
                  <a:srgbClr val="1F5FAE"/>
                </a:solidFill>
                <a:latin typeface="Calibri"/>
              </a:rPr>
              <a:t>ROLE LINK   </a:t>
            </a:r>
            <a:r>
              <a:rPr sz="1300" b="0" i="0">
                <a:solidFill>
                  <a:srgbClr val="52514E"/>
                </a:solidFill>
                <a:latin typeface="Calibri"/>
              </a:rPr>
              <a:t>Clearly articulating modeling choices, assumptions and uncertainties</a:t>
            </a:r>
          </a:p>
        </p:txBody>
      </p:sp>
      <p:sp>
        <p:nvSpPr>
          <p:cNvPr id="7" name="TextBox 6"/>
          <p:cNvSpPr txBox="1"/>
          <p:nvPr/>
        </p:nvSpPr>
        <p:spPr>
          <a:xfrm>
            <a:off x="548640" y="6510528"/>
            <a:ext cx="6400800" cy="228600"/>
          </a:xfrm>
          <a:prstGeom prst="rect">
            <a:avLst/>
          </a:prstGeom>
          <a:noFill/>
        </p:spPr>
        <p:txBody>
          <a:bodyPr wrap="square" lIns="0" rIns="0" tIns="0" bIns="0" anchor="t">
            <a:spAutoFit/>
          </a:bodyPr>
          <a:lstStyle/>
          <a:p>
            <a:pPr algn="l">
              <a:spcAft>
                <a:spcPts val="0"/>
              </a:spcAft>
            </a:pPr>
            <a:r>
              <a:rPr sz="1000" b="0" i="0">
                <a:solidFill>
                  <a:srgbClr val="8A8984"/>
                </a:solidFill>
                <a:latin typeface="Calibri"/>
              </a:rPr>
              <a:t>Kunal Tembhare  ·  Computational biology and multi-omics ML</a:t>
            </a:r>
          </a:p>
        </p:txBody>
      </p:sp>
      <p:sp>
        <p:nvSpPr>
          <p:cNvPr id="8" name="TextBox 7"/>
          <p:cNvSpPr txBox="1"/>
          <p:nvPr/>
        </p:nvSpPr>
        <p:spPr>
          <a:xfrm>
            <a:off x="10268712" y="6510528"/>
            <a:ext cx="1371600" cy="228600"/>
          </a:xfrm>
          <a:prstGeom prst="rect">
            <a:avLst/>
          </a:prstGeom>
          <a:noFill/>
        </p:spPr>
        <p:txBody>
          <a:bodyPr wrap="square" lIns="0" rIns="0" tIns="0" bIns="0" anchor="t">
            <a:spAutoFit/>
          </a:bodyPr>
          <a:lstStyle/>
          <a:p>
            <a:pPr algn="r">
              <a:spcAft>
                <a:spcPts val="0"/>
              </a:spcAft>
            </a:pPr>
            <a:r>
              <a:rPr sz="1000" b="0" i="0">
                <a:solidFill>
                  <a:srgbClr val="8A8984"/>
                </a:solidFill>
                <a:latin typeface="Calibri"/>
              </a:rPr>
              <a:t>12 / 27</a:t>
            </a:r>
          </a:p>
        </p:txBody>
      </p:sp>
      <p:sp>
        <p:nvSpPr>
          <p:cNvPr id="9" name="TextBox 8"/>
          <p:cNvSpPr txBox="1"/>
          <p:nvPr/>
        </p:nvSpPr>
        <p:spPr>
          <a:xfrm>
            <a:off x="731520" y="1627632"/>
            <a:ext cx="5029200" cy="228600"/>
          </a:xfrm>
          <a:prstGeom prst="rect">
            <a:avLst/>
          </a:prstGeom>
          <a:noFill/>
        </p:spPr>
        <p:txBody>
          <a:bodyPr wrap="square" lIns="0" rIns="0" tIns="0" bIns="0" anchor="t">
            <a:spAutoFit/>
          </a:bodyPr>
          <a:lstStyle/>
          <a:p>
            <a:pPr algn="l">
              <a:spcAft>
                <a:spcPts val="0"/>
              </a:spcAft>
            </a:pPr>
            <a:r>
              <a:rPr sz="1100" b="1" i="0">
                <a:solidFill>
                  <a:srgbClr val="8A8984"/>
                </a:solidFill>
                <a:latin typeface="Calibri"/>
              </a:rPr>
              <a:t>LIMITATION</a:t>
            </a:r>
          </a:p>
        </p:txBody>
      </p:sp>
      <p:sp>
        <p:nvSpPr>
          <p:cNvPr id="10" name="TextBox 9"/>
          <p:cNvSpPr txBox="1"/>
          <p:nvPr/>
        </p:nvSpPr>
        <p:spPr>
          <a:xfrm>
            <a:off x="6309360" y="1627632"/>
            <a:ext cx="5029200" cy="228600"/>
          </a:xfrm>
          <a:prstGeom prst="rect">
            <a:avLst/>
          </a:prstGeom>
          <a:noFill/>
        </p:spPr>
        <p:txBody>
          <a:bodyPr wrap="square" lIns="0" rIns="0" tIns="0" bIns="0" anchor="t">
            <a:spAutoFit/>
          </a:bodyPr>
          <a:lstStyle/>
          <a:p>
            <a:pPr algn="l">
              <a:spcAft>
                <a:spcPts val="0"/>
              </a:spcAft>
            </a:pPr>
            <a:r>
              <a:rPr sz="1100" b="1" i="0">
                <a:solidFill>
                  <a:srgbClr val="8A8984"/>
                </a:solidFill>
                <a:latin typeface="Calibri"/>
              </a:rPr>
              <a:t>PROPOSED NEXT STEP (NOT YET DONE)</a:t>
            </a:r>
          </a:p>
        </p:txBody>
      </p:sp>
      <p:sp>
        <p:nvSpPr>
          <p:cNvPr id="11" name="Rectangle 10"/>
          <p:cNvSpPr/>
          <p:nvPr/>
        </p:nvSpPr>
        <p:spPr>
          <a:xfrm>
            <a:off x="548640" y="1901952"/>
            <a:ext cx="5440680" cy="713232"/>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99632" y="1901952"/>
            <a:ext cx="5440680" cy="713232"/>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99632" y="1901952"/>
            <a:ext cx="73152" cy="713232"/>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1901952"/>
            <a:ext cx="5120640" cy="713232"/>
          </a:xfrm>
          <a:prstGeom prst="rect">
            <a:avLst/>
          </a:prstGeom>
          <a:noFill/>
        </p:spPr>
        <p:txBody>
          <a:bodyPr wrap="square" lIns="0" rIns="0" tIns="0" bIns="0" anchor="ctr">
            <a:spAutoFit/>
          </a:bodyPr>
          <a:lstStyle/>
          <a:p>
            <a:pPr algn="l">
              <a:spcAft>
                <a:spcPts val="0"/>
              </a:spcAft>
            </a:pPr>
            <a:r>
              <a:rPr sz="1400" b="0" i="0">
                <a:solidFill>
                  <a:srgbClr val="14171C"/>
                </a:solidFill>
                <a:latin typeface="Calibri"/>
              </a:rPr>
              <a:t>Classes come from a fixed five-year cutoff</a:t>
            </a:r>
          </a:p>
        </p:txBody>
      </p:sp>
      <p:sp>
        <p:nvSpPr>
          <p:cNvPr id="15" name="TextBox 14"/>
          <p:cNvSpPr txBox="1"/>
          <p:nvPr/>
        </p:nvSpPr>
        <p:spPr>
          <a:xfrm>
            <a:off x="6446520" y="1901952"/>
            <a:ext cx="5074920" cy="713232"/>
          </a:xfrm>
          <a:prstGeom prst="rect">
            <a:avLst/>
          </a:prstGeom>
          <a:noFill/>
        </p:spPr>
        <p:txBody>
          <a:bodyPr wrap="square" lIns="0" rIns="0" tIns="0" bIns="0" anchor="ctr">
            <a:spAutoFit/>
          </a:bodyPr>
          <a:lstStyle/>
          <a:p>
            <a:pPr algn="l">
              <a:spcAft>
                <a:spcPts val="0"/>
              </a:spcAft>
            </a:pPr>
            <a:r>
              <a:rPr sz="1400" b="0" i="0">
                <a:solidFill>
                  <a:srgbClr val="14171C"/>
                </a:solidFill>
                <a:latin typeface="Calibri"/>
              </a:rPr>
              <a:t>Model time-to-event outcomes directly (Cox, survival forests) or use several survival intervals.</a:t>
            </a:r>
          </a:p>
        </p:txBody>
      </p:sp>
      <p:cxnSp>
        <p:nvCxnSpPr>
          <p:cNvPr id="16" name="Connector 15"/>
          <p:cNvCxnSpPr/>
          <p:nvPr/>
        </p:nvCxnSpPr>
        <p:spPr>
          <a:xfrm>
            <a:off x="5989320" y="2258568"/>
            <a:ext cx="210312" cy="0"/>
          </a:xfrm>
          <a:prstGeom prst="line">
            <a:avLst/>
          </a:prstGeom>
          <a:ln w="22225">
            <a:solidFill>
              <a:srgbClr val="8A898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ectangle 16"/>
          <p:cNvSpPr/>
          <p:nvPr/>
        </p:nvSpPr>
        <p:spPr>
          <a:xfrm>
            <a:off x="548640" y="2688336"/>
            <a:ext cx="5440680" cy="713232"/>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199632" y="2688336"/>
            <a:ext cx="5440680" cy="713232"/>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99632" y="2688336"/>
            <a:ext cx="73152" cy="713232"/>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1520" y="2688336"/>
            <a:ext cx="5120640" cy="713232"/>
          </a:xfrm>
          <a:prstGeom prst="rect">
            <a:avLst/>
          </a:prstGeom>
          <a:noFill/>
        </p:spPr>
        <p:txBody>
          <a:bodyPr wrap="square" lIns="0" rIns="0" tIns="0" bIns="0" anchor="ctr">
            <a:spAutoFit/>
          </a:bodyPr>
          <a:lstStyle/>
          <a:p>
            <a:pPr algn="l">
              <a:spcAft>
                <a:spcPts val="0"/>
              </a:spcAft>
            </a:pPr>
            <a:r>
              <a:rPr sz="1400" b="0" i="0">
                <a:solidFill>
                  <a:srgbClr val="14171C"/>
                </a:solidFill>
                <a:latin typeface="Calibri"/>
              </a:rPr>
              <a:t>Rank-based filters assume normally distributed data</a:t>
            </a:r>
          </a:p>
        </p:txBody>
      </p:sp>
      <p:sp>
        <p:nvSpPr>
          <p:cNvPr id="21" name="TextBox 20"/>
          <p:cNvSpPr txBox="1"/>
          <p:nvPr/>
        </p:nvSpPr>
        <p:spPr>
          <a:xfrm>
            <a:off x="6446520" y="2688336"/>
            <a:ext cx="5074920" cy="713232"/>
          </a:xfrm>
          <a:prstGeom prst="rect">
            <a:avLst/>
          </a:prstGeom>
          <a:noFill/>
        </p:spPr>
        <p:txBody>
          <a:bodyPr wrap="square" lIns="0" rIns="0" tIns="0" bIns="0" anchor="ctr">
            <a:spAutoFit/>
          </a:bodyPr>
          <a:lstStyle/>
          <a:p>
            <a:pPr algn="l">
              <a:spcAft>
                <a:spcPts val="0"/>
              </a:spcAft>
            </a:pPr>
            <a:r>
              <a:rPr sz="1400" b="0" i="0">
                <a:solidFill>
                  <a:srgbClr val="14171C"/>
                </a:solidFill>
                <a:latin typeface="Calibri"/>
              </a:rPr>
              <a:t>Use distribution-aware ranking methods.</a:t>
            </a:r>
          </a:p>
        </p:txBody>
      </p:sp>
      <p:cxnSp>
        <p:nvCxnSpPr>
          <p:cNvPr id="22" name="Connector 21"/>
          <p:cNvCxnSpPr/>
          <p:nvPr/>
        </p:nvCxnSpPr>
        <p:spPr>
          <a:xfrm>
            <a:off x="5989320" y="3044952"/>
            <a:ext cx="210312" cy="0"/>
          </a:xfrm>
          <a:prstGeom prst="line">
            <a:avLst/>
          </a:prstGeom>
          <a:ln w="22225">
            <a:solidFill>
              <a:srgbClr val="8A8984"/>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Rectangle 22"/>
          <p:cNvSpPr/>
          <p:nvPr/>
        </p:nvSpPr>
        <p:spPr>
          <a:xfrm>
            <a:off x="548640" y="3474720"/>
            <a:ext cx="5440680" cy="713232"/>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199632" y="3474720"/>
            <a:ext cx="5440680" cy="713232"/>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199632" y="3474720"/>
            <a:ext cx="73152" cy="713232"/>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474720"/>
            <a:ext cx="5120640" cy="713232"/>
          </a:xfrm>
          <a:prstGeom prst="rect">
            <a:avLst/>
          </a:prstGeom>
          <a:noFill/>
        </p:spPr>
        <p:txBody>
          <a:bodyPr wrap="square" lIns="0" rIns="0" tIns="0" bIns="0" anchor="ctr">
            <a:spAutoFit/>
          </a:bodyPr>
          <a:lstStyle/>
          <a:p>
            <a:pPr algn="l">
              <a:spcAft>
                <a:spcPts val="0"/>
              </a:spcAft>
            </a:pPr>
            <a:r>
              <a:rPr sz="1400" b="0" i="0">
                <a:solidFill>
                  <a:srgbClr val="14171C"/>
                </a:solidFill>
                <a:latin typeface="Calibri"/>
              </a:rPr>
              <a:t>Only 302 of 1,026 patients had all four omics layers</a:t>
            </a:r>
          </a:p>
        </p:txBody>
      </p:sp>
      <p:sp>
        <p:nvSpPr>
          <p:cNvPr id="27" name="TextBox 26"/>
          <p:cNvSpPr txBox="1"/>
          <p:nvPr/>
        </p:nvSpPr>
        <p:spPr>
          <a:xfrm>
            <a:off x="6446520" y="3474720"/>
            <a:ext cx="5074920" cy="713232"/>
          </a:xfrm>
          <a:prstGeom prst="rect">
            <a:avLst/>
          </a:prstGeom>
          <a:noFill/>
        </p:spPr>
        <p:txBody>
          <a:bodyPr wrap="square" lIns="0" rIns="0" tIns="0" bIns="0" anchor="ctr">
            <a:spAutoFit/>
          </a:bodyPr>
          <a:lstStyle/>
          <a:p>
            <a:pPr algn="l">
              <a:spcAft>
                <a:spcPts val="0"/>
              </a:spcAft>
            </a:pPr>
            <a:r>
              <a:rPr sz="1400" b="0" i="0">
                <a:solidFill>
                  <a:srgbClr val="14171C"/>
                </a:solidFill>
                <a:latin typeface="Calibri"/>
              </a:rPr>
              <a:t>Integrate with missing modalities (MOFA-style latent factors) to use more patients.</a:t>
            </a:r>
          </a:p>
        </p:txBody>
      </p:sp>
      <p:cxnSp>
        <p:nvCxnSpPr>
          <p:cNvPr id="28" name="Connector 27"/>
          <p:cNvCxnSpPr/>
          <p:nvPr/>
        </p:nvCxnSpPr>
        <p:spPr>
          <a:xfrm>
            <a:off x="5989320" y="3831335"/>
            <a:ext cx="210312" cy="0"/>
          </a:xfrm>
          <a:prstGeom prst="line">
            <a:avLst/>
          </a:prstGeom>
          <a:ln w="22225">
            <a:solidFill>
              <a:srgbClr val="8A8984"/>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Rectangle 28"/>
          <p:cNvSpPr/>
          <p:nvPr/>
        </p:nvSpPr>
        <p:spPr>
          <a:xfrm>
            <a:off x="548640" y="4261104"/>
            <a:ext cx="5440680" cy="713232"/>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199632" y="4261104"/>
            <a:ext cx="5440680" cy="713232"/>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199632" y="4261104"/>
            <a:ext cx="73152" cy="713232"/>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31520" y="4261104"/>
            <a:ext cx="5120640" cy="713232"/>
          </a:xfrm>
          <a:prstGeom prst="rect">
            <a:avLst/>
          </a:prstGeom>
          <a:noFill/>
        </p:spPr>
        <p:txBody>
          <a:bodyPr wrap="square" lIns="0" rIns="0" tIns="0" bIns="0" anchor="ctr">
            <a:spAutoFit/>
          </a:bodyPr>
          <a:lstStyle/>
          <a:p>
            <a:pPr algn="l">
              <a:spcAft>
                <a:spcPts val="0"/>
              </a:spcAft>
            </a:pPr>
            <a:r>
              <a:rPr sz="1400" b="0" i="0">
                <a:solidFill>
                  <a:srgbClr val="14171C"/>
                </a:solidFill>
                <a:latin typeface="Calibri"/>
              </a:rPr>
              <a:t>One cohort and a 46-patient test set</a:t>
            </a:r>
          </a:p>
        </p:txBody>
      </p:sp>
      <p:sp>
        <p:nvSpPr>
          <p:cNvPr id="33" name="TextBox 32"/>
          <p:cNvSpPr txBox="1"/>
          <p:nvPr/>
        </p:nvSpPr>
        <p:spPr>
          <a:xfrm>
            <a:off x="6446520" y="4261104"/>
            <a:ext cx="5074920" cy="713232"/>
          </a:xfrm>
          <a:prstGeom prst="rect">
            <a:avLst/>
          </a:prstGeom>
          <a:noFill/>
        </p:spPr>
        <p:txBody>
          <a:bodyPr wrap="square" lIns="0" rIns="0" tIns="0" bIns="0" anchor="ctr">
            <a:spAutoFit/>
          </a:bodyPr>
          <a:lstStyle/>
          <a:p>
            <a:pPr algn="l">
              <a:spcAft>
                <a:spcPts val="0"/>
              </a:spcAft>
            </a:pPr>
            <a:r>
              <a:rPr sz="1400" b="0" i="0">
                <a:solidFill>
                  <a:srgbClr val="14171C"/>
                </a:solidFill>
                <a:latin typeface="Calibri"/>
              </a:rPr>
              <a:t>Validate on an independent cohort such as METABRIC and report confidence intervals.</a:t>
            </a:r>
          </a:p>
        </p:txBody>
      </p:sp>
      <p:cxnSp>
        <p:nvCxnSpPr>
          <p:cNvPr id="34" name="Connector 33"/>
          <p:cNvCxnSpPr/>
          <p:nvPr/>
        </p:nvCxnSpPr>
        <p:spPr>
          <a:xfrm>
            <a:off x="5989320" y="4617720"/>
            <a:ext cx="210312" cy="0"/>
          </a:xfrm>
          <a:prstGeom prst="line">
            <a:avLst/>
          </a:prstGeom>
          <a:ln w="22225">
            <a:solidFill>
              <a:srgbClr val="8A8984"/>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ectangle 34"/>
          <p:cNvSpPr/>
          <p:nvPr/>
        </p:nvSpPr>
        <p:spPr>
          <a:xfrm>
            <a:off x="548640" y="5047488"/>
            <a:ext cx="5440680" cy="713232"/>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199632" y="5047488"/>
            <a:ext cx="5440680" cy="713232"/>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6199632" y="5047488"/>
            <a:ext cx="73152" cy="713232"/>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31520" y="5047488"/>
            <a:ext cx="5120640" cy="713232"/>
          </a:xfrm>
          <a:prstGeom prst="rect">
            <a:avLst/>
          </a:prstGeom>
          <a:noFill/>
        </p:spPr>
        <p:txBody>
          <a:bodyPr wrap="square" lIns="0" rIns="0" tIns="0" bIns="0" anchor="ctr">
            <a:spAutoFit/>
          </a:bodyPr>
          <a:lstStyle/>
          <a:p>
            <a:pPr algn="l">
              <a:spcAft>
                <a:spcPts val="0"/>
              </a:spcAft>
            </a:pPr>
            <a:r>
              <a:rPr sz="1400" b="0" i="0">
                <a:solidFill>
                  <a:srgbClr val="14171C"/>
                </a:solidFill>
                <a:latin typeface="Calibri"/>
              </a:rPr>
              <a:t>Biomarkers are computational findings</a:t>
            </a:r>
          </a:p>
        </p:txBody>
      </p:sp>
      <p:sp>
        <p:nvSpPr>
          <p:cNvPr id="39" name="TextBox 38"/>
          <p:cNvSpPr txBox="1"/>
          <p:nvPr/>
        </p:nvSpPr>
        <p:spPr>
          <a:xfrm>
            <a:off x="6446520" y="5047488"/>
            <a:ext cx="5074920" cy="713232"/>
          </a:xfrm>
          <a:prstGeom prst="rect">
            <a:avLst/>
          </a:prstGeom>
          <a:noFill/>
        </p:spPr>
        <p:txBody>
          <a:bodyPr wrap="square" lIns="0" rIns="0" tIns="0" bIns="0" anchor="ctr">
            <a:spAutoFit/>
          </a:bodyPr>
          <a:lstStyle/>
          <a:p>
            <a:pPr algn="l">
              <a:spcAft>
                <a:spcPts val="0"/>
              </a:spcAft>
            </a:pPr>
            <a:r>
              <a:rPr sz="1400" b="0" i="0">
                <a:solidFill>
                  <a:srgbClr val="14171C"/>
                </a:solidFill>
                <a:latin typeface="Calibri"/>
              </a:rPr>
              <a:t>Prioritise by network evidence, then test with knockout experiments.</a:t>
            </a:r>
          </a:p>
        </p:txBody>
      </p:sp>
      <p:cxnSp>
        <p:nvCxnSpPr>
          <p:cNvPr id="40" name="Connector 39"/>
          <p:cNvCxnSpPr/>
          <p:nvPr/>
        </p:nvCxnSpPr>
        <p:spPr>
          <a:xfrm>
            <a:off x="5989320" y="5404103"/>
            <a:ext cx="210312" cy="0"/>
          </a:xfrm>
          <a:prstGeom prst="line">
            <a:avLst/>
          </a:prstGeom>
          <a:ln w="22225">
            <a:solidFill>
              <a:srgbClr val="8A8984"/>
            </a:solidFill>
            <a:tailEnd type="triangle" w="med" len="med"/>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E2A47"/>
        </a:solidFill>
        <a:effectLst/>
      </p:bgPr>
    </p:bg>
    <p:spTree>
      <p:nvGrpSpPr>
        <p:cNvPr id="1" name=""/>
        <p:cNvGrpSpPr/>
        <p:nvPr/>
      </p:nvGrpSpPr>
      <p:grpSpPr/>
      <p:sp>
        <p:nvSpPr>
          <p:cNvPr id="2" name="TextBox 1"/>
          <p:cNvSpPr txBox="1"/>
          <p:nvPr/>
        </p:nvSpPr>
        <p:spPr>
          <a:xfrm>
            <a:off x="731520" y="1097280"/>
            <a:ext cx="7315200" cy="274320"/>
          </a:xfrm>
          <a:prstGeom prst="rect">
            <a:avLst/>
          </a:prstGeom>
          <a:noFill/>
        </p:spPr>
        <p:txBody>
          <a:bodyPr wrap="square" lIns="0" rIns="0" tIns="0" bIns="0" anchor="t">
            <a:spAutoFit/>
          </a:bodyPr>
          <a:lstStyle/>
          <a:p>
            <a:pPr algn="l">
              <a:spcAft>
                <a:spcPts val="0"/>
              </a:spcAft>
            </a:pPr>
            <a:r>
              <a:rPr sz="1200" b="1" i="0">
                <a:solidFill>
                  <a:srgbClr val="A9C7F0"/>
                </a:solidFill>
                <a:latin typeface="Calibri"/>
              </a:rPr>
              <a:t>PART 2 OF 3</a:t>
            </a:r>
          </a:p>
        </p:txBody>
      </p:sp>
      <p:sp>
        <p:nvSpPr>
          <p:cNvPr id="3" name="TextBox 2"/>
          <p:cNvSpPr txBox="1"/>
          <p:nvPr/>
        </p:nvSpPr>
        <p:spPr>
          <a:xfrm>
            <a:off x="731520" y="1554480"/>
            <a:ext cx="10515600" cy="1645920"/>
          </a:xfrm>
          <a:prstGeom prst="rect">
            <a:avLst/>
          </a:prstGeom>
          <a:noFill/>
        </p:spPr>
        <p:txBody>
          <a:bodyPr wrap="square" lIns="0" rIns="0" tIns="0" bIns="0" anchor="t">
            <a:spAutoFit/>
          </a:bodyPr>
          <a:lstStyle/>
          <a:p>
            <a:pPr algn="l">
              <a:lnSpc>
                <a:spcPct val="95000"/>
              </a:lnSpc>
              <a:spcAft>
                <a:spcPts val="0"/>
              </a:spcAft>
            </a:pPr>
            <a:r>
              <a:rPr sz="4000" b="1" i="0">
                <a:solidFill>
                  <a:srgbClr val="FFFFFF"/>
                </a:solidFill>
                <a:latin typeface="Calibri"/>
              </a:rPr>
              <a:t>Chromatin accessibility in drought-stressed rice</a:t>
            </a:r>
          </a:p>
        </p:txBody>
      </p:sp>
      <p:sp>
        <p:nvSpPr>
          <p:cNvPr id="4" name="TextBox 3"/>
          <p:cNvSpPr txBox="1"/>
          <p:nvPr/>
        </p:nvSpPr>
        <p:spPr>
          <a:xfrm>
            <a:off x="731520" y="3291840"/>
            <a:ext cx="8686800" cy="914400"/>
          </a:xfrm>
          <a:prstGeom prst="rect">
            <a:avLst/>
          </a:prstGeom>
          <a:noFill/>
        </p:spPr>
        <p:txBody>
          <a:bodyPr wrap="square" lIns="0" rIns="0" tIns="0" bIns="0" anchor="t">
            <a:spAutoFit/>
          </a:bodyPr>
          <a:lstStyle/>
          <a:p>
            <a:pPr algn="l">
              <a:spcAft>
                <a:spcPts val="0"/>
              </a:spcAft>
            </a:pPr>
            <a:r>
              <a:rPr sz="1800" b="0" i="0">
                <a:solidFill>
                  <a:srgbClr val="D5DEEA"/>
                </a:solidFill>
                <a:latin typeface="Calibri"/>
              </a:rPr>
              <a:t>Co-author work mapping open chromatin in a sensitive and a tolerant cultivar, with a Bash and Python analysis pipeline.</a:t>
            </a:r>
          </a:p>
        </p:txBody>
      </p:sp>
      <p:sp>
        <p:nvSpPr>
          <p:cNvPr id="5" name="Rectangle 4"/>
          <p:cNvSpPr/>
          <p:nvPr/>
        </p:nvSpPr>
        <p:spPr>
          <a:xfrm>
            <a:off x="731520" y="4434840"/>
            <a:ext cx="548640" cy="36576"/>
          </a:xfrm>
          <a:prstGeom prst="rect">
            <a:avLst/>
          </a:prstGeom>
          <a:solidFill>
            <a:srgbClr val="A9C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4663440"/>
            <a:ext cx="3291840" cy="640080"/>
          </a:xfrm>
          <a:prstGeom prst="rect">
            <a:avLst/>
          </a:prstGeom>
          <a:noFill/>
        </p:spPr>
        <p:txBody>
          <a:bodyPr wrap="square" lIns="0" rIns="0" tIns="0" bIns="0" anchor="t">
            <a:spAutoFit/>
          </a:bodyPr>
          <a:lstStyle/>
          <a:p>
            <a:pPr algn="l">
              <a:spcAft>
                <a:spcPts val="0"/>
              </a:spcAft>
            </a:pPr>
            <a:r>
              <a:rPr sz="3400" b="1" i="0">
                <a:solidFill>
                  <a:srgbClr val="FFFFFF"/>
                </a:solidFill>
                <a:latin typeface="Calibri"/>
              </a:rPr>
              <a:t>21–36k</a:t>
            </a:r>
          </a:p>
        </p:txBody>
      </p:sp>
      <p:sp>
        <p:nvSpPr>
          <p:cNvPr id="7" name="TextBox 6"/>
          <p:cNvSpPr txBox="1"/>
          <p:nvPr/>
        </p:nvSpPr>
        <p:spPr>
          <a:xfrm>
            <a:off x="731520" y="5349240"/>
            <a:ext cx="3200400" cy="548640"/>
          </a:xfrm>
          <a:prstGeom prst="rect">
            <a:avLst/>
          </a:prstGeom>
          <a:noFill/>
        </p:spPr>
        <p:txBody>
          <a:bodyPr wrap="square" lIns="0" rIns="0" tIns="0" bIns="0" anchor="t">
            <a:spAutoFit/>
          </a:bodyPr>
          <a:lstStyle/>
          <a:p>
            <a:pPr algn="l">
              <a:spcAft>
                <a:spcPts val="0"/>
              </a:spcAft>
            </a:pPr>
            <a:r>
              <a:rPr sz="1400" b="0" i="0">
                <a:solidFill>
                  <a:srgbClr val="D5DEEA"/>
                </a:solidFill>
                <a:latin typeface="Calibri"/>
              </a:rPr>
              <a:t>open-chromatin sites per sample</a:t>
            </a:r>
          </a:p>
        </p:txBody>
      </p:sp>
      <p:sp>
        <p:nvSpPr>
          <p:cNvPr id="8" name="TextBox 7"/>
          <p:cNvSpPr txBox="1"/>
          <p:nvPr/>
        </p:nvSpPr>
        <p:spPr>
          <a:xfrm>
            <a:off x="4297680" y="4663440"/>
            <a:ext cx="3291840" cy="640080"/>
          </a:xfrm>
          <a:prstGeom prst="rect">
            <a:avLst/>
          </a:prstGeom>
          <a:noFill/>
        </p:spPr>
        <p:txBody>
          <a:bodyPr wrap="square" lIns="0" rIns="0" tIns="0" bIns="0" anchor="t">
            <a:spAutoFit/>
          </a:bodyPr>
          <a:lstStyle/>
          <a:p>
            <a:pPr algn="l">
              <a:spcAft>
                <a:spcPts val="0"/>
              </a:spcAft>
            </a:pPr>
            <a:r>
              <a:rPr sz="3400" b="1" i="0">
                <a:solidFill>
                  <a:srgbClr val="FFFFFF"/>
                </a:solidFill>
                <a:latin typeface="Calibri"/>
              </a:rPr>
              <a:t>98.6%</a:t>
            </a:r>
          </a:p>
        </p:txBody>
      </p:sp>
      <p:sp>
        <p:nvSpPr>
          <p:cNvPr id="9" name="TextBox 8"/>
          <p:cNvSpPr txBox="1"/>
          <p:nvPr/>
        </p:nvSpPr>
        <p:spPr>
          <a:xfrm>
            <a:off x="4297680" y="5349240"/>
            <a:ext cx="3200400" cy="548640"/>
          </a:xfrm>
          <a:prstGeom prst="rect">
            <a:avLst/>
          </a:prstGeom>
          <a:noFill/>
        </p:spPr>
        <p:txBody>
          <a:bodyPr wrap="square" lIns="0" rIns="0" tIns="0" bIns="0" anchor="t">
            <a:spAutoFit/>
          </a:bodyPr>
          <a:lstStyle/>
          <a:p>
            <a:pPr algn="l">
              <a:spcAft>
                <a:spcPts val="0"/>
              </a:spcAft>
            </a:pPr>
            <a:r>
              <a:rPr sz="1400" b="0" i="0">
                <a:solidFill>
                  <a:srgbClr val="D5DEEA"/>
                </a:solidFill>
                <a:latin typeface="Calibri"/>
              </a:rPr>
              <a:t>of N22 drought-responsive sites gained accessibility</a:t>
            </a:r>
          </a:p>
        </p:txBody>
      </p:sp>
      <p:sp>
        <p:nvSpPr>
          <p:cNvPr id="10" name="TextBox 9"/>
          <p:cNvSpPr txBox="1"/>
          <p:nvPr/>
        </p:nvSpPr>
        <p:spPr>
          <a:xfrm>
            <a:off x="7863840" y="4663440"/>
            <a:ext cx="3291840" cy="640080"/>
          </a:xfrm>
          <a:prstGeom prst="rect">
            <a:avLst/>
          </a:prstGeom>
          <a:noFill/>
        </p:spPr>
        <p:txBody>
          <a:bodyPr wrap="square" lIns="0" rIns="0" tIns="0" bIns="0" anchor="t">
            <a:spAutoFit/>
          </a:bodyPr>
          <a:lstStyle/>
          <a:p>
            <a:pPr algn="l">
              <a:spcAft>
                <a:spcPts val="0"/>
              </a:spcAft>
            </a:pPr>
            <a:r>
              <a:rPr sz="3400" b="1" i="0">
                <a:solidFill>
                  <a:srgbClr val="FFFFFF"/>
                </a:solidFill>
                <a:latin typeface="Calibri"/>
              </a:rPr>
              <a:t>13</a:t>
            </a:r>
          </a:p>
        </p:txBody>
      </p:sp>
      <p:sp>
        <p:nvSpPr>
          <p:cNvPr id="11" name="TextBox 10"/>
          <p:cNvSpPr txBox="1"/>
          <p:nvPr/>
        </p:nvSpPr>
        <p:spPr>
          <a:xfrm>
            <a:off x="7863840" y="5349240"/>
            <a:ext cx="3200400" cy="548640"/>
          </a:xfrm>
          <a:prstGeom prst="rect">
            <a:avLst/>
          </a:prstGeom>
          <a:noFill/>
        </p:spPr>
        <p:txBody>
          <a:bodyPr wrap="square" lIns="0" rIns="0" tIns="0" bIns="0" anchor="t">
            <a:spAutoFit/>
          </a:bodyPr>
          <a:lstStyle/>
          <a:p>
            <a:pPr algn="l">
              <a:spcAft>
                <a:spcPts val="0"/>
              </a:spcAft>
            </a:pPr>
            <a:r>
              <a:rPr sz="1400" b="0" i="0">
                <a:solidFill>
                  <a:srgbClr val="D5DEEA"/>
                </a:solidFill>
                <a:latin typeface="Calibri"/>
              </a:rPr>
              <a:t>candidate genes confirmed by RT‑qPCR</a:t>
            </a:r>
          </a:p>
        </p:txBody>
      </p:sp>
      <p:sp>
        <p:nvSpPr>
          <p:cNvPr id="12" name="TextBox 11"/>
          <p:cNvSpPr txBox="1"/>
          <p:nvPr/>
        </p:nvSpPr>
        <p:spPr>
          <a:xfrm>
            <a:off x="548640" y="6510528"/>
            <a:ext cx="6400800" cy="228600"/>
          </a:xfrm>
          <a:prstGeom prst="rect">
            <a:avLst/>
          </a:prstGeom>
          <a:noFill/>
        </p:spPr>
        <p:txBody>
          <a:bodyPr wrap="square" lIns="0" rIns="0" tIns="0" bIns="0" anchor="t">
            <a:spAutoFit/>
          </a:bodyPr>
          <a:lstStyle/>
          <a:p>
            <a:pPr algn="l">
              <a:spcAft>
                <a:spcPts val="0"/>
              </a:spcAft>
            </a:pPr>
            <a:r>
              <a:rPr sz="1000" b="0" i="0">
                <a:solidFill>
                  <a:srgbClr val="8A8984"/>
                </a:solidFill>
                <a:latin typeface="Calibri"/>
              </a:rPr>
              <a:t>Kunal Tembhare  ·  Computational biology and multi-omics ML</a:t>
            </a:r>
          </a:p>
        </p:txBody>
      </p:sp>
      <p:sp>
        <p:nvSpPr>
          <p:cNvPr id="13" name="TextBox 12"/>
          <p:cNvSpPr txBox="1"/>
          <p:nvPr/>
        </p:nvSpPr>
        <p:spPr>
          <a:xfrm>
            <a:off x="10268712" y="6510528"/>
            <a:ext cx="1371600" cy="228600"/>
          </a:xfrm>
          <a:prstGeom prst="rect">
            <a:avLst/>
          </a:prstGeom>
          <a:noFill/>
        </p:spPr>
        <p:txBody>
          <a:bodyPr wrap="square" lIns="0" rIns="0" tIns="0" bIns="0" anchor="t">
            <a:spAutoFit/>
          </a:bodyPr>
          <a:lstStyle/>
          <a:p>
            <a:pPr algn="r">
              <a:spcAft>
                <a:spcPts val="0"/>
              </a:spcAft>
            </a:pPr>
            <a:r>
              <a:rPr sz="1000" b="0" i="0">
                <a:solidFill>
                  <a:srgbClr val="8A8984"/>
                </a:solidFill>
                <a:latin typeface="Calibri"/>
              </a:rPr>
              <a:t>13 / 27</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48640" y="347472"/>
            <a:ext cx="8229600" cy="274320"/>
          </a:xfrm>
          <a:prstGeom prst="rect">
            <a:avLst/>
          </a:prstGeom>
          <a:noFill/>
        </p:spPr>
        <p:txBody>
          <a:bodyPr wrap="square" lIns="0" rIns="0" tIns="0" bIns="0" anchor="t">
            <a:spAutoFit/>
          </a:bodyPr>
          <a:lstStyle/>
          <a:p>
            <a:pPr algn="l">
              <a:spcAft>
                <a:spcPts val="0"/>
              </a:spcAft>
            </a:pPr>
            <a:r>
              <a:rPr sz="1200" b="1" i="0">
                <a:solidFill>
                  <a:srgbClr val="1F5FAE"/>
                </a:solidFill>
                <a:latin typeface="Calibri"/>
              </a:rPr>
              <a:t>CHROMATIN ACCESSIBILITY  ·  QUESTION AND DESIGN</a:t>
            </a:r>
          </a:p>
        </p:txBody>
      </p:sp>
      <p:sp>
        <p:nvSpPr>
          <p:cNvPr id="3" name="TextBox 2"/>
          <p:cNvSpPr txBox="1"/>
          <p:nvPr/>
        </p:nvSpPr>
        <p:spPr>
          <a:xfrm>
            <a:off x="548640" y="621792"/>
            <a:ext cx="11091672" cy="914400"/>
          </a:xfrm>
          <a:prstGeom prst="rect">
            <a:avLst/>
          </a:prstGeom>
          <a:noFill/>
        </p:spPr>
        <p:txBody>
          <a:bodyPr wrap="square" lIns="0" rIns="0" tIns="0" bIns="0" anchor="t">
            <a:spAutoFit/>
          </a:bodyPr>
          <a:lstStyle/>
          <a:p>
            <a:pPr algn="l">
              <a:lnSpc>
                <a:spcPct val="95000"/>
              </a:lnSpc>
              <a:spcAft>
                <a:spcPts val="0"/>
              </a:spcAft>
            </a:pPr>
            <a:r>
              <a:rPr sz="2600" b="1" i="0">
                <a:solidFill>
                  <a:srgbClr val="0E2A47"/>
                </a:solidFill>
                <a:latin typeface="Calibri"/>
              </a:rPr>
              <a:t>Two cultivars, two conditions: can open chromatin explain drought tolerance?</a:t>
            </a:r>
          </a:p>
        </p:txBody>
      </p:sp>
      <p:sp>
        <p:nvSpPr>
          <p:cNvPr id="4" name="Rectangle 3"/>
          <p:cNvSpPr/>
          <p:nvPr/>
        </p:nvSpPr>
        <p:spPr>
          <a:xfrm>
            <a:off x="548640" y="6108192"/>
            <a:ext cx="11091672" cy="329184"/>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6108192"/>
            <a:ext cx="64008" cy="329184"/>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108192"/>
            <a:ext cx="10817352" cy="329184"/>
          </a:xfrm>
          <a:prstGeom prst="rect">
            <a:avLst/>
          </a:prstGeom>
          <a:noFill/>
        </p:spPr>
        <p:txBody>
          <a:bodyPr wrap="square" lIns="0" rIns="0" tIns="0" bIns="0" anchor="ctr">
            <a:spAutoFit/>
          </a:bodyPr>
          <a:lstStyle/>
          <a:p>
            <a:pPr algn="l">
              <a:spcAft>
                <a:spcPts val="0"/>
              </a:spcAft>
            </a:pPr>
            <a:r>
              <a:rPr sz="1100" b="1" i="0">
                <a:solidFill>
                  <a:srgbClr val="1F5FAE"/>
                </a:solidFill>
                <a:latin typeface="Calibri"/>
              </a:rPr>
              <a:t>ROLE LINK   </a:t>
            </a:r>
            <a:r>
              <a:rPr sz="1300" b="0" i="0">
                <a:solidFill>
                  <a:srgbClr val="52514E"/>
                </a:solidFill>
                <a:latin typeface="Calibri"/>
              </a:rPr>
              <a:t>Translating a biological question into a well-defined analytical strategy</a:t>
            </a:r>
          </a:p>
        </p:txBody>
      </p:sp>
      <p:sp>
        <p:nvSpPr>
          <p:cNvPr id="7" name="TextBox 6"/>
          <p:cNvSpPr txBox="1"/>
          <p:nvPr/>
        </p:nvSpPr>
        <p:spPr>
          <a:xfrm>
            <a:off x="548640" y="6510528"/>
            <a:ext cx="6400800" cy="228600"/>
          </a:xfrm>
          <a:prstGeom prst="rect">
            <a:avLst/>
          </a:prstGeom>
          <a:noFill/>
        </p:spPr>
        <p:txBody>
          <a:bodyPr wrap="square" lIns="0" rIns="0" tIns="0" bIns="0" anchor="t">
            <a:spAutoFit/>
          </a:bodyPr>
          <a:lstStyle/>
          <a:p>
            <a:pPr algn="l">
              <a:spcAft>
                <a:spcPts val="0"/>
              </a:spcAft>
            </a:pPr>
            <a:r>
              <a:rPr sz="1000" b="0" i="0">
                <a:solidFill>
                  <a:srgbClr val="8A8984"/>
                </a:solidFill>
                <a:latin typeface="Calibri"/>
              </a:rPr>
              <a:t>Kunal Tembhare  ·  Computational biology and multi-omics ML</a:t>
            </a:r>
          </a:p>
        </p:txBody>
      </p:sp>
      <p:sp>
        <p:nvSpPr>
          <p:cNvPr id="8" name="TextBox 7"/>
          <p:cNvSpPr txBox="1"/>
          <p:nvPr/>
        </p:nvSpPr>
        <p:spPr>
          <a:xfrm>
            <a:off x="10268712" y="6510528"/>
            <a:ext cx="1371600" cy="228600"/>
          </a:xfrm>
          <a:prstGeom prst="rect">
            <a:avLst/>
          </a:prstGeom>
          <a:noFill/>
        </p:spPr>
        <p:txBody>
          <a:bodyPr wrap="square" lIns="0" rIns="0" tIns="0" bIns="0" anchor="t">
            <a:spAutoFit/>
          </a:bodyPr>
          <a:lstStyle/>
          <a:p>
            <a:pPr algn="r">
              <a:spcAft>
                <a:spcPts val="0"/>
              </a:spcAft>
            </a:pPr>
            <a:r>
              <a:rPr sz="1000" b="0" i="0">
                <a:solidFill>
                  <a:srgbClr val="8A8984"/>
                </a:solidFill>
                <a:latin typeface="Calibri"/>
              </a:rPr>
              <a:t>14 / 27</a:t>
            </a:r>
          </a:p>
        </p:txBody>
      </p:sp>
      <p:sp>
        <p:nvSpPr>
          <p:cNvPr id="9" name="Rectangle 8"/>
          <p:cNvSpPr/>
          <p:nvPr/>
        </p:nvSpPr>
        <p:spPr>
          <a:xfrm>
            <a:off x="548640" y="1691640"/>
            <a:ext cx="5486400" cy="192024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691640"/>
            <a:ext cx="73152" cy="1920240"/>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59" y="1856232"/>
            <a:ext cx="5029200" cy="320040"/>
          </a:xfrm>
          <a:prstGeom prst="rect">
            <a:avLst/>
          </a:prstGeom>
          <a:noFill/>
        </p:spPr>
        <p:txBody>
          <a:bodyPr wrap="square" lIns="0" rIns="0" tIns="0" bIns="0" anchor="t">
            <a:spAutoFit/>
          </a:bodyPr>
          <a:lstStyle/>
          <a:p>
            <a:pPr algn="l">
              <a:spcAft>
                <a:spcPts val="0"/>
              </a:spcAft>
            </a:pPr>
            <a:r>
              <a:rPr sz="1700" b="1" i="0">
                <a:solidFill>
                  <a:srgbClr val="0E2A47"/>
                </a:solidFill>
                <a:latin typeface="Calibri"/>
              </a:rPr>
              <a:t>Why accessibility matters</a:t>
            </a:r>
          </a:p>
        </p:txBody>
      </p:sp>
      <p:sp>
        <p:nvSpPr>
          <p:cNvPr id="12" name="TextBox 11"/>
          <p:cNvSpPr txBox="1"/>
          <p:nvPr/>
        </p:nvSpPr>
        <p:spPr>
          <a:xfrm>
            <a:off x="822959" y="2286000"/>
            <a:ext cx="4983480" cy="1280160"/>
          </a:xfrm>
          <a:prstGeom prst="rect">
            <a:avLst/>
          </a:prstGeom>
          <a:noFill/>
        </p:spPr>
        <p:txBody>
          <a:bodyPr wrap="square" lIns="0" rIns="0" tIns="0" bIns="0" anchor="t">
            <a:spAutoFit/>
          </a:bodyPr>
          <a:lstStyle/>
          <a:p>
            <a:pPr algn="l">
              <a:spcAft>
                <a:spcPts val="0"/>
              </a:spcAft>
            </a:pPr>
            <a:r>
              <a:rPr sz="1450" b="0" i="0">
                <a:solidFill>
                  <a:srgbClr val="14171C"/>
                </a:solidFill>
                <a:latin typeface="Calibri"/>
              </a:rPr>
              <a:t>Whether transcription factors can reach their cis-regulatory elements depends on local chromatin structure. Open regions are where regulation happens.</a:t>
            </a:r>
          </a:p>
        </p:txBody>
      </p:sp>
      <p:sp>
        <p:nvSpPr>
          <p:cNvPr id="13" name="Rectangle 12"/>
          <p:cNvSpPr/>
          <p:nvPr/>
        </p:nvSpPr>
        <p:spPr>
          <a:xfrm>
            <a:off x="548640" y="3749039"/>
            <a:ext cx="5486400" cy="192024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48640" y="3749039"/>
            <a:ext cx="73152" cy="1920240"/>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59" y="3913631"/>
            <a:ext cx="5029200" cy="320040"/>
          </a:xfrm>
          <a:prstGeom prst="rect">
            <a:avLst/>
          </a:prstGeom>
          <a:noFill/>
        </p:spPr>
        <p:txBody>
          <a:bodyPr wrap="square" lIns="0" rIns="0" tIns="0" bIns="0" anchor="t">
            <a:spAutoFit/>
          </a:bodyPr>
          <a:lstStyle/>
          <a:p>
            <a:pPr algn="l">
              <a:spcAft>
                <a:spcPts val="0"/>
              </a:spcAft>
            </a:pPr>
            <a:r>
              <a:rPr sz="1700" b="1" i="0">
                <a:solidFill>
                  <a:srgbClr val="0E2A47"/>
                </a:solidFill>
                <a:latin typeface="Calibri"/>
              </a:rPr>
              <a:t>Why these two cultivars</a:t>
            </a:r>
          </a:p>
        </p:txBody>
      </p:sp>
      <p:sp>
        <p:nvSpPr>
          <p:cNvPr id="16" name="TextBox 15"/>
          <p:cNvSpPr txBox="1"/>
          <p:nvPr/>
        </p:nvSpPr>
        <p:spPr>
          <a:xfrm>
            <a:off x="822959" y="4343400"/>
            <a:ext cx="4983480" cy="1280160"/>
          </a:xfrm>
          <a:prstGeom prst="rect">
            <a:avLst/>
          </a:prstGeom>
          <a:noFill/>
        </p:spPr>
        <p:txBody>
          <a:bodyPr wrap="square" lIns="0" rIns="0" tIns="0" bIns="0" anchor="t">
            <a:spAutoFit/>
          </a:bodyPr>
          <a:lstStyle/>
          <a:p>
            <a:pPr algn="l">
              <a:spcAft>
                <a:spcPts val="0"/>
              </a:spcAft>
            </a:pPr>
            <a:r>
              <a:rPr sz="1450" b="0" i="0">
                <a:solidFill>
                  <a:srgbClr val="14171C"/>
                </a:solidFill>
                <a:latin typeface="Calibri"/>
              </a:rPr>
              <a:t>IR64 is high yielding but drought sensitive. N22 is deep rooted, drought tolerant and used as a donor for breeding. Under drought, chlorophyll fell about 29% in N22 against about 45% in IR64.</a:t>
            </a:r>
          </a:p>
        </p:txBody>
      </p:sp>
      <p:sp>
        <p:nvSpPr>
          <p:cNvPr id="17" name="TextBox 16"/>
          <p:cNvSpPr txBox="1"/>
          <p:nvPr/>
        </p:nvSpPr>
        <p:spPr>
          <a:xfrm>
            <a:off x="6309360" y="1645920"/>
            <a:ext cx="5303520" cy="228600"/>
          </a:xfrm>
          <a:prstGeom prst="rect">
            <a:avLst/>
          </a:prstGeom>
          <a:noFill/>
        </p:spPr>
        <p:txBody>
          <a:bodyPr wrap="square" lIns="0" rIns="0" tIns="0" bIns="0" anchor="t">
            <a:spAutoFit/>
          </a:bodyPr>
          <a:lstStyle/>
          <a:p>
            <a:pPr algn="l">
              <a:spcAft>
                <a:spcPts val="0"/>
              </a:spcAft>
            </a:pPr>
            <a:r>
              <a:rPr sz="1100" b="1" i="0">
                <a:solidFill>
                  <a:srgbClr val="8A8984"/>
                </a:solidFill>
                <a:latin typeface="Calibri"/>
              </a:rPr>
              <a:t>EXPERIMENTAL DESIGN</a:t>
            </a:r>
          </a:p>
        </p:txBody>
      </p:sp>
      <p:sp>
        <p:nvSpPr>
          <p:cNvPr id="18" name="TextBox 17"/>
          <p:cNvSpPr txBox="1"/>
          <p:nvPr/>
        </p:nvSpPr>
        <p:spPr>
          <a:xfrm>
            <a:off x="7269480" y="1965960"/>
            <a:ext cx="2148840" cy="274320"/>
          </a:xfrm>
          <a:prstGeom prst="rect">
            <a:avLst/>
          </a:prstGeom>
          <a:noFill/>
        </p:spPr>
        <p:txBody>
          <a:bodyPr wrap="square" lIns="0" rIns="0" tIns="0" bIns="0" anchor="t">
            <a:spAutoFit/>
          </a:bodyPr>
          <a:lstStyle/>
          <a:p>
            <a:pPr algn="l">
              <a:spcAft>
                <a:spcPts val="0"/>
              </a:spcAft>
            </a:pPr>
            <a:r>
              <a:rPr sz="1300" b="1" i="0">
                <a:solidFill>
                  <a:srgbClr val="52514E"/>
                </a:solidFill>
                <a:latin typeface="Calibri"/>
              </a:rPr>
              <a:t>Control</a:t>
            </a:r>
          </a:p>
        </p:txBody>
      </p:sp>
      <p:sp>
        <p:nvSpPr>
          <p:cNvPr id="19" name="TextBox 18"/>
          <p:cNvSpPr txBox="1"/>
          <p:nvPr/>
        </p:nvSpPr>
        <p:spPr>
          <a:xfrm>
            <a:off x="9509760" y="1965960"/>
            <a:ext cx="2130552" cy="274320"/>
          </a:xfrm>
          <a:prstGeom prst="rect">
            <a:avLst/>
          </a:prstGeom>
          <a:noFill/>
        </p:spPr>
        <p:txBody>
          <a:bodyPr wrap="square" lIns="0" rIns="0" tIns="0" bIns="0" anchor="t">
            <a:spAutoFit/>
          </a:bodyPr>
          <a:lstStyle/>
          <a:p>
            <a:pPr algn="l">
              <a:spcAft>
                <a:spcPts val="0"/>
              </a:spcAft>
            </a:pPr>
            <a:r>
              <a:rPr sz="1300" b="1" i="0">
                <a:solidFill>
                  <a:srgbClr val="52514E"/>
                </a:solidFill>
                <a:latin typeface="Calibri"/>
              </a:rPr>
              <a:t>Drought (6 h, 20% PEG 6000)</a:t>
            </a:r>
          </a:p>
        </p:txBody>
      </p:sp>
      <p:sp>
        <p:nvSpPr>
          <p:cNvPr id="20" name="Oval 19"/>
          <p:cNvSpPr/>
          <p:nvPr/>
        </p:nvSpPr>
        <p:spPr>
          <a:xfrm>
            <a:off x="6309360" y="2743200"/>
            <a:ext cx="237744" cy="237744"/>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647688" y="2697479"/>
            <a:ext cx="594360" cy="329184"/>
          </a:xfrm>
          <a:prstGeom prst="rect">
            <a:avLst/>
          </a:prstGeom>
          <a:noFill/>
        </p:spPr>
        <p:txBody>
          <a:bodyPr wrap="square" lIns="0" rIns="0" tIns="0" bIns="0" anchor="t">
            <a:spAutoFit/>
          </a:bodyPr>
          <a:lstStyle/>
          <a:p>
            <a:pPr algn="l">
              <a:spcAft>
                <a:spcPts val="0"/>
              </a:spcAft>
            </a:pPr>
            <a:r>
              <a:rPr sz="1500" b="1" i="0">
                <a:solidFill>
                  <a:srgbClr val="0E2A47"/>
                </a:solidFill>
                <a:latin typeface="Calibri"/>
              </a:rPr>
              <a:t>N22</a:t>
            </a:r>
          </a:p>
        </p:txBody>
      </p:sp>
      <p:sp>
        <p:nvSpPr>
          <p:cNvPr id="22" name="Rectangle 21"/>
          <p:cNvSpPr/>
          <p:nvPr/>
        </p:nvSpPr>
        <p:spPr>
          <a:xfrm>
            <a:off x="7269480" y="2331720"/>
            <a:ext cx="2130552" cy="114300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269480" y="2331720"/>
            <a:ext cx="64008" cy="11430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498079" y="2331720"/>
            <a:ext cx="548640" cy="1143000"/>
          </a:xfrm>
          <a:prstGeom prst="rect">
            <a:avLst/>
          </a:prstGeom>
          <a:noFill/>
        </p:spPr>
        <p:txBody>
          <a:bodyPr wrap="square" lIns="0" rIns="0" tIns="0" bIns="0" anchor="ctr">
            <a:spAutoFit/>
          </a:bodyPr>
          <a:lstStyle/>
          <a:p>
            <a:pPr algn="l">
              <a:spcAft>
                <a:spcPts val="0"/>
              </a:spcAft>
            </a:pPr>
            <a:r>
              <a:rPr sz="3200" b="1" i="0">
                <a:solidFill>
                  <a:srgbClr val="0E2A47"/>
                </a:solidFill>
                <a:latin typeface="Calibri"/>
              </a:rPr>
              <a:t>2</a:t>
            </a:r>
          </a:p>
        </p:txBody>
      </p:sp>
      <p:sp>
        <p:nvSpPr>
          <p:cNvPr id="25" name="TextBox 24"/>
          <p:cNvSpPr txBox="1"/>
          <p:nvPr/>
        </p:nvSpPr>
        <p:spPr>
          <a:xfrm>
            <a:off x="8092440" y="2331720"/>
            <a:ext cx="1234440" cy="1143000"/>
          </a:xfrm>
          <a:prstGeom prst="rect">
            <a:avLst/>
          </a:prstGeom>
          <a:noFill/>
        </p:spPr>
        <p:txBody>
          <a:bodyPr wrap="square" lIns="0" rIns="0" tIns="0" bIns="0" anchor="ctr">
            <a:spAutoFit/>
          </a:bodyPr>
          <a:lstStyle/>
          <a:p>
            <a:pPr algn="l">
              <a:spcAft>
                <a:spcPts val="0"/>
              </a:spcAft>
            </a:pPr>
            <a:r>
              <a:rPr sz="1300" b="0" i="0">
                <a:solidFill>
                  <a:srgbClr val="52514E"/>
                </a:solidFill>
                <a:latin typeface="Calibri"/>
              </a:rPr>
              <a:t>biological replicates</a:t>
            </a:r>
          </a:p>
        </p:txBody>
      </p:sp>
      <p:sp>
        <p:nvSpPr>
          <p:cNvPr id="26" name="Rectangle 25"/>
          <p:cNvSpPr/>
          <p:nvPr/>
        </p:nvSpPr>
        <p:spPr>
          <a:xfrm>
            <a:off x="9509760" y="2331720"/>
            <a:ext cx="2130552" cy="114300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9509760" y="2331720"/>
            <a:ext cx="64008" cy="11430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738360" y="2331720"/>
            <a:ext cx="548640" cy="1143000"/>
          </a:xfrm>
          <a:prstGeom prst="rect">
            <a:avLst/>
          </a:prstGeom>
          <a:noFill/>
        </p:spPr>
        <p:txBody>
          <a:bodyPr wrap="square" lIns="0" rIns="0" tIns="0" bIns="0" anchor="ctr">
            <a:spAutoFit/>
          </a:bodyPr>
          <a:lstStyle/>
          <a:p>
            <a:pPr algn="l">
              <a:spcAft>
                <a:spcPts val="0"/>
              </a:spcAft>
            </a:pPr>
            <a:r>
              <a:rPr sz="3200" b="1" i="0">
                <a:solidFill>
                  <a:srgbClr val="0E2A47"/>
                </a:solidFill>
                <a:latin typeface="Calibri"/>
              </a:rPr>
              <a:t>2</a:t>
            </a:r>
          </a:p>
        </p:txBody>
      </p:sp>
      <p:sp>
        <p:nvSpPr>
          <p:cNvPr id="29" name="TextBox 28"/>
          <p:cNvSpPr txBox="1"/>
          <p:nvPr/>
        </p:nvSpPr>
        <p:spPr>
          <a:xfrm>
            <a:off x="10332720" y="2331720"/>
            <a:ext cx="1234440" cy="1143000"/>
          </a:xfrm>
          <a:prstGeom prst="rect">
            <a:avLst/>
          </a:prstGeom>
          <a:noFill/>
        </p:spPr>
        <p:txBody>
          <a:bodyPr wrap="square" lIns="0" rIns="0" tIns="0" bIns="0" anchor="ctr">
            <a:spAutoFit/>
          </a:bodyPr>
          <a:lstStyle/>
          <a:p>
            <a:pPr algn="l">
              <a:spcAft>
                <a:spcPts val="0"/>
              </a:spcAft>
            </a:pPr>
            <a:r>
              <a:rPr sz="1300" b="0" i="0">
                <a:solidFill>
                  <a:srgbClr val="52514E"/>
                </a:solidFill>
                <a:latin typeface="Calibri"/>
              </a:rPr>
              <a:t>biological replicates</a:t>
            </a:r>
          </a:p>
        </p:txBody>
      </p:sp>
      <p:sp>
        <p:nvSpPr>
          <p:cNvPr id="30" name="Oval 29"/>
          <p:cNvSpPr/>
          <p:nvPr/>
        </p:nvSpPr>
        <p:spPr>
          <a:xfrm>
            <a:off x="6309360" y="4023359"/>
            <a:ext cx="237744" cy="237744"/>
          </a:xfrm>
          <a:prstGeom prst="ellipse">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647688" y="3977639"/>
            <a:ext cx="594360" cy="329184"/>
          </a:xfrm>
          <a:prstGeom prst="rect">
            <a:avLst/>
          </a:prstGeom>
          <a:noFill/>
        </p:spPr>
        <p:txBody>
          <a:bodyPr wrap="square" lIns="0" rIns="0" tIns="0" bIns="0" anchor="t">
            <a:spAutoFit/>
          </a:bodyPr>
          <a:lstStyle/>
          <a:p>
            <a:pPr algn="l">
              <a:spcAft>
                <a:spcPts val="0"/>
              </a:spcAft>
            </a:pPr>
            <a:r>
              <a:rPr sz="1500" b="1" i="0">
                <a:solidFill>
                  <a:srgbClr val="0E2A47"/>
                </a:solidFill>
                <a:latin typeface="Calibri"/>
              </a:rPr>
              <a:t>IR64</a:t>
            </a:r>
          </a:p>
        </p:txBody>
      </p:sp>
      <p:sp>
        <p:nvSpPr>
          <p:cNvPr id="32" name="Rectangle 31"/>
          <p:cNvSpPr/>
          <p:nvPr/>
        </p:nvSpPr>
        <p:spPr>
          <a:xfrm>
            <a:off x="7269480" y="3611879"/>
            <a:ext cx="2130552" cy="114300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269480" y="3611879"/>
            <a:ext cx="64008" cy="1143000"/>
          </a:xfrm>
          <a:prstGeom prst="rect">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498079" y="3611879"/>
            <a:ext cx="548640" cy="1143000"/>
          </a:xfrm>
          <a:prstGeom prst="rect">
            <a:avLst/>
          </a:prstGeom>
          <a:noFill/>
        </p:spPr>
        <p:txBody>
          <a:bodyPr wrap="square" lIns="0" rIns="0" tIns="0" bIns="0" anchor="ctr">
            <a:spAutoFit/>
          </a:bodyPr>
          <a:lstStyle/>
          <a:p>
            <a:pPr algn="l">
              <a:spcAft>
                <a:spcPts val="0"/>
              </a:spcAft>
            </a:pPr>
            <a:r>
              <a:rPr sz="3200" b="1" i="0">
                <a:solidFill>
                  <a:srgbClr val="0E2A47"/>
                </a:solidFill>
                <a:latin typeface="Calibri"/>
              </a:rPr>
              <a:t>2</a:t>
            </a:r>
          </a:p>
        </p:txBody>
      </p:sp>
      <p:sp>
        <p:nvSpPr>
          <p:cNvPr id="35" name="TextBox 34"/>
          <p:cNvSpPr txBox="1"/>
          <p:nvPr/>
        </p:nvSpPr>
        <p:spPr>
          <a:xfrm>
            <a:off x="8092440" y="3611879"/>
            <a:ext cx="1234440" cy="1143000"/>
          </a:xfrm>
          <a:prstGeom prst="rect">
            <a:avLst/>
          </a:prstGeom>
          <a:noFill/>
        </p:spPr>
        <p:txBody>
          <a:bodyPr wrap="square" lIns="0" rIns="0" tIns="0" bIns="0" anchor="ctr">
            <a:spAutoFit/>
          </a:bodyPr>
          <a:lstStyle/>
          <a:p>
            <a:pPr algn="l">
              <a:spcAft>
                <a:spcPts val="0"/>
              </a:spcAft>
            </a:pPr>
            <a:r>
              <a:rPr sz="1300" b="0" i="0">
                <a:solidFill>
                  <a:srgbClr val="52514E"/>
                </a:solidFill>
                <a:latin typeface="Calibri"/>
              </a:rPr>
              <a:t>biological replicates</a:t>
            </a:r>
          </a:p>
        </p:txBody>
      </p:sp>
      <p:sp>
        <p:nvSpPr>
          <p:cNvPr id="36" name="Rectangle 35"/>
          <p:cNvSpPr/>
          <p:nvPr/>
        </p:nvSpPr>
        <p:spPr>
          <a:xfrm>
            <a:off x="9509760" y="3611879"/>
            <a:ext cx="2130552" cy="114300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9509760" y="3611879"/>
            <a:ext cx="64008" cy="1143000"/>
          </a:xfrm>
          <a:prstGeom prst="rect">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738360" y="3611879"/>
            <a:ext cx="548640" cy="1143000"/>
          </a:xfrm>
          <a:prstGeom prst="rect">
            <a:avLst/>
          </a:prstGeom>
          <a:noFill/>
        </p:spPr>
        <p:txBody>
          <a:bodyPr wrap="square" lIns="0" rIns="0" tIns="0" bIns="0" anchor="ctr">
            <a:spAutoFit/>
          </a:bodyPr>
          <a:lstStyle/>
          <a:p>
            <a:pPr algn="l">
              <a:spcAft>
                <a:spcPts val="0"/>
              </a:spcAft>
            </a:pPr>
            <a:r>
              <a:rPr sz="3200" b="1" i="0">
                <a:solidFill>
                  <a:srgbClr val="0E2A47"/>
                </a:solidFill>
                <a:latin typeface="Calibri"/>
              </a:rPr>
              <a:t>1</a:t>
            </a:r>
          </a:p>
        </p:txBody>
      </p:sp>
      <p:sp>
        <p:nvSpPr>
          <p:cNvPr id="39" name="TextBox 38"/>
          <p:cNvSpPr txBox="1"/>
          <p:nvPr/>
        </p:nvSpPr>
        <p:spPr>
          <a:xfrm>
            <a:off x="10332720" y="3611879"/>
            <a:ext cx="1234440" cy="1143000"/>
          </a:xfrm>
          <a:prstGeom prst="rect">
            <a:avLst/>
          </a:prstGeom>
          <a:noFill/>
        </p:spPr>
        <p:txBody>
          <a:bodyPr wrap="square" lIns="0" rIns="0" tIns="0" bIns="0" anchor="ctr">
            <a:spAutoFit/>
          </a:bodyPr>
          <a:lstStyle/>
          <a:p>
            <a:pPr algn="l">
              <a:spcAft>
                <a:spcPts val="0"/>
              </a:spcAft>
            </a:pPr>
            <a:r>
              <a:rPr sz="1300" b="0" i="0">
                <a:solidFill>
                  <a:srgbClr val="52514E"/>
                </a:solidFill>
                <a:latin typeface="Calibri"/>
              </a:rPr>
              <a:t>biological replicate</a:t>
            </a:r>
          </a:p>
        </p:txBody>
      </p:sp>
      <p:sp>
        <p:nvSpPr>
          <p:cNvPr id="40" name="TextBox 39"/>
          <p:cNvSpPr txBox="1"/>
          <p:nvPr/>
        </p:nvSpPr>
        <p:spPr>
          <a:xfrm>
            <a:off x="6309360" y="4983480"/>
            <a:ext cx="5330952" cy="822960"/>
          </a:xfrm>
          <a:prstGeom prst="rect">
            <a:avLst/>
          </a:prstGeom>
          <a:noFill/>
        </p:spPr>
        <p:txBody>
          <a:bodyPr wrap="square" lIns="0" rIns="0" tIns="0" bIns="0" anchor="t">
            <a:spAutoFit/>
          </a:bodyPr>
          <a:lstStyle/>
          <a:p>
            <a:pPr algn="l">
              <a:spcAft>
                <a:spcPts val="0"/>
              </a:spcAft>
            </a:pPr>
            <a:r>
              <a:rPr sz="1350" b="0" i="0">
                <a:solidFill>
                  <a:srgbClr val="52514E"/>
                </a:solidFill>
                <a:latin typeface="Calibri"/>
              </a:rPr>
              <a:t>21-day-old seedlings. DNase I digestion with an undigested input control, then paired-end sequencing: 101–147 million read pairs per sample.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48640" y="347472"/>
            <a:ext cx="8229600" cy="274320"/>
          </a:xfrm>
          <a:prstGeom prst="rect">
            <a:avLst/>
          </a:prstGeom>
          <a:noFill/>
        </p:spPr>
        <p:txBody>
          <a:bodyPr wrap="square" lIns="0" rIns="0" tIns="0" bIns="0" anchor="t">
            <a:spAutoFit/>
          </a:bodyPr>
          <a:lstStyle/>
          <a:p>
            <a:pPr algn="l">
              <a:spcAft>
                <a:spcPts val="0"/>
              </a:spcAft>
            </a:pPr>
            <a:r>
              <a:rPr sz="1200" b="1" i="0">
                <a:solidFill>
                  <a:srgbClr val="1F5FAE"/>
                </a:solidFill>
                <a:latin typeface="Calibri"/>
              </a:rPr>
              <a:t>CHROMATIN ACCESSIBILITY  ·  ANALYSIS WORKFLOW</a:t>
            </a:r>
          </a:p>
        </p:txBody>
      </p:sp>
      <p:sp>
        <p:nvSpPr>
          <p:cNvPr id="3" name="TextBox 2"/>
          <p:cNvSpPr txBox="1"/>
          <p:nvPr/>
        </p:nvSpPr>
        <p:spPr>
          <a:xfrm>
            <a:off x="548640" y="621792"/>
            <a:ext cx="11091672" cy="914400"/>
          </a:xfrm>
          <a:prstGeom prst="rect">
            <a:avLst/>
          </a:prstGeom>
          <a:noFill/>
        </p:spPr>
        <p:txBody>
          <a:bodyPr wrap="square" lIns="0" rIns="0" tIns="0" bIns="0" anchor="t">
            <a:spAutoFit/>
          </a:bodyPr>
          <a:lstStyle/>
          <a:p>
            <a:pPr algn="l">
              <a:lnSpc>
                <a:spcPct val="95000"/>
              </a:lnSpc>
              <a:spcAft>
                <a:spcPts val="0"/>
              </a:spcAft>
            </a:pPr>
            <a:r>
              <a:rPr sz="2600" b="1" i="0">
                <a:solidFill>
                  <a:srgbClr val="0E2A47"/>
                </a:solidFill>
                <a:latin typeface="Calibri"/>
              </a:rPr>
              <a:t>A scripted pipeline took raw reads to differential sites and regulatory motifs</a:t>
            </a:r>
          </a:p>
        </p:txBody>
      </p:sp>
      <p:sp>
        <p:nvSpPr>
          <p:cNvPr id="4" name="Rectangle 3"/>
          <p:cNvSpPr/>
          <p:nvPr/>
        </p:nvSpPr>
        <p:spPr>
          <a:xfrm>
            <a:off x="548640" y="6108192"/>
            <a:ext cx="11091672" cy="329184"/>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6108192"/>
            <a:ext cx="64008" cy="329184"/>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108192"/>
            <a:ext cx="10817352" cy="329184"/>
          </a:xfrm>
          <a:prstGeom prst="rect">
            <a:avLst/>
          </a:prstGeom>
          <a:noFill/>
        </p:spPr>
        <p:txBody>
          <a:bodyPr wrap="square" lIns="0" rIns="0" tIns="0" bIns="0" anchor="ctr">
            <a:spAutoFit/>
          </a:bodyPr>
          <a:lstStyle/>
          <a:p>
            <a:pPr algn="l">
              <a:spcAft>
                <a:spcPts val="0"/>
              </a:spcAft>
            </a:pPr>
            <a:r>
              <a:rPr sz="1100" b="1" i="0">
                <a:solidFill>
                  <a:srgbClr val="1F5FAE"/>
                </a:solidFill>
                <a:latin typeface="Calibri"/>
              </a:rPr>
              <a:t>ROLE LINK   </a:t>
            </a:r>
            <a:r>
              <a:rPr sz="1300" b="0" i="0">
                <a:solidFill>
                  <a:srgbClr val="52514E"/>
                </a:solidFill>
                <a:latin typeface="Calibri"/>
              </a:rPr>
              <a:t>Reusable analytical code and epigenomic NGS data types</a:t>
            </a:r>
          </a:p>
        </p:txBody>
      </p:sp>
      <p:sp>
        <p:nvSpPr>
          <p:cNvPr id="7" name="TextBox 6"/>
          <p:cNvSpPr txBox="1"/>
          <p:nvPr/>
        </p:nvSpPr>
        <p:spPr>
          <a:xfrm>
            <a:off x="548640" y="6510528"/>
            <a:ext cx="6400800" cy="228600"/>
          </a:xfrm>
          <a:prstGeom prst="rect">
            <a:avLst/>
          </a:prstGeom>
          <a:noFill/>
        </p:spPr>
        <p:txBody>
          <a:bodyPr wrap="square" lIns="0" rIns="0" tIns="0" bIns="0" anchor="t">
            <a:spAutoFit/>
          </a:bodyPr>
          <a:lstStyle/>
          <a:p>
            <a:pPr algn="l">
              <a:spcAft>
                <a:spcPts val="0"/>
              </a:spcAft>
            </a:pPr>
            <a:r>
              <a:rPr sz="1000" b="0" i="0">
                <a:solidFill>
                  <a:srgbClr val="8A8984"/>
                </a:solidFill>
                <a:latin typeface="Calibri"/>
              </a:rPr>
              <a:t>Kunal Tembhare  ·  Computational biology and multi-omics ML</a:t>
            </a:r>
          </a:p>
        </p:txBody>
      </p:sp>
      <p:sp>
        <p:nvSpPr>
          <p:cNvPr id="8" name="TextBox 7"/>
          <p:cNvSpPr txBox="1"/>
          <p:nvPr/>
        </p:nvSpPr>
        <p:spPr>
          <a:xfrm>
            <a:off x="10268712" y="6510528"/>
            <a:ext cx="1371600" cy="228600"/>
          </a:xfrm>
          <a:prstGeom prst="rect">
            <a:avLst/>
          </a:prstGeom>
          <a:noFill/>
        </p:spPr>
        <p:txBody>
          <a:bodyPr wrap="square" lIns="0" rIns="0" tIns="0" bIns="0" anchor="t">
            <a:spAutoFit/>
          </a:bodyPr>
          <a:lstStyle/>
          <a:p>
            <a:pPr algn="r">
              <a:spcAft>
                <a:spcPts val="0"/>
              </a:spcAft>
            </a:pPr>
            <a:r>
              <a:rPr sz="1000" b="0" i="0">
                <a:solidFill>
                  <a:srgbClr val="8A8984"/>
                </a:solidFill>
                <a:latin typeface="Calibri"/>
              </a:rPr>
              <a:t>15 / 27</a:t>
            </a:r>
          </a:p>
        </p:txBody>
      </p:sp>
      <p:sp>
        <p:nvSpPr>
          <p:cNvPr id="9" name="TextBox 8"/>
          <p:cNvSpPr txBox="1"/>
          <p:nvPr/>
        </p:nvSpPr>
        <p:spPr>
          <a:xfrm>
            <a:off x="548640" y="1572768"/>
            <a:ext cx="11091672" cy="274320"/>
          </a:xfrm>
          <a:prstGeom prst="rect">
            <a:avLst/>
          </a:prstGeom>
          <a:noFill/>
        </p:spPr>
        <p:txBody>
          <a:bodyPr wrap="square" lIns="0" rIns="0" tIns="0" bIns="0" anchor="t">
            <a:spAutoFit/>
          </a:bodyPr>
          <a:lstStyle/>
          <a:p>
            <a:pPr algn="l">
              <a:spcAft>
                <a:spcPts val="0"/>
              </a:spcAft>
            </a:pPr>
            <a:r>
              <a:rPr sz="1350" b="1" i="0">
                <a:solidFill>
                  <a:srgbClr val="0E2A47"/>
                </a:solidFill>
                <a:latin typeface="Calibri"/>
              </a:rPr>
              <a:t>Scripted in Bash and Python.  </a:t>
            </a:r>
            <a:r>
              <a:rPr sz="1350" b="0" i="0">
                <a:solidFill>
                  <a:srgbClr val="52514E"/>
                </a:solidFill>
                <a:latin typeface="Calibri"/>
              </a:rPr>
              <a:t>Same workflow pattern as ATAC-seq: QC, alignment, peak calling, differential accessibility, annotation, motifs.</a:t>
            </a:r>
          </a:p>
        </p:txBody>
      </p:sp>
      <p:sp>
        <p:nvSpPr>
          <p:cNvPr id="10" name="Rectangle 9"/>
          <p:cNvSpPr/>
          <p:nvPr/>
        </p:nvSpPr>
        <p:spPr>
          <a:xfrm>
            <a:off x="548640" y="2011680"/>
            <a:ext cx="1691640" cy="237744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2011680"/>
            <a:ext cx="1691640" cy="64008"/>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85800" y="2194560"/>
            <a:ext cx="347472" cy="34747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200" b="1">
                <a:solidFill>
                  <a:srgbClr val="FFFFFF"/>
                </a:solidFill>
                <a:latin typeface="Calibri"/>
              </a:rPr>
              <a:t>1</a:t>
            </a:r>
          </a:p>
        </p:txBody>
      </p:sp>
      <p:sp>
        <p:nvSpPr>
          <p:cNvPr id="13" name="TextBox 12"/>
          <p:cNvSpPr txBox="1"/>
          <p:nvPr/>
        </p:nvSpPr>
        <p:spPr>
          <a:xfrm>
            <a:off x="685800" y="2651760"/>
            <a:ext cx="1417320" cy="502920"/>
          </a:xfrm>
          <a:prstGeom prst="rect">
            <a:avLst/>
          </a:prstGeom>
          <a:noFill/>
        </p:spPr>
        <p:txBody>
          <a:bodyPr wrap="square" lIns="0" rIns="0" tIns="0" bIns="0" anchor="t">
            <a:spAutoFit/>
          </a:bodyPr>
          <a:lstStyle/>
          <a:p>
            <a:pPr algn="l">
              <a:spcAft>
                <a:spcPts val="0"/>
              </a:spcAft>
            </a:pPr>
            <a:r>
              <a:rPr sz="1450" b="1" i="0">
                <a:solidFill>
                  <a:srgbClr val="0E2A47"/>
                </a:solidFill>
                <a:latin typeface="Calibri"/>
              </a:rPr>
              <a:t>Read QC and trimming</a:t>
            </a:r>
          </a:p>
        </p:txBody>
      </p:sp>
      <p:sp>
        <p:nvSpPr>
          <p:cNvPr id="14" name="TextBox 13"/>
          <p:cNvSpPr txBox="1"/>
          <p:nvPr/>
        </p:nvSpPr>
        <p:spPr>
          <a:xfrm>
            <a:off x="685800" y="3182112"/>
            <a:ext cx="1417320" cy="411480"/>
          </a:xfrm>
          <a:prstGeom prst="rect">
            <a:avLst/>
          </a:prstGeom>
          <a:noFill/>
        </p:spPr>
        <p:txBody>
          <a:bodyPr wrap="square" lIns="0" rIns="0" tIns="0" bIns="0" anchor="t">
            <a:spAutoFit/>
          </a:bodyPr>
          <a:lstStyle/>
          <a:p>
            <a:pPr algn="l">
              <a:spcAft>
                <a:spcPts val="0"/>
              </a:spcAft>
            </a:pPr>
            <a:r>
              <a:rPr sz="1300" b="1" i="0">
                <a:solidFill>
                  <a:srgbClr val="1F5FAE"/>
                </a:solidFill>
                <a:latin typeface="Calibri"/>
              </a:rPr>
              <a:t>NGS QC Toolkit</a:t>
            </a:r>
          </a:p>
        </p:txBody>
      </p:sp>
      <p:sp>
        <p:nvSpPr>
          <p:cNvPr id="15" name="TextBox 14"/>
          <p:cNvSpPr txBox="1"/>
          <p:nvPr/>
        </p:nvSpPr>
        <p:spPr>
          <a:xfrm>
            <a:off x="685800" y="3639312"/>
            <a:ext cx="1417320" cy="731520"/>
          </a:xfrm>
          <a:prstGeom prst="rect">
            <a:avLst/>
          </a:prstGeom>
          <a:noFill/>
        </p:spPr>
        <p:txBody>
          <a:bodyPr wrap="square" lIns="0" rIns="0" tIns="0" bIns="0" anchor="t">
            <a:spAutoFit/>
          </a:bodyPr>
          <a:lstStyle/>
          <a:p>
            <a:pPr algn="l">
              <a:spcAft>
                <a:spcPts val="0"/>
              </a:spcAft>
            </a:pPr>
            <a:r>
              <a:rPr sz="1200" b="0" i="0">
                <a:solidFill>
                  <a:srgbClr val="52514E"/>
                </a:solidFill>
                <a:latin typeface="Calibri"/>
              </a:rPr>
              <a:t>Adaptors and low-quality reads removed</a:t>
            </a:r>
          </a:p>
        </p:txBody>
      </p:sp>
      <p:cxnSp>
        <p:nvCxnSpPr>
          <p:cNvPr id="16" name="Connector 15"/>
          <p:cNvCxnSpPr/>
          <p:nvPr/>
        </p:nvCxnSpPr>
        <p:spPr>
          <a:xfrm>
            <a:off x="2258568" y="2743200"/>
            <a:ext cx="151790" cy="0"/>
          </a:xfrm>
          <a:prstGeom prst="line">
            <a:avLst/>
          </a:prstGeom>
          <a:ln w="22225">
            <a:solidFill>
              <a:srgbClr val="8A898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ectangle 16"/>
          <p:cNvSpPr/>
          <p:nvPr/>
        </p:nvSpPr>
        <p:spPr>
          <a:xfrm>
            <a:off x="2428646" y="2011680"/>
            <a:ext cx="1691640" cy="237744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428646" y="2011680"/>
            <a:ext cx="1691640" cy="64008"/>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2565806" y="2194560"/>
            <a:ext cx="347472" cy="34747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200" b="1">
                <a:solidFill>
                  <a:srgbClr val="FFFFFF"/>
                </a:solidFill>
                <a:latin typeface="Calibri"/>
              </a:rPr>
              <a:t>2</a:t>
            </a:r>
          </a:p>
        </p:txBody>
      </p:sp>
      <p:sp>
        <p:nvSpPr>
          <p:cNvPr id="20" name="TextBox 19"/>
          <p:cNvSpPr txBox="1"/>
          <p:nvPr/>
        </p:nvSpPr>
        <p:spPr>
          <a:xfrm>
            <a:off x="2565806" y="2651760"/>
            <a:ext cx="1417320" cy="502920"/>
          </a:xfrm>
          <a:prstGeom prst="rect">
            <a:avLst/>
          </a:prstGeom>
          <a:noFill/>
        </p:spPr>
        <p:txBody>
          <a:bodyPr wrap="square" lIns="0" rIns="0" tIns="0" bIns="0" anchor="t">
            <a:spAutoFit/>
          </a:bodyPr>
          <a:lstStyle/>
          <a:p>
            <a:pPr algn="l">
              <a:spcAft>
                <a:spcPts val="0"/>
              </a:spcAft>
            </a:pPr>
            <a:r>
              <a:rPr sz="1450" b="1" i="0">
                <a:solidFill>
                  <a:srgbClr val="0E2A47"/>
                </a:solidFill>
                <a:latin typeface="Calibri"/>
              </a:rPr>
              <a:t>Alignment</a:t>
            </a:r>
          </a:p>
        </p:txBody>
      </p:sp>
      <p:sp>
        <p:nvSpPr>
          <p:cNvPr id="21" name="TextBox 20"/>
          <p:cNvSpPr txBox="1"/>
          <p:nvPr/>
        </p:nvSpPr>
        <p:spPr>
          <a:xfrm>
            <a:off x="2565806" y="3182112"/>
            <a:ext cx="1417320" cy="411480"/>
          </a:xfrm>
          <a:prstGeom prst="rect">
            <a:avLst/>
          </a:prstGeom>
          <a:noFill/>
        </p:spPr>
        <p:txBody>
          <a:bodyPr wrap="square" lIns="0" rIns="0" tIns="0" bIns="0" anchor="t">
            <a:spAutoFit/>
          </a:bodyPr>
          <a:lstStyle/>
          <a:p>
            <a:pPr algn="l">
              <a:spcAft>
                <a:spcPts val="0"/>
              </a:spcAft>
            </a:pPr>
            <a:r>
              <a:rPr sz="1300" b="1" i="0">
                <a:solidFill>
                  <a:srgbClr val="1F5FAE"/>
                </a:solidFill>
                <a:latin typeface="Calibri"/>
              </a:rPr>
              <a:t>BWA-MEM</a:t>
            </a:r>
          </a:p>
        </p:txBody>
      </p:sp>
      <p:sp>
        <p:nvSpPr>
          <p:cNvPr id="22" name="TextBox 21"/>
          <p:cNvSpPr txBox="1"/>
          <p:nvPr/>
        </p:nvSpPr>
        <p:spPr>
          <a:xfrm>
            <a:off x="2565806" y="3639312"/>
            <a:ext cx="1417320" cy="731520"/>
          </a:xfrm>
          <a:prstGeom prst="rect">
            <a:avLst/>
          </a:prstGeom>
          <a:noFill/>
        </p:spPr>
        <p:txBody>
          <a:bodyPr wrap="square" lIns="0" rIns="0" tIns="0" bIns="0" anchor="t">
            <a:spAutoFit/>
          </a:bodyPr>
          <a:lstStyle/>
          <a:p>
            <a:pPr algn="l">
              <a:spcAft>
                <a:spcPts val="0"/>
              </a:spcAft>
            </a:pPr>
            <a:r>
              <a:rPr sz="1200" b="0" i="0">
                <a:solidFill>
                  <a:srgbClr val="52514E"/>
                </a:solidFill>
                <a:latin typeface="Calibri"/>
              </a:rPr>
              <a:t>Nipponbare reference genome, v7</a:t>
            </a:r>
          </a:p>
        </p:txBody>
      </p:sp>
      <p:cxnSp>
        <p:nvCxnSpPr>
          <p:cNvPr id="23" name="Connector 22"/>
          <p:cNvCxnSpPr/>
          <p:nvPr/>
        </p:nvCxnSpPr>
        <p:spPr>
          <a:xfrm>
            <a:off x="4138574" y="2743200"/>
            <a:ext cx="151790" cy="0"/>
          </a:xfrm>
          <a:prstGeom prst="line">
            <a:avLst/>
          </a:prstGeom>
          <a:ln w="22225">
            <a:solidFill>
              <a:srgbClr val="8A8984"/>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4308652" y="2011680"/>
            <a:ext cx="1691640" cy="237744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308652" y="2011680"/>
            <a:ext cx="1691640" cy="64008"/>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4445812" y="2194560"/>
            <a:ext cx="347472" cy="34747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200" b="1">
                <a:solidFill>
                  <a:srgbClr val="FFFFFF"/>
                </a:solidFill>
                <a:latin typeface="Calibri"/>
              </a:rPr>
              <a:t>3</a:t>
            </a:r>
          </a:p>
        </p:txBody>
      </p:sp>
      <p:sp>
        <p:nvSpPr>
          <p:cNvPr id="27" name="TextBox 26"/>
          <p:cNvSpPr txBox="1"/>
          <p:nvPr/>
        </p:nvSpPr>
        <p:spPr>
          <a:xfrm>
            <a:off x="4445812" y="2651760"/>
            <a:ext cx="1417320" cy="502920"/>
          </a:xfrm>
          <a:prstGeom prst="rect">
            <a:avLst/>
          </a:prstGeom>
          <a:noFill/>
        </p:spPr>
        <p:txBody>
          <a:bodyPr wrap="square" lIns="0" rIns="0" tIns="0" bIns="0" anchor="t">
            <a:spAutoFit/>
          </a:bodyPr>
          <a:lstStyle/>
          <a:p>
            <a:pPr algn="l">
              <a:spcAft>
                <a:spcPts val="0"/>
              </a:spcAft>
            </a:pPr>
            <a:r>
              <a:rPr sz="1450" b="1" i="0">
                <a:solidFill>
                  <a:srgbClr val="0E2A47"/>
                </a:solidFill>
                <a:latin typeface="Calibri"/>
              </a:rPr>
              <a:t>Peak calling</a:t>
            </a:r>
          </a:p>
        </p:txBody>
      </p:sp>
      <p:sp>
        <p:nvSpPr>
          <p:cNvPr id="28" name="TextBox 27"/>
          <p:cNvSpPr txBox="1"/>
          <p:nvPr/>
        </p:nvSpPr>
        <p:spPr>
          <a:xfrm>
            <a:off x="4445812" y="3182112"/>
            <a:ext cx="1417320" cy="411480"/>
          </a:xfrm>
          <a:prstGeom prst="rect">
            <a:avLst/>
          </a:prstGeom>
          <a:noFill/>
        </p:spPr>
        <p:txBody>
          <a:bodyPr wrap="square" lIns="0" rIns="0" tIns="0" bIns="0" anchor="t">
            <a:spAutoFit/>
          </a:bodyPr>
          <a:lstStyle/>
          <a:p>
            <a:pPr algn="l">
              <a:spcAft>
                <a:spcPts val="0"/>
              </a:spcAft>
            </a:pPr>
            <a:r>
              <a:rPr sz="1300" b="1" i="0">
                <a:solidFill>
                  <a:srgbClr val="1F5FAE"/>
                </a:solidFill>
                <a:latin typeface="Calibri"/>
              </a:rPr>
              <a:t>MACS3</a:t>
            </a:r>
          </a:p>
        </p:txBody>
      </p:sp>
      <p:sp>
        <p:nvSpPr>
          <p:cNvPr id="29" name="TextBox 28"/>
          <p:cNvSpPr txBox="1"/>
          <p:nvPr/>
        </p:nvSpPr>
        <p:spPr>
          <a:xfrm>
            <a:off x="4445812" y="3639312"/>
            <a:ext cx="1417320" cy="731520"/>
          </a:xfrm>
          <a:prstGeom prst="rect">
            <a:avLst/>
          </a:prstGeom>
          <a:noFill/>
        </p:spPr>
        <p:txBody>
          <a:bodyPr wrap="square" lIns="0" rIns="0" tIns="0" bIns="0" anchor="t">
            <a:spAutoFit/>
          </a:bodyPr>
          <a:lstStyle/>
          <a:p>
            <a:pPr algn="l">
              <a:spcAft>
                <a:spcPts val="0"/>
              </a:spcAft>
            </a:pPr>
            <a:r>
              <a:rPr sz="1200" b="0" i="0">
                <a:solidFill>
                  <a:srgbClr val="52514E"/>
                </a:solidFill>
                <a:latin typeface="Calibri"/>
              </a:rPr>
              <a:t>Versus input; q ≤ 1e-5; ≥1 log2FC, FDR &lt; 5%</a:t>
            </a:r>
          </a:p>
        </p:txBody>
      </p:sp>
      <p:cxnSp>
        <p:nvCxnSpPr>
          <p:cNvPr id="30" name="Connector 29"/>
          <p:cNvCxnSpPr/>
          <p:nvPr/>
        </p:nvCxnSpPr>
        <p:spPr>
          <a:xfrm>
            <a:off x="6018580" y="2743200"/>
            <a:ext cx="151791" cy="0"/>
          </a:xfrm>
          <a:prstGeom prst="line">
            <a:avLst/>
          </a:prstGeom>
          <a:ln w="22225">
            <a:solidFill>
              <a:srgbClr val="8A8984"/>
            </a:solidFill>
            <a:tailEnd type="triangle" w="med" len="med"/>
          </a:ln>
        </p:spPr>
        <p:style>
          <a:lnRef idx="2">
            <a:schemeClr val="accent1"/>
          </a:lnRef>
          <a:fillRef idx="0">
            <a:schemeClr val="accent1"/>
          </a:fillRef>
          <a:effectRef idx="1">
            <a:schemeClr val="accent1"/>
          </a:effectRef>
          <a:fontRef idx="minor">
            <a:schemeClr val="tx1"/>
          </a:fontRef>
        </p:style>
      </p:cxnSp>
      <p:sp>
        <p:nvSpPr>
          <p:cNvPr id="31" name="Rectangle 30"/>
          <p:cNvSpPr/>
          <p:nvPr/>
        </p:nvSpPr>
        <p:spPr>
          <a:xfrm>
            <a:off x="6188659" y="2011680"/>
            <a:ext cx="1691640" cy="237744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188659" y="2011680"/>
            <a:ext cx="1691640" cy="64008"/>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6325819" y="2194560"/>
            <a:ext cx="347472" cy="34747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200" b="1">
                <a:solidFill>
                  <a:srgbClr val="FFFFFF"/>
                </a:solidFill>
                <a:latin typeface="Calibri"/>
              </a:rPr>
              <a:t>4</a:t>
            </a:r>
          </a:p>
        </p:txBody>
      </p:sp>
      <p:sp>
        <p:nvSpPr>
          <p:cNvPr id="34" name="TextBox 33"/>
          <p:cNvSpPr txBox="1"/>
          <p:nvPr/>
        </p:nvSpPr>
        <p:spPr>
          <a:xfrm>
            <a:off x="6325819" y="2651760"/>
            <a:ext cx="1417320" cy="502920"/>
          </a:xfrm>
          <a:prstGeom prst="rect">
            <a:avLst/>
          </a:prstGeom>
          <a:noFill/>
        </p:spPr>
        <p:txBody>
          <a:bodyPr wrap="square" lIns="0" rIns="0" tIns="0" bIns="0" anchor="t">
            <a:spAutoFit/>
          </a:bodyPr>
          <a:lstStyle/>
          <a:p>
            <a:pPr algn="l">
              <a:spcAft>
                <a:spcPts val="0"/>
              </a:spcAft>
            </a:pPr>
            <a:r>
              <a:rPr sz="1450" b="1" i="0">
                <a:solidFill>
                  <a:srgbClr val="0E2A47"/>
                </a:solidFill>
                <a:latin typeface="Calibri"/>
              </a:rPr>
              <a:t>Replicate consensus</a:t>
            </a:r>
          </a:p>
        </p:txBody>
      </p:sp>
      <p:sp>
        <p:nvSpPr>
          <p:cNvPr id="35" name="TextBox 34"/>
          <p:cNvSpPr txBox="1"/>
          <p:nvPr/>
        </p:nvSpPr>
        <p:spPr>
          <a:xfrm>
            <a:off x="6325819" y="3182112"/>
            <a:ext cx="1417320" cy="411480"/>
          </a:xfrm>
          <a:prstGeom prst="rect">
            <a:avLst/>
          </a:prstGeom>
          <a:noFill/>
        </p:spPr>
        <p:txBody>
          <a:bodyPr wrap="square" lIns="0" rIns="0" tIns="0" bIns="0" anchor="t">
            <a:spAutoFit/>
          </a:bodyPr>
          <a:lstStyle/>
          <a:p>
            <a:pPr algn="l">
              <a:spcAft>
                <a:spcPts val="0"/>
              </a:spcAft>
            </a:pPr>
            <a:r>
              <a:rPr sz="1300" b="1" i="0">
                <a:solidFill>
                  <a:srgbClr val="1F5FAE"/>
                </a:solidFill>
                <a:latin typeface="Calibri"/>
              </a:rPr>
              <a:t>IDR</a:t>
            </a:r>
          </a:p>
        </p:txBody>
      </p:sp>
      <p:sp>
        <p:nvSpPr>
          <p:cNvPr id="36" name="TextBox 35"/>
          <p:cNvSpPr txBox="1"/>
          <p:nvPr/>
        </p:nvSpPr>
        <p:spPr>
          <a:xfrm>
            <a:off x="6325819" y="3639312"/>
            <a:ext cx="1417320" cy="731520"/>
          </a:xfrm>
          <a:prstGeom prst="rect">
            <a:avLst/>
          </a:prstGeom>
          <a:noFill/>
        </p:spPr>
        <p:txBody>
          <a:bodyPr wrap="square" lIns="0" rIns="0" tIns="0" bIns="0" anchor="t">
            <a:spAutoFit/>
          </a:bodyPr>
          <a:lstStyle/>
          <a:p>
            <a:pPr algn="l">
              <a:spcAft>
                <a:spcPts val="0"/>
              </a:spcAft>
            </a:pPr>
            <a:r>
              <a:rPr sz="1200" b="0" i="0">
                <a:solidFill>
                  <a:srgbClr val="52514E"/>
                </a:solidFill>
                <a:latin typeface="Calibri"/>
              </a:rPr>
              <a:t>Reproducible peaks across replicates</a:t>
            </a:r>
          </a:p>
        </p:txBody>
      </p:sp>
      <p:cxnSp>
        <p:nvCxnSpPr>
          <p:cNvPr id="37" name="Connector 36"/>
          <p:cNvCxnSpPr/>
          <p:nvPr/>
        </p:nvCxnSpPr>
        <p:spPr>
          <a:xfrm>
            <a:off x="7898587" y="2743200"/>
            <a:ext cx="151790" cy="0"/>
          </a:xfrm>
          <a:prstGeom prst="line">
            <a:avLst/>
          </a:prstGeom>
          <a:ln w="22225">
            <a:solidFill>
              <a:srgbClr val="8A8984"/>
            </a:solidFill>
            <a:tailEnd type="triangle" w="med" len="med"/>
          </a:ln>
        </p:spPr>
        <p:style>
          <a:lnRef idx="2">
            <a:schemeClr val="accent1"/>
          </a:lnRef>
          <a:fillRef idx="0">
            <a:schemeClr val="accent1"/>
          </a:fillRef>
          <a:effectRef idx="1">
            <a:schemeClr val="accent1"/>
          </a:effectRef>
          <a:fontRef idx="minor">
            <a:schemeClr val="tx1"/>
          </a:fontRef>
        </p:style>
      </p:cxnSp>
      <p:sp>
        <p:nvSpPr>
          <p:cNvPr id="38" name="Rectangle 37"/>
          <p:cNvSpPr/>
          <p:nvPr/>
        </p:nvSpPr>
        <p:spPr>
          <a:xfrm>
            <a:off x="8068665" y="2011680"/>
            <a:ext cx="1691640" cy="237744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8068665" y="2011680"/>
            <a:ext cx="1691640" cy="64008"/>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8205825" y="2194560"/>
            <a:ext cx="347472" cy="34747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200" b="1">
                <a:solidFill>
                  <a:srgbClr val="FFFFFF"/>
                </a:solidFill>
                <a:latin typeface="Calibri"/>
              </a:rPr>
              <a:t>5</a:t>
            </a:r>
          </a:p>
        </p:txBody>
      </p:sp>
      <p:sp>
        <p:nvSpPr>
          <p:cNvPr id="41" name="TextBox 40"/>
          <p:cNvSpPr txBox="1"/>
          <p:nvPr/>
        </p:nvSpPr>
        <p:spPr>
          <a:xfrm>
            <a:off x="8205825" y="2651760"/>
            <a:ext cx="1417320" cy="502920"/>
          </a:xfrm>
          <a:prstGeom prst="rect">
            <a:avLst/>
          </a:prstGeom>
          <a:noFill/>
        </p:spPr>
        <p:txBody>
          <a:bodyPr wrap="square" lIns="0" rIns="0" tIns="0" bIns="0" anchor="t">
            <a:spAutoFit/>
          </a:bodyPr>
          <a:lstStyle/>
          <a:p>
            <a:pPr algn="l">
              <a:spcAft>
                <a:spcPts val="0"/>
              </a:spcAft>
            </a:pPr>
            <a:r>
              <a:rPr sz="1450" b="1" i="0">
                <a:solidFill>
                  <a:srgbClr val="0E2A47"/>
                </a:solidFill>
                <a:latin typeface="Calibri"/>
              </a:rPr>
              <a:t>Differential sites</a:t>
            </a:r>
          </a:p>
        </p:txBody>
      </p:sp>
      <p:sp>
        <p:nvSpPr>
          <p:cNvPr id="42" name="TextBox 41"/>
          <p:cNvSpPr txBox="1"/>
          <p:nvPr/>
        </p:nvSpPr>
        <p:spPr>
          <a:xfrm>
            <a:off x="8205825" y="3182112"/>
            <a:ext cx="1417320" cy="411480"/>
          </a:xfrm>
          <a:prstGeom prst="rect">
            <a:avLst/>
          </a:prstGeom>
          <a:noFill/>
        </p:spPr>
        <p:txBody>
          <a:bodyPr wrap="square" lIns="0" rIns="0" tIns="0" bIns="0" anchor="t">
            <a:spAutoFit/>
          </a:bodyPr>
          <a:lstStyle/>
          <a:p>
            <a:pPr algn="l">
              <a:spcAft>
                <a:spcPts val="0"/>
              </a:spcAft>
            </a:pPr>
            <a:r>
              <a:rPr sz="1300" b="1" i="0">
                <a:solidFill>
                  <a:srgbClr val="1F5FAE"/>
                </a:solidFill>
                <a:latin typeface="Calibri"/>
              </a:rPr>
              <a:t>csaw</a:t>
            </a:r>
          </a:p>
        </p:txBody>
      </p:sp>
      <p:sp>
        <p:nvSpPr>
          <p:cNvPr id="43" name="TextBox 42"/>
          <p:cNvSpPr txBox="1"/>
          <p:nvPr/>
        </p:nvSpPr>
        <p:spPr>
          <a:xfrm>
            <a:off x="8205825" y="3639312"/>
            <a:ext cx="1417320" cy="731520"/>
          </a:xfrm>
          <a:prstGeom prst="rect">
            <a:avLst/>
          </a:prstGeom>
          <a:noFill/>
        </p:spPr>
        <p:txBody>
          <a:bodyPr wrap="square" lIns="0" rIns="0" tIns="0" bIns="0" anchor="t">
            <a:spAutoFit/>
          </a:bodyPr>
          <a:lstStyle/>
          <a:p>
            <a:pPr algn="l">
              <a:spcAft>
                <a:spcPts val="0"/>
              </a:spcAft>
            </a:pPr>
            <a:r>
              <a:rPr sz="1200" b="0" i="0">
                <a:solidFill>
                  <a:srgbClr val="52514E"/>
                </a:solidFill>
                <a:latin typeface="Calibri"/>
              </a:rPr>
              <a:t>Cultivar and drought contrasts; ≥1 log2FC, FDR &lt; 5%</a:t>
            </a:r>
          </a:p>
        </p:txBody>
      </p:sp>
      <p:cxnSp>
        <p:nvCxnSpPr>
          <p:cNvPr id="44" name="Connector 43"/>
          <p:cNvCxnSpPr/>
          <p:nvPr/>
        </p:nvCxnSpPr>
        <p:spPr>
          <a:xfrm>
            <a:off x="9778593" y="2743200"/>
            <a:ext cx="151791" cy="0"/>
          </a:xfrm>
          <a:prstGeom prst="line">
            <a:avLst/>
          </a:prstGeom>
          <a:ln w="22225">
            <a:solidFill>
              <a:srgbClr val="8A8984"/>
            </a:solidFill>
            <a:tailEnd type="triangle" w="med" len="med"/>
          </a:ln>
        </p:spPr>
        <p:style>
          <a:lnRef idx="2">
            <a:schemeClr val="accent1"/>
          </a:lnRef>
          <a:fillRef idx="0">
            <a:schemeClr val="accent1"/>
          </a:fillRef>
          <a:effectRef idx="1">
            <a:schemeClr val="accent1"/>
          </a:effectRef>
          <a:fontRef idx="minor">
            <a:schemeClr val="tx1"/>
          </a:fontRef>
        </p:style>
      </p:cxnSp>
      <p:sp>
        <p:nvSpPr>
          <p:cNvPr id="45" name="Rectangle 44"/>
          <p:cNvSpPr/>
          <p:nvPr/>
        </p:nvSpPr>
        <p:spPr>
          <a:xfrm>
            <a:off x="9948672" y="2011680"/>
            <a:ext cx="1691640" cy="237744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9948672" y="2011680"/>
            <a:ext cx="1691640" cy="64008"/>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10085832" y="2194560"/>
            <a:ext cx="347472" cy="34747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200" b="1">
                <a:solidFill>
                  <a:srgbClr val="FFFFFF"/>
                </a:solidFill>
                <a:latin typeface="Calibri"/>
              </a:rPr>
              <a:t>6</a:t>
            </a:r>
          </a:p>
        </p:txBody>
      </p:sp>
      <p:sp>
        <p:nvSpPr>
          <p:cNvPr id="48" name="TextBox 47"/>
          <p:cNvSpPr txBox="1"/>
          <p:nvPr/>
        </p:nvSpPr>
        <p:spPr>
          <a:xfrm>
            <a:off x="10085832" y="2651760"/>
            <a:ext cx="1417320" cy="502920"/>
          </a:xfrm>
          <a:prstGeom prst="rect">
            <a:avLst/>
          </a:prstGeom>
          <a:noFill/>
        </p:spPr>
        <p:txBody>
          <a:bodyPr wrap="square" lIns="0" rIns="0" tIns="0" bIns="0" anchor="t">
            <a:spAutoFit/>
          </a:bodyPr>
          <a:lstStyle/>
          <a:p>
            <a:pPr algn="l">
              <a:spcAft>
                <a:spcPts val="0"/>
              </a:spcAft>
            </a:pPr>
            <a:r>
              <a:rPr sz="1450" b="1" i="0">
                <a:solidFill>
                  <a:srgbClr val="0E2A47"/>
                </a:solidFill>
                <a:latin typeface="Calibri"/>
              </a:rPr>
              <a:t>Motif discovery</a:t>
            </a:r>
          </a:p>
        </p:txBody>
      </p:sp>
      <p:sp>
        <p:nvSpPr>
          <p:cNvPr id="49" name="TextBox 48"/>
          <p:cNvSpPr txBox="1"/>
          <p:nvPr/>
        </p:nvSpPr>
        <p:spPr>
          <a:xfrm>
            <a:off x="10085832" y="3182112"/>
            <a:ext cx="1417320" cy="411480"/>
          </a:xfrm>
          <a:prstGeom prst="rect">
            <a:avLst/>
          </a:prstGeom>
          <a:noFill/>
        </p:spPr>
        <p:txBody>
          <a:bodyPr wrap="square" lIns="0" rIns="0" tIns="0" bIns="0" anchor="t">
            <a:spAutoFit/>
          </a:bodyPr>
          <a:lstStyle/>
          <a:p>
            <a:pPr algn="l">
              <a:spcAft>
                <a:spcPts val="0"/>
              </a:spcAft>
            </a:pPr>
            <a:r>
              <a:rPr sz="1300" b="1" i="0">
                <a:solidFill>
                  <a:srgbClr val="1F5FAE"/>
                </a:solidFill>
                <a:latin typeface="Calibri"/>
              </a:rPr>
              <a:t>MEME-ChIP, STAMP</a:t>
            </a:r>
          </a:p>
        </p:txBody>
      </p:sp>
      <p:sp>
        <p:nvSpPr>
          <p:cNvPr id="50" name="TextBox 49"/>
          <p:cNvSpPr txBox="1"/>
          <p:nvPr/>
        </p:nvSpPr>
        <p:spPr>
          <a:xfrm>
            <a:off x="10085832" y="3639312"/>
            <a:ext cx="1417320" cy="731520"/>
          </a:xfrm>
          <a:prstGeom prst="rect">
            <a:avLst/>
          </a:prstGeom>
          <a:noFill/>
        </p:spPr>
        <p:txBody>
          <a:bodyPr wrap="square" lIns="0" rIns="0" tIns="0" bIns="0" anchor="t">
            <a:spAutoFit/>
          </a:bodyPr>
          <a:lstStyle/>
          <a:p>
            <a:pPr algn="l">
              <a:spcAft>
                <a:spcPts val="0"/>
              </a:spcAft>
            </a:pPr>
            <a:r>
              <a:rPr sz="1200" b="0" i="0">
                <a:solidFill>
                  <a:srgbClr val="52514E"/>
                </a:solidFill>
                <a:latin typeface="Calibri"/>
              </a:rPr>
              <a:t>Sequences via BEDTools; Arabidopsis background</a:t>
            </a:r>
          </a:p>
        </p:txBody>
      </p:sp>
      <p:sp>
        <p:nvSpPr>
          <p:cNvPr id="51" name="TextBox 50"/>
          <p:cNvSpPr txBox="1"/>
          <p:nvPr/>
        </p:nvSpPr>
        <p:spPr>
          <a:xfrm>
            <a:off x="548640" y="4572000"/>
            <a:ext cx="7315200" cy="228600"/>
          </a:xfrm>
          <a:prstGeom prst="rect">
            <a:avLst/>
          </a:prstGeom>
          <a:noFill/>
        </p:spPr>
        <p:txBody>
          <a:bodyPr wrap="square" lIns="0" rIns="0" tIns="0" bIns="0" anchor="t">
            <a:spAutoFit/>
          </a:bodyPr>
          <a:lstStyle/>
          <a:p>
            <a:pPr algn="l">
              <a:spcAft>
                <a:spcPts val="0"/>
              </a:spcAft>
            </a:pPr>
            <a:r>
              <a:rPr sz="1100" b="1" i="0">
                <a:solidFill>
                  <a:srgbClr val="8A8984"/>
                </a:solidFill>
                <a:latin typeface="Calibri"/>
              </a:rPr>
              <a:t>THEN INTEGRATED WITH EARLIER DATASETS</a:t>
            </a:r>
          </a:p>
        </p:txBody>
      </p:sp>
      <p:sp>
        <p:nvSpPr>
          <p:cNvPr id="52" name="Rectangle 51"/>
          <p:cNvSpPr/>
          <p:nvPr/>
        </p:nvSpPr>
        <p:spPr>
          <a:xfrm>
            <a:off x="548640" y="4846320"/>
            <a:ext cx="3566160" cy="105156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548640" y="4846320"/>
            <a:ext cx="73152" cy="1051560"/>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777240" y="4919472"/>
            <a:ext cx="3200400" cy="274320"/>
          </a:xfrm>
          <a:prstGeom prst="rect">
            <a:avLst/>
          </a:prstGeom>
          <a:noFill/>
        </p:spPr>
        <p:txBody>
          <a:bodyPr wrap="square" lIns="0" rIns="0" tIns="0" bIns="0" anchor="t">
            <a:spAutoFit/>
          </a:bodyPr>
          <a:lstStyle/>
          <a:p>
            <a:pPr algn="l">
              <a:spcAft>
                <a:spcPts val="0"/>
              </a:spcAft>
            </a:pPr>
            <a:r>
              <a:rPr sz="1450" b="1" i="0">
                <a:solidFill>
                  <a:srgbClr val="0E2A47"/>
                </a:solidFill>
                <a:latin typeface="Calibri"/>
              </a:rPr>
              <a:t>DNA methylation</a:t>
            </a:r>
          </a:p>
        </p:txBody>
      </p:sp>
      <p:sp>
        <p:nvSpPr>
          <p:cNvPr id="55" name="TextBox 54"/>
          <p:cNvSpPr txBox="1"/>
          <p:nvPr/>
        </p:nvSpPr>
        <p:spPr>
          <a:xfrm>
            <a:off x="777240" y="5230368"/>
            <a:ext cx="3200400" cy="640080"/>
          </a:xfrm>
          <a:prstGeom prst="rect">
            <a:avLst/>
          </a:prstGeom>
          <a:noFill/>
        </p:spPr>
        <p:txBody>
          <a:bodyPr wrap="square" lIns="0" rIns="0" tIns="0" bIns="0" anchor="t">
            <a:spAutoFit/>
          </a:bodyPr>
          <a:lstStyle/>
          <a:p>
            <a:pPr algn="l">
              <a:spcAft>
                <a:spcPts val="0"/>
              </a:spcAft>
            </a:pPr>
            <a:r>
              <a:rPr sz="1250" b="0" i="0">
                <a:solidFill>
                  <a:srgbClr val="14171C"/>
                </a:solidFill>
                <a:latin typeface="Calibri"/>
              </a:rPr>
              <a:t>Bisulphite sequencing of the same cultivars; CG, CHG and CHH density per site.</a:t>
            </a:r>
          </a:p>
        </p:txBody>
      </p:sp>
      <p:sp>
        <p:nvSpPr>
          <p:cNvPr id="56" name="Rectangle 55"/>
          <p:cNvSpPr/>
          <p:nvPr/>
        </p:nvSpPr>
        <p:spPr>
          <a:xfrm>
            <a:off x="4311396" y="4846320"/>
            <a:ext cx="3566160" cy="105156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4311396" y="4846320"/>
            <a:ext cx="73152" cy="1051560"/>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4539996" y="4919472"/>
            <a:ext cx="3200400" cy="274320"/>
          </a:xfrm>
          <a:prstGeom prst="rect">
            <a:avLst/>
          </a:prstGeom>
          <a:noFill/>
        </p:spPr>
        <p:txBody>
          <a:bodyPr wrap="square" lIns="0" rIns="0" tIns="0" bIns="0" anchor="t">
            <a:spAutoFit/>
          </a:bodyPr>
          <a:lstStyle/>
          <a:p>
            <a:pPr algn="l">
              <a:spcAft>
                <a:spcPts val="0"/>
              </a:spcAft>
            </a:pPr>
            <a:r>
              <a:rPr sz="1450" b="1" i="0">
                <a:solidFill>
                  <a:srgbClr val="0E2A47"/>
                </a:solidFill>
                <a:latin typeface="Calibri"/>
              </a:rPr>
              <a:t>Histone marks and Pol II</a:t>
            </a:r>
          </a:p>
        </p:txBody>
      </p:sp>
      <p:sp>
        <p:nvSpPr>
          <p:cNvPr id="59" name="TextBox 58"/>
          <p:cNvSpPr txBox="1"/>
          <p:nvPr/>
        </p:nvSpPr>
        <p:spPr>
          <a:xfrm>
            <a:off x="4539996" y="5230368"/>
            <a:ext cx="3200400" cy="640080"/>
          </a:xfrm>
          <a:prstGeom prst="rect">
            <a:avLst/>
          </a:prstGeom>
          <a:noFill/>
        </p:spPr>
        <p:txBody>
          <a:bodyPr wrap="square" lIns="0" rIns="0" tIns="0" bIns="0" anchor="t">
            <a:spAutoFit/>
          </a:bodyPr>
          <a:lstStyle/>
          <a:p>
            <a:pPr algn="l">
              <a:spcAft>
                <a:spcPts val="0"/>
              </a:spcAft>
            </a:pPr>
            <a:r>
              <a:rPr sz="1250" b="0" i="0">
                <a:solidFill>
                  <a:srgbClr val="14171C"/>
                </a:solidFill>
                <a:latin typeface="Calibri"/>
              </a:rPr>
              <a:t>Five histone marks and RNA polymerase II from a published Nipponbare leaf study.</a:t>
            </a:r>
          </a:p>
        </p:txBody>
      </p:sp>
      <p:sp>
        <p:nvSpPr>
          <p:cNvPr id="60" name="Rectangle 59"/>
          <p:cNvSpPr/>
          <p:nvPr/>
        </p:nvSpPr>
        <p:spPr>
          <a:xfrm>
            <a:off x="8074152" y="4846320"/>
            <a:ext cx="3566160" cy="105156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8074152" y="4846320"/>
            <a:ext cx="73152" cy="1051560"/>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8302752" y="4919472"/>
            <a:ext cx="3200400" cy="274320"/>
          </a:xfrm>
          <a:prstGeom prst="rect">
            <a:avLst/>
          </a:prstGeom>
          <a:noFill/>
        </p:spPr>
        <p:txBody>
          <a:bodyPr wrap="square" lIns="0" rIns="0" tIns="0" bIns="0" anchor="t">
            <a:spAutoFit/>
          </a:bodyPr>
          <a:lstStyle/>
          <a:p>
            <a:pPr algn="l">
              <a:spcAft>
                <a:spcPts val="0"/>
              </a:spcAft>
            </a:pPr>
            <a:r>
              <a:rPr sz="1450" b="1" i="0">
                <a:solidFill>
                  <a:srgbClr val="0E2A47"/>
                </a:solidFill>
                <a:latin typeface="Calibri"/>
              </a:rPr>
              <a:t>Gene expression</a:t>
            </a:r>
          </a:p>
        </p:txBody>
      </p:sp>
      <p:sp>
        <p:nvSpPr>
          <p:cNvPr id="63" name="TextBox 62"/>
          <p:cNvSpPr txBox="1"/>
          <p:nvPr/>
        </p:nvSpPr>
        <p:spPr>
          <a:xfrm>
            <a:off x="8302752" y="5230368"/>
            <a:ext cx="3200400" cy="640080"/>
          </a:xfrm>
          <a:prstGeom prst="rect">
            <a:avLst/>
          </a:prstGeom>
          <a:noFill/>
        </p:spPr>
        <p:txBody>
          <a:bodyPr wrap="square" lIns="0" rIns="0" tIns="0" bIns="0" anchor="t">
            <a:spAutoFit/>
          </a:bodyPr>
          <a:lstStyle/>
          <a:p>
            <a:pPr algn="l">
              <a:spcAft>
                <a:spcPts val="0"/>
              </a:spcAft>
            </a:pPr>
            <a:r>
              <a:rPr sz="1250" b="0" i="0">
                <a:solidFill>
                  <a:srgbClr val="14171C"/>
                </a:solidFill>
                <a:latin typeface="Calibri"/>
              </a:rPr>
              <a:t>RNA-seq of the same cultivars; differential genes at ≥1 log2FC, q &lt; 0.05.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48640" y="347472"/>
            <a:ext cx="8229600" cy="274320"/>
          </a:xfrm>
          <a:prstGeom prst="rect">
            <a:avLst/>
          </a:prstGeom>
          <a:noFill/>
        </p:spPr>
        <p:txBody>
          <a:bodyPr wrap="square" lIns="0" rIns="0" tIns="0" bIns="0" anchor="t">
            <a:spAutoFit/>
          </a:bodyPr>
          <a:lstStyle/>
          <a:p>
            <a:pPr algn="l">
              <a:spcAft>
                <a:spcPts val="0"/>
              </a:spcAft>
            </a:pPr>
            <a:r>
              <a:rPr sz="1200" b="1" i="0">
                <a:solidFill>
                  <a:srgbClr val="1F5FAE"/>
                </a:solidFill>
                <a:latin typeface="Calibri"/>
              </a:rPr>
              <a:t>CHROMATIN ACCESSIBILITY  ·  OPEN-CHROMATIN LANDSCAPE</a:t>
            </a:r>
          </a:p>
        </p:txBody>
      </p:sp>
      <p:sp>
        <p:nvSpPr>
          <p:cNvPr id="3" name="TextBox 2"/>
          <p:cNvSpPr txBox="1"/>
          <p:nvPr/>
        </p:nvSpPr>
        <p:spPr>
          <a:xfrm>
            <a:off x="548640" y="621792"/>
            <a:ext cx="11091672" cy="914400"/>
          </a:xfrm>
          <a:prstGeom prst="rect">
            <a:avLst/>
          </a:prstGeom>
          <a:noFill/>
        </p:spPr>
        <p:txBody>
          <a:bodyPr wrap="square" lIns="0" rIns="0" tIns="0" bIns="0" anchor="t">
            <a:spAutoFit/>
          </a:bodyPr>
          <a:lstStyle/>
          <a:p>
            <a:pPr algn="l">
              <a:lnSpc>
                <a:spcPct val="95000"/>
              </a:lnSpc>
              <a:spcAft>
                <a:spcPts val="0"/>
              </a:spcAft>
            </a:pPr>
            <a:r>
              <a:rPr sz="2600" b="1" i="0">
                <a:solidFill>
                  <a:srgbClr val="0E2A47"/>
                </a:solidFill>
                <a:latin typeface="Calibri"/>
              </a:rPr>
              <a:t>Tolerant N22 opens far more cultivar-specific chromatin under drought</a:t>
            </a:r>
          </a:p>
        </p:txBody>
      </p:sp>
      <p:sp>
        <p:nvSpPr>
          <p:cNvPr id="4" name="Rectangle 3"/>
          <p:cNvSpPr/>
          <p:nvPr/>
        </p:nvSpPr>
        <p:spPr>
          <a:xfrm>
            <a:off x="548640" y="6108192"/>
            <a:ext cx="11091672" cy="329184"/>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6108192"/>
            <a:ext cx="64008" cy="329184"/>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108192"/>
            <a:ext cx="10817352" cy="329184"/>
          </a:xfrm>
          <a:prstGeom prst="rect">
            <a:avLst/>
          </a:prstGeom>
          <a:noFill/>
        </p:spPr>
        <p:txBody>
          <a:bodyPr wrap="square" lIns="0" rIns="0" tIns="0" bIns="0" anchor="ctr">
            <a:spAutoFit/>
          </a:bodyPr>
          <a:lstStyle/>
          <a:p>
            <a:pPr algn="l">
              <a:spcAft>
                <a:spcPts val="0"/>
              </a:spcAft>
            </a:pPr>
            <a:r>
              <a:rPr sz="1100" b="1" i="0">
                <a:solidFill>
                  <a:srgbClr val="1F5FAE"/>
                </a:solidFill>
                <a:latin typeface="Calibri"/>
              </a:rPr>
              <a:t>ROLE LINK   </a:t>
            </a:r>
            <a:r>
              <a:rPr sz="1300" b="0" i="0">
                <a:solidFill>
                  <a:srgbClr val="52514E"/>
                </a:solidFill>
                <a:latin typeface="Calibri"/>
              </a:rPr>
              <a:t>Epigenomics: from peaks to genomic context</a:t>
            </a:r>
          </a:p>
        </p:txBody>
      </p:sp>
      <p:sp>
        <p:nvSpPr>
          <p:cNvPr id="7" name="TextBox 6"/>
          <p:cNvSpPr txBox="1"/>
          <p:nvPr/>
        </p:nvSpPr>
        <p:spPr>
          <a:xfrm>
            <a:off x="548640" y="6510528"/>
            <a:ext cx="6400800" cy="228600"/>
          </a:xfrm>
          <a:prstGeom prst="rect">
            <a:avLst/>
          </a:prstGeom>
          <a:noFill/>
        </p:spPr>
        <p:txBody>
          <a:bodyPr wrap="square" lIns="0" rIns="0" tIns="0" bIns="0" anchor="t">
            <a:spAutoFit/>
          </a:bodyPr>
          <a:lstStyle/>
          <a:p>
            <a:pPr algn="l">
              <a:spcAft>
                <a:spcPts val="0"/>
              </a:spcAft>
            </a:pPr>
            <a:r>
              <a:rPr sz="1000" b="0" i="0">
                <a:solidFill>
                  <a:srgbClr val="8A8984"/>
                </a:solidFill>
                <a:latin typeface="Calibri"/>
              </a:rPr>
              <a:t>Kunal Tembhare  ·  Computational biology and multi-omics ML</a:t>
            </a:r>
          </a:p>
        </p:txBody>
      </p:sp>
      <p:sp>
        <p:nvSpPr>
          <p:cNvPr id="8" name="TextBox 7"/>
          <p:cNvSpPr txBox="1"/>
          <p:nvPr/>
        </p:nvSpPr>
        <p:spPr>
          <a:xfrm>
            <a:off x="10268712" y="6510528"/>
            <a:ext cx="1371600" cy="228600"/>
          </a:xfrm>
          <a:prstGeom prst="rect">
            <a:avLst/>
          </a:prstGeom>
          <a:noFill/>
        </p:spPr>
        <p:txBody>
          <a:bodyPr wrap="square" lIns="0" rIns="0" tIns="0" bIns="0" anchor="t">
            <a:spAutoFit/>
          </a:bodyPr>
          <a:lstStyle/>
          <a:p>
            <a:pPr algn="r">
              <a:spcAft>
                <a:spcPts val="0"/>
              </a:spcAft>
            </a:pPr>
            <a:r>
              <a:rPr sz="1000" b="0" i="0">
                <a:solidFill>
                  <a:srgbClr val="8A8984"/>
                </a:solidFill>
                <a:latin typeface="Calibri"/>
              </a:rPr>
              <a:t>16 / 27</a:t>
            </a:r>
          </a:p>
        </p:txBody>
      </p:sp>
      <p:sp>
        <p:nvSpPr>
          <p:cNvPr id="9" name="TextBox 8"/>
          <p:cNvSpPr txBox="1"/>
          <p:nvPr/>
        </p:nvSpPr>
        <p:spPr>
          <a:xfrm>
            <a:off x="548640" y="1645920"/>
            <a:ext cx="5852160" cy="274320"/>
          </a:xfrm>
          <a:prstGeom prst="rect">
            <a:avLst/>
          </a:prstGeom>
          <a:noFill/>
        </p:spPr>
        <p:txBody>
          <a:bodyPr wrap="square" lIns="0" rIns="0" tIns="0" bIns="0" anchor="t">
            <a:spAutoFit/>
          </a:bodyPr>
          <a:lstStyle/>
          <a:p>
            <a:pPr algn="l">
              <a:spcAft>
                <a:spcPts val="0"/>
              </a:spcAft>
            </a:pPr>
            <a:r>
              <a:rPr sz="1500" b="1" i="0">
                <a:solidFill>
                  <a:srgbClr val="0E2A47"/>
                </a:solidFill>
                <a:latin typeface="Calibri"/>
              </a:rPr>
              <a:t>Sample-specific open-chromatin sites</a:t>
            </a:r>
          </a:p>
        </p:txBody>
      </p:sp>
      <p:graphicFrame>
        <p:nvGraphicFramePr>
          <p:cNvPr id="10" name="Chart 9"/>
          <p:cNvGraphicFramePr>
            <a:graphicFrameLocks noGrp="1"/>
          </p:cNvGraphicFramePr>
          <p:nvPr/>
        </p:nvGraphicFramePr>
        <p:xfrm>
          <a:off x="548640" y="1965960"/>
          <a:ext cx="5852160" cy="3611880"/>
        </p:xfrm>
        <a:graphic>
          <a:graphicData uri="http://schemas.openxmlformats.org/drawingml/2006/chart">
            <c:chart xmlns:c="http://schemas.openxmlformats.org/drawingml/2006/chart" r:id="rId2"/>
          </a:graphicData>
        </a:graphic>
      </p:graphicFrame>
      <p:sp>
        <p:nvSpPr>
          <p:cNvPr id="11" name="TextBox 10"/>
          <p:cNvSpPr txBox="1"/>
          <p:nvPr/>
        </p:nvSpPr>
        <p:spPr>
          <a:xfrm>
            <a:off x="548640" y="5623560"/>
            <a:ext cx="5852160" cy="365760"/>
          </a:xfrm>
          <a:prstGeom prst="rect">
            <a:avLst/>
          </a:prstGeom>
          <a:noFill/>
        </p:spPr>
        <p:txBody>
          <a:bodyPr wrap="square" lIns="0" rIns="0" tIns="0" bIns="0" anchor="t">
            <a:spAutoFit/>
          </a:bodyPr>
          <a:lstStyle/>
          <a:p>
            <a:pPr algn="l">
              <a:spcAft>
                <a:spcPts val="0"/>
              </a:spcAft>
            </a:pPr>
            <a:r>
              <a:rPr sz="1250" b="0" i="0">
                <a:solidFill>
                  <a:srgbClr val="52514E"/>
                </a:solidFill>
                <a:latin typeface="Calibri"/>
              </a:rPr>
              <a:t>N22 has 3.3× more specific sites at control and 2.8× more under drought.</a:t>
            </a:r>
          </a:p>
        </p:txBody>
      </p:sp>
      <p:sp>
        <p:nvSpPr>
          <p:cNvPr id="12" name="Rectangle 11"/>
          <p:cNvSpPr/>
          <p:nvPr/>
        </p:nvSpPr>
        <p:spPr>
          <a:xfrm>
            <a:off x="6720840" y="1691640"/>
            <a:ext cx="4919472" cy="109728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720840" y="1691640"/>
            <a:ext cx="73152" cy="1097280"/>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95160" y="1691640"/>
            <a:ext cx="1600200" cy="1097280"/>
          </a:xfrm>
          <a:prstGeom prst="rect">
            <a:avLst/>
          </a:prstGeom>
          <a:noFill/>
        </p:spPr>
        <p:txBody>
          <a:bodyPr wrap="square" lIns="0" rIns="0" tIns="0" bIns="0" anchor="ctr">
            <a:spAutoFit/>
          </a:bodyPr>
          <a:lstStyle/>
          <a:p>
            <a:pPr algn="l">
              <a:spcAft>
                <a:spcPts val="0"/>
              </a:spcAft>
            </a:pPr>
            <a:r>
              <a:rPr sz="2800" b="1" i="0">
                <a:solidFill>
                  <a:srgbClr val="0E2A47"/>
                </a:solidFill>
                <a:latin typeface="Calibri"/>
              </a:rPr>
              <a:t>21–36k</a:t>
            </a:r>
          </a:p>
        </p:txBody>
      </p:sp>
      <p:sp>
        <p:nvSpPr>
          <p:cNvPr id="15" name="TextBox 14"/>
          <p:cNvSpPr txBox="1"/>
          <p:nvPr/>
        </p:nvSpPr>
        <p:spPr>
          <a:xfrm>
            <a:off x="8641080" y="1691640"/>
            <a:ext cx="2880360" cy="1097280"/>
          </a:xfrm>
          <a:prstGeom prst="rect">
            <a:avLst/>
          </a:prstGeom>
          <a:noFill/>
        </p:spPr>
        <p:txBody>
          <a:bodyPr wrap="square" lIns="0" rIns="0" tIns="0" bIns="0" anchor="ctr">
            <a:spAutoFit/>
          </a:bodyPr>
          <a:lstStyle/>
          <a:p>
            <a:pPr algn="l">
              <a:spcAft>
                <a:spcPts val="0"/>
              </a:spcAft>
            </a:pPr>
            <a:r>
              <a:rPr sz="1300" b="0" i="0">
                <a:solidFill>
                  <a:srgbClr val="14171C"/>
                </a:solidFill>
                <a:latin typeface="Calibri"/>
              </a:rPr>
              <a:t>consensus open-chromatin sites per sample (21,549 to 35,965)</a:t>
            </a:r>
          </a:p>
        </p:txBody>
      </p:sp>
      <p:sp>
        <p:nvSpPr>
          <p:cNvPr id="16" name="Rectangle 15"/>
          <p:cNvSpPr/>
          <p:nvPr/>
        </p:nvSpPr>
        <p:spPr>
          <a:xfrm>
            <a:off x="6720840" y="2926080"/>
            <a:ext cx="4919472" cy="109728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720840" y="2926080"/>
            <a:ext cx="73152" cy="1097280"/>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995160" y="2926080"/>
            <a:ext cx="1600200" cy="1097280"/>
          </a:xfrm>
          <a:prstGeom prst="rect">
            <a:avLst/>
          </a:prstGeom>
          <a:noFill/>
        </p:spPr>
        <p:txBody>
          <a:bodyPr wrap="square" lIns="0" rIns="0" tIns="0" bIns="0" anchor="ctr">
            <a:spAutoFit/>
          </a:bodyPr>
          <a:lstStyle/>
          <a:p>
            <a:pPr algn="l">
              <a:spcAft>
                <a:spcPts val="0"/>
              </a:spcAft>
            </a:pPr>
            <a:r>
              <a:rPr sz="2800" b="1" i="0">
                <a:solidFill>
                  <a:srgbClr val="0E2A47"/>
                </a:solidFill>
                <a:latin typeface="Calibri"/>
              </a:rPr>
              <a:t>14,959</a:t>
            </a:r>
          </a:p>
        </p:txBody>
      </p:sp>
      <p:sp>
        <p:nvSpPr>
          <p:cNvPr id="19" name="TextBox 18"/>
          <p:cNvSpPr txBox="1"/>
          <p:nvPr/>
        </p:nvSpPr>
        <p:spPr>
          <a:xfrm>
            <a:off x="8641080" y="2926080"/>
            <a:ext cx="2880360" cy="1097280"/>
          </a:xfrm>
          <a:prstGeom prst="rect">
            <a:avLst/>
          </a:prstGeom>
          <a:noFill/>
        </p:spPr>
        <p:txBody>
          <a:bodyPr wrap="square" lIns="0" rIns="0" tIns="0" bIns="0" anchor="ctr">
            <a:spAutoFit/>
          </a:bodyPr>
          <a:lstStyle/>
          <a:p>
            <a:pPr algn="l">
              <a:spcAft>
                <a:spcPts val="0"/>
              </a:spcAft>
            </a:pPr>
            <a:r>
              <a:rPr sz="1300" b="0" i="0">
                <a:solidFill>
                  <a:srgbClr val="14171C"/>
                </a:solidFill>
                <a:latin typeface="Calibri"/>
              </a:rPr>
              <a:t>sites shared by all four samples</a:t>
            </a:r>
          </a:p>
        </p:txBody>
      </p:sp>
      <p:sp>
        <p:nvSpPr>
          <p:cNvPr id="20" name="Rectangle 19"/>
          <p:cNvSpPr/>
          <p:nvPr/>
        </p:nvSpPr>
        <p:spPr>
          <a:xfrm>
            <a:off x="6720840" y="4160520"/>
            <a:ext cx="4919472" cy="109728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720840" y="4160520"/>
            <a:ext cx="73152" cy="1097280"/>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995160" y="4160520"/>
            <a:ext cx="1600200" cy="1097280"/>
          </a:xfrm>
          <a:prstGeom prst="rect">
            <a:avLst/>
          </a:prstGeom>
          <a:noFill/>
        </p:spPr>
        <p:txBody>
          <a:bodyPr wrap="square" lIns="0" rIns="0" tIns="0" bIns="0" anchor="ctr">
            <a:spAutoFit/>
          </a:bodyPr>
          <a:lstStyle/>
          <a:p>
            <a:pPr algn="l">
              <a:spcAft>
                <a:spcPts val="0"/>
              </a:spcAft>
            </a:pPr>
            <a:r>
              <a:rPr sz="2800" b="1" i="0">
                <a:solidFill>
                  <a:srgbClr val="0E2A47"/>
                </a:solidFill>
                <a:latin typeface="Calibri"/>
              </a:rPr>
              <a:t>20–24%</a:t>
            </a:r>
          </a:p>
        </p:txBody>
      </p:sp>
      <p:sp>
        <p:nvSpPr>
          <p:cNvPr id="23" name="TextBox 22"/>
          <p:cNvSpPr txBox="1"/>
          <p:nvPr/>
        </p:nvSpPr>
        <p:spPr>
          <a:xfrm>
            <a:off x="8641080" y="4160520"/>
            <a:ext cx="2880360" cy="1097280"/>
          </a:xfrm>
          <a:prstGeom prst="rect">
            <a:avLst/>
          </a:prstGeom>
          <a:noFill/>
        </p:spPr>
        <p:txBody>
          <a:bodyPr wrap="square" lIns="0" rIns="0" tIns="0" bIns="0" anchor="ctr">
            <a:spAutoFit/>
          </a:bodyPr>
          <a:lstStyle/>
          <a:p>
            <a:pPr algn="l">
              <a:spcAft>
                <a:spcPts val="0"/>
              </a:spcAft>
            </a:pPr>
            <a:r>
              <a:rPr sz="1300" b="0" i="0">
                <a:solidFill>
                  <a:srgbClr val="14171C"/>
                </a:solidFill>
                <a:latin typeface="Calibri"/>
              </a:rPr>
              <a:t>of sites in promoters, with a further 14 to 18% at transcription start sites</a:t>
            </a:r>
          </a:p>
        </p:txBody>
      </p:sp>
      <p:sp>
        <p:nvSpPr>
          <p:cNvPr id="24" name="TextBox 23"/>
          <p:cNvSpPr txBox="1"/>
          <p:nvPr/>
        </p:nvSpPr>
        <p:spPr>
          <a:xfrm>
            <a:off x="6720840" y="5440680"/>
            <a:ext cx="4919472" cy="548640"/>
          </a:xfrm>
          <a:prstGeom prst="rect">
            <a:avLst/>
          </a:prstGeom>
          <a:noFill/>
        </p:spPr>
        <p:txBody>
          <a:bodyPr wrap="square" lIns="0" rIns="0" tIns="0" bIns="0" anchor="t">
            <a:spAutoFit/>
          </a:bodyPr>
          <a:lstStyle/>
          <a:p>
            <a:pPr algn="l">
              <a:spcAft>
                <a:spcPts val="0"/>
              </a:spcAft>
            </a:pPr>
            <a:r>
              <a:rPr sz="1300" b="0" i="0">
                <a:solidFill>
                  <a:srgbClr val="52514E"/>
                </a:solidFill>
                <a:latin typeface="Calibri"/>
              </a:rPr>
              <a:t>Genes with sites at the TSS or promoter were the most highly expressed (P &lt; 2.2e-16, Wilcoxon test against all genes).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48640" y="347472"/>
            <a:ext cx="8229600" cy="274320"/>
          </a:xfrm>
          <a:prstGeom prst="rect">
            <a:avLst/>
          </a:prstGeom>
          <a:noFill/>
        </p:spPr>
        <p:txBody>
          <a:bodyPr wrap="square" lIns="0" rIns="0" tIns="0" bIns="0" anchor="t">
            <a:spAutoFit/>
          </a:bodyPr>
          <a:lstStyle/>
          <a:p>
            <a:pPr algn="l">
              <a:spcAft>
                <a:spcPts val="0"/>
              </a:spcAft>
            </a:pPr>
            <a:r>
              <a:rPr sz="1200" b="1" i="0">
                <a:solidFill>
                  <a:srgbClr val="1F5FAE"/>
                </a:solidFill>
                <a:latin typeface="Calibri"/>
              </a:rPr>
              <a:t>CHROMATIN ACCESSIBILITY  ·  DIFFERENTIAL ACCESSIBILITY</a:t>
            </a:r>
          </a:p>
        </p:txBody>
      </p:sp>
      <p:sp>
        <p:nvSpPr>
          <p:cNvPr id="3" name="TextBox 2"/>
          <p:cNvSpPr txBox="1"/>
          <p:nvPr/>
        </p:nvSpPr>
        <p:spPr>
          <a:xfrm>
            <a:off x="548640" y="621792"/>
            <a:ext cx="11091672" cy="914400"/>
          </a:xfrm>
          <a:prstGeom prst="rect">
            <a:avLst/>
          </a:prstGeom>
          <a:noFill/>
        </p:spPr>
        <p:txBody>
          <a:bodyPr wrap="square" lIns="0" rIns="0" tIns="0" bIns="0" anchor="t">
            <a:spAutoFit/>
          </a:bodyPr>
          <a:lstStyle/>
          <a:p>
            <a:pPr algn="l">
              <a:lnSpc>
                <a:spcPct val="95000"/>
              </a:lnSpc>
              <a:spcAft>
                <a:spcPts val="0"/>
              </a:spcAft>
            </a:pPr>
            <a:r>
              <a:rPr sz="2600" b="1" i="0">
                <a:solidFill>
                  <a:srgbClr val="0E2A47"/>
                </a:solidFill>
                <a:latin typeface="Calibri"/>
              </a:rPr>
              <a:t>Gained accessibility in N22 tracks up-regulation of drought-related genes</a:t>
            </a:r>
          </a:p>
        </p:txBody>
      </p:sp>
      <p:sp>
        <p:nvSpPr>
          <p:cNvPr id="4" name="Rectangle 3"/>
          <p:cNvSpPr/>
          <p:nvPr/>
        </p:nvSpPr>
        <p:spPr>
          <a:xfrm>
            <a:off x="548640" y="6108192"/>
            <a:ext cx="11091672" cy="329184"/>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6108192"/>
            <a:ext cx="64008" cy="329184"/>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108192"/>
            <a:ext cx="10817352" cy="329184"/>
          </a:xfrm>
          <a:prstGeom prst="rect">
            <a:avLst/>
          </a:prstGeom>
          <a:noFill/>
        </p:spPr>
        <p:txBody>
          <a:bodyPr wrap="square" lIns="0" rIns="0" tIns="0" bIns="0" anchor="ctr">
            <a:spAutoFit/>
          </a:bodyPr>
          <a:lstStyle/>
          <a:p>
            <a:pPr algn="l">
              <a:spcAft>
                <a:spcPts val="0"/>
              </a:spcAft>
            </a:pPr>
            <a:r>
              <a:rPr sz="1100" b="1" i="0">
                <a:solidFill>
                  <a:srgbClr val="1F5FAE"/>
                </a:solidFill>
                <a:latin typeface="Calibri"/>
              </a:rPr>
              <a:t>ROLE LINK   </a:t>
            </a:r>
            <a:r>
              <a:rPr sz="1300" b="0" i="0">
                <a:solidFill>
                  <a:srgbClr val="52514E"/>
                </a:solidFill>
                <a:latin typeface="Calibri"/>
              </a:rPr>
              <a:t>Linking an epigenomic signal to gene expression and mechanism</a:t>
            </a:r>
          </a:p>
        </p:txBody>
      </p:sp>
      <p:sp>
        <p:nvSpPr>
          <p:cNvPr id="7" name="TextBox 6"/>
          <p:cNvSpPr txBox="1"/>
          <p:nvPr/>
        </p:nvSpPr>
        <p:spPr>
          <a:xfrm>
            <a:off x="548640" y="6510528"/>
            <a:ext cx="6400800" cy="228600"/>
          </a:xfrm>
          <a:prstGeom prst="rect">
            <a:avLst/>
          </a:prstGeom>
          <a:noFill/>
        </p:spPr>
        <p:txBody>
          <a:bodyPr wrap="square" lIns="0" rIns="0" tIns="0" bIns="0" anchor="t">
            <a:spAutoFit/>
          </a:bodyPr>
          <a:lstStyle/>
          <a:p>
            <a:pPr algn="l">
              <a:spcAft>
                <a:spcPts val="0"/>
              </a:spcAft>
            </a:pPr>
            <a:r>
              <a:rPr sz="1000" b="0" i="0">
                <a:solidFill>
                  <a:srgbClr val="8A8984"/>
                </a:solidFill>
                <a:latin typeface="Calibri"/>
              </a:rPr>
              <a:t>Kunal Tembhare  ·  Computational biology and multi-omics ML</a:t>
            </a:r>
          </a:p>
        </p:txBody>
      </p:sp>
      <p:sp>
        <p:nvSpPr>
          <p:cNvPr id="8" name="TextBox 7"/>
          <p:cNvSpPr txBox="1"/>
          <p:nvPr/>
        </p:nvSpPr>
        <p:spPr>
          <a:xfrm>
            <a:off x="10268712" y="6510528"/>
            <a:ext cx="1371600" cy="228600"/>
          </a:xfrm>
          <a:prstGeom prst="rect">
            <a:avLst/>
          </a:prstGeom>
          <a:noFill/>
        </p:spPr>
        <p:txBody>
          <a:bodyPr wrap="square" lIns="0" rIns="0" tIns="0" bIns="0" anchor="t">
            <a:spAutoFit/>
          </a:bodyPr>
          <a:lstStyle/>
          <a:p>
            <a:pPr algn="r">
              <a:spcAft>
                <a:spcPts val="0"/>
              </a:spcAft>
            </a:pPr>
            <a:r>
              <a:rPr sz="1000" b="0" i="0">
                <a:solidFill>
                  <a:srgbClr val="8A8984"/>
                </a:solidFill>
                <a:latin typeface="Calibri"/>
              </a:rPr>
              <a:t>17 / 27</a:t>
            </a:r>
          </a:p>
        </p:txBody>
      </p:sp>
      <p:sp>
        <p:nvSpPr>
          <p:cNvPr id="9" name="TextBox 8"/>
          <p:cNvSpPr txBox="1"/>
          <p:nvPr/>
        </p:nvSpPr>
        <p:spPr>
          <a:xfrm>
            <a:off x="548640" y="1645920"/>
            <a:ext cx="5486400" cy="228600"/>
          </a:xfrm>
          <a:prstGeom prst="rect">
            <a:avLst/>
          </a:prstGeom>
          <a:noFill/>
        </p:spPr>
        <p:txBody>
          <a:bodyPr wrap="square" lIns="0" rIns="0" tIns="0" bIns="0" anchor="t">
            <a:spAutoFit/>
          </a:bodyPr>
          <a:lstStyle/>
          <a:p>
            <a:pPr algn="l">
              <a:spcAft>
                <a:spcPts val="0"/>
              </a:spcAft>
            </a:pPr>
            <a:r>
              <a:rPr sz="1100" b="1" i="0">
                <a:solidFill>
                  <a:srgbClr val="8A8984"/>
                </a:solidFill>
                <a:latin typeface="Calibri"/>
              </a:rPr>
              <a:t>DROUGHT-RESPONSIVE SITES THAT GAINED ACCESSIBILITY</a:t>
            </a:r>
          </a:p>
        </p:txBody>
      </p:sp>
      <p:sp>
        <p:nvSpPr>
          <p:cNvPr id="10" name="Rectangle 9"/>
          <p:cNvSpPr/>
          <p:nvPr/>
        </p:nvSpPr>
        <p:spPr>
          <a:xfrm>
            <a:off x="548640" y="1965960"/>
            <a:ext cx="5486400" cy="141732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1965960"/>
            <a:ext cx="91440" cy="141732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1965960"/>
            <a:ext cx="2194560" cy="1417320"/>
          </a:xfrm>
          <a:prstGeom prst="rect">
            <a:avLst/>
          </a:prstGeom>
          <a:noFill/>
        </p:spPr>
        <p:txBody>
          <a:bodyPr wrap="square" lIns="0" rIns="0" tIns="0" bIns="0" anchor="ctr">
            <a:spAutoFit/>
          </a:bodyPr>
          <a:lstStyle/>
          <a:p>
            <a:pPr algn="l">
              <a:spcAft>
                <a:spcPts val="0"/>
              </a:spcAft>
            </a:pPr>
            <a:r>
              <a:rPr sz="4000" b="1" i="0">
                <a:solidFill>
                  <a:srgbClr val="0E2A47"/>
                </a:solidFill>
                <a:latin typeface="Calibri"/>
              </a:rPr>
              <a:t>98.6%</a:t>
            </a:r>
          </a:p>
        </p:txBody>
      </p:sp>
      <p:sp>
        <p:nvSpPr>
          <p:cNvPr id="13" name="TextBox 12"/>
          <p:cNvSpPr txBox="1"/>
          <p:nvPr/>
        </p:nvSpPr>
        <p:spPr>
          <a:xfrm>
            <a:off x="3108960" y="1965960"/>
            <a:ext cx="2788920" cy="1417320"/>
          </a:xfrm>
          <a:prstGeom prst="rect">
            <a:avLst/>
          </a:prstGeom>
          <a:noFill/>
        </p:spPr>
        <p:txBody>
          <a:bodyPr wrap="square" lIns="0" rIns="0" tIns="0" bIns="0" anchor="ctr">
            <a:spAutoFit/>
          </a:bodyPr>
          <a:lstStyle/>
          <a:p>
            <a:pPr algn="l">
              <a:spcAft>
                <a:spcPts val="300"/>
              </a:spcAft>
            </a:pPr>
            <a:r>
              <a:rPr sz="1500" b="1" i="0">
                <a:solidFill>
                  <a:srgbClr val="0E2A47"/>
                </a:solidFill>
                <a:latin typeface="Calibri"/>
              </a:rPr>
              <a:t>N22, tolerant</a:t>
            </a:r>
          </a:p>
          <a:p>
            <a:pPr algn="l">
              <a:spcAft>
                <a:spcPts val="300"/>
              </a:spcAft>
            </a:pPr>
            <a:r>
              <a:rPr sz="1300" b="0" i="0">
                <a:solidFill>
                  <a:srgbClr val="14171C"/>
                </a:solidFill>
                <a:latin typeface="Calibri"/>
              </a:rPr>
              <a:t>272 of 276 drought-responsive sites gained accessibility</a:t>
            </a:r>
          </a:p>
        </p:txBody>
      </p:sp>
      <p:sp>
        <p:nvSpPr>
          <p:cNvPr id="14" name="Rectangle 13"/>
          <p:cNvSpPr/>
          <p:nvPr/>
        </p:nvSpPr>
        <p:spPr>
          <a:xfrm>
            <a:off x="548640" y="3520439"/>
            <a:ext cx="5486400" cy="141732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3520439"/>
            <a:ext cx="91440" cy="1417320"/>
          </a:xfrm>
          <a:prstGeom prst="rect">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3520439"/>
            <a:ext cx="2194560" cy="1417320"/>
          </a:xfrm>
          <a:prstGeom prst="rect">
            <a:avLst/>
          </a:prstGeom>
          <a:noFill/>
        </p:spPr>
        <p:txBody>
          <a:bodyPr wrap="square" lIns="0" rIns="0" tIns="0" bIns="0" anchor="ctr">
            <a:spAutoFit/>
          </a:bodyPr>
          <a:lstStyle/>
          <a:p>
            <a:pPr algn="l">
              <a:spcAft>
                <a:spcPts val="0"/>
              </a:spcAft>
            </a:pPr>
            <a:r>
              <a:rPr sz="4000" b="1" i="0">
                <a:solidFill>
                  <a:srgbClr val="0E2A47"/>
                </a:solidFill>
                <a:latin typeface="Calibri"/>
              </a:rPr>
              <a:t>75.9%</a:t>
            </a:r>
          </a:p>
        </p:txBody>
      </p:sp>
      <p:sp>
        <p:nvSpPr>
          <p:cNvPr id="17" name="TextBox 16"/>
          <p:cNvSpPr txBox="1"/>
          <p:nvPr/>
        </p:nvSpPr>
        <p:spPr>
          <a:xfrm>
            <a:off x="3108960" y="3520439"/>
            <a:ext cx="2788920" cy="1417320"/>
          </a:xfrm>
          <a:prstGeom prst="rect">
            <a:avLst/>
          </a:prstGeom>
          <a:noFill/>
        </p:spPr>
        <p:txBody>
          <a:bodyPr wrap="square" lIns="0" rIns="0" tIns="0" bIns="0" anchor="ctr">
            <a:spAutoFit/>
          </a:bodyPr>
          <a:lstStyle/>
          <a:p>
            <a:pPr algn="l">
              <a:spcAft>
                <a:spcPts val="300"/>
              </a:spcAft>
            </a:pPr>
            <a:r>
              <a:rPr sz="1500" b="1" i="0">
                <a:solidFill>
                  <a:srgbClr val="0E2A47"/>
                </a:solidFill>
                <a:latin typeface="Calibri"/>
              </a:rPr>
              <a:t>IR64, sensitive</a:t>
            </a:r>
          </a:p>
          <a:p>
            <a:pPr algn="l">
              <a:spcAft>
                <a:spcPts val="300"/>
              </a:spcAft>
            </a:pPr>
            <a:r>
              <a:rPr sz="1300" b="0" i="0">
                <a:solidFill>
                  <a:srgbClr val="14171C"/>
                </a:solidFill>
                <a:latin typeface="Calibri"/>
              </a:rPr>
              <a:t>41 of 54 drought-responsive sites gained accessibility</a:t>
            </a:r>
          </a:p>
        </p:txBody>
      </p:sp>
      <p:sp>
        <p:nvSpPr>
          <p:cNvPr id="18" name="TextBox 17"/>
          <p:cNvSpPr txBox="1"/>
          <p:nvPr/>
        </p:nvSpPr>
        <p:spPr>
          <a:xfrm>
            <a:off x="548640" y="5120640"/>
            <a:ext cx="5486400" cy="731520"/>
          </a:xfrm>
          <a:prstGeom prst="rect">
            <a:avLst/>
          </a:prstGeom>
          <a:noFill/>
        </p:spPr>
        <p:txBody>
          <a:bodyPr wrap="square" lIns="0" rIns="0" tIns="0" bIns="0" anchor="t">
            <a:spAutoFit/>
          </a:bodyPr>
          <a:lstStyle/>
          <a:p>
            <a:pPr algn="l">
              <a:spcAft>
                <a:spcPts val="0"/>
              </a:spcAft>
            </a:pPr>
            <a:r>
              <a:rPr sz="1400" b="0" i="0">
                <a:solidFill>
                  <a:srgbClr val="52514E"/>
                </a:solidFill>
                <a:latin typeface="Calibri"/>
              </a:rPr>
              <a:t>N22 had 5.2× more drought-responsive sites than IR64 (276 against 54), and only 7 were shared between them.</a:t>
            </a:r>
          </a:p>
        </p:txBody>
      </p:sp>
      <p:sp>
        <p:nvSpPr>
          <p:cNvPr id="19" name="TextBox 18"/>
          <p:cNvSpPr txBox="1"/>
          <p:nvPr/>
        </p:nvSpPr>
        <p:spPr>
          <a:xfrm>
            <a:off x="6309360" y="1645920"/>
            <a:ext cx="5303520" cy="228600"/>
          </a:xfrm>
          <a:prstGeom prst="rect">
            <a:avLst/>
          </a:prstGeom>
          <a:noFill/>
        </p:spPr>
        <p:txBody>
          <a:bodyPr wrap="square" lIns="0" rIns="0" tIns="0" bIns="0" anchor="t">
            <a:spAutoFit/>
          </a:bodyPr>
          <a:lstStyle/>
          <a:p>
            <a:pPr algn="l">
              <a:spcAft>
                <a:spcPts val="0"/>
              </a:spcAft>
            </a:pPr>
            <a:r>
              <a:rPr sz="1100" b="1" i="0">
                <a:solidFill>
                  <a:srgbClr val="8A8984"/>
                </a:solidFill>
                <a:latin typeface="Calibri"/>
              </a:rPr>
              <a:t>LINK TO GENE EXPRESSION</a:t>
            </a:r>
          </a:p>
        </p:txBody>
      </p:sp>
      <p:sp>
        <p:nvSpPr>
          <p:cNvPr id="20" name="Rectangle 19"/>
          <p:cNvSpPr/>
          <p:nvPr/>
        </p:nvSpPr>
        <p:spPr>
          <a:xfrm>
            <a:off x="6309360" y="1965960"/>
            <a:ext cx="5330952" cy="91440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309360" y="1965960"/>
            <a:ext cx="73152" cy="914400"/>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83680" y="1965960"/>
            <a:ext cx="1508760" cy="914400"/>
          </a:xfrm>
          <a:prstGeom prst="rect">
            <a:avLst/>
          </a:prstGeom>
          <a:noFill/>
        </p:spPr>
        <p:txBody>
          <a:bodyPr wrap="square" lIns="0" rIns="0" tIns="0" bIns="0" anchor="ctr">
            <a:spAutoFit/>
          </a:bodyPr>
          <a:lstStyle/>
          <a:p>
            <a:pPr algn="l">
              <a:spcAft>
                <a:spcPts val="0"/>
              </a:spcAft>
            </a:pPr>
            <a:r>
              <a:rPr sz="2400" b="1" i="0">
                <a:solidFill>
                  <a:srgbClr val="0E2A47"/>
                </a:solidFill>
                <a:latin typeface="Calibri"/>
              </a:rPr>
              <a:t>44 + 12</a:t>
            </a:r>
          </a:p>
        </p:txBody>
      </p:sp>
      <p:sp>
        <p:nvSpPr>
          <p:cNvPr id="23" name="TextBox 22"/>
          <p:cNvSpPr txBox="1"/>
          <p:nvPr/>
        </p:nvSpPr>
        <p:spPr>
          <a:xfrm>
            <a:off x="8138160" y="1965960"/>
            <a:ext cx="3383280" cy="914400"/>
          </a:xfrm>
          <a:prstGeom prst="rect">
            <a:avLst/>
          </a:prstGeom>
          <a:noFill/>
        </p:spPr>
        <p:txBody>
          <a:bodyPr wrap="square" lIns="0" rIns="0" tIns="0" bIns="0" anchor="ctr">
            <a:spAutoFit/>
          </a:bodyPr>
          <a:lstStyle/>
          <a:p>
            <a:pPr algn="l">
              <a:spcAft>
                <a:spcPts val="0"/>
              </a:spcAft>
            </a:pPr>
            <a:r>
              <a:rPr sz="1250" b="0" i="0">
                <a:solidFill>
                  <a:srgbClr val="14171C"/>
                </a:solidFill>
                <a:latin typeface="Calibri"/>
              </a:rPr>
              <a:t>genes with gained promoter or TSS sites in N22 under drought; every one was up-regulated</a:t>
            </a:r>
          </a:p>
        </p:txBody>
      </p:sp>
      <p:sp>
        <p:nvSpPr>
          <p:cNvPr id="24" name="Rectangle 23"/>
          <p:cNvSpPr/>
          <p:nvPr/>
        </p:nvSpPr>
        <p:spPr>
          <a:xfrm>
            <a:off x="6309360" y="2971800"/>
            <a:ext cx="5330952" cy="91440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309360" y="2971800"/>
            <a:ext cx="73152" cy="914400"/>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83680" y="2971800"/>
            <a:ext cx="1508760" cy="914400"/>
          </a:xfrm>
          <a:prstGeom prst="rect">
            <a:avLst/>
          </a:prstGeom>
          <a:noFill/>
        </p:spPr>
        <p:txBody>
          <a:bodyPr wrap="square" lIns="0" rIns="0" tIns="0" bIns="0" anchor="ctr">
            <a:spAutoFit/>
          </a:bodyPr>
          <a:lstStyle/>
          <a:p>
            <a:pPr algn="l">
              <a:spcAft>
                <a:spcPts val="0"/>
              </a:spcAft>
            </a:pPr>
            <a:r>
              <a:rPr sz="2400" b="1" i="0">
                <a:solidFill>
                  <a:srgbClr val="0E2A47"/>
                </a:solidFill>
                <a:latin typeface="Calibri"/>
              </a:rPr>
              <a:t>5 + 2</a:t>
            </a:r>
          </a:p>
        </p:txBody>
      </p:sp>
      <p:sp>
        <p:nvSpPr>
          <p:cNvPr id="27" name="TextBox 26"/>
          <p:cNvSpPr txBox="1"/>
          <p:nvPr/>
        </p:nvSpPr>
        <p:spPr>
          <a:xfrm>
            <a:off x="8138160" y="2971800"/>
            <a:ext cx="3383280" cy="914400"/>
          </a:xfrm>
          <a:prstGeom prst="rect">
            <a:avLst/>
          </a:prstGeom>
          <a:noFill/>
        </p:spPr>
        <p:txBody>
          <a:bodyPr wrap="square" lIns="0" rIns="0" tIns="0" bIns="0" anchor="ctr">
            <a:spAutoFit/>
          </a:bodyPr>
          <a:lstStyle/>
          <a:p>
            <a:pPr algn="l">
              <a:spcAft>
                <a:spcPts val="0"/>
              </a:spcAft>
            </a:pPr>
            <a:r>
              <a:rPr sz="1250" b="0" i="0">
                <a:solidFill>
                  <a:srgbClr val="14171C"/>
                </a:solidFill>
                <a:latin typeface="Calibri"/>
              </a:rPr>
              <a:t>up-regulated genes with gained promoter or TSS sites in IR64</a:t>
            </a:r>
          </a:p>
        </p:txBody>
      </p:sp>
      <p:sp>
        <p:nvSpPr>
          <p:cNvPr id="28" name="Rectangle 27"/>
          <p:cNvSpPr/>
          <p:nvPr/>
        </p:nvSpPr>
        <p:spPr>
          <a:xfrm>
            <a:off x="6309360" y="3977639"/>
            <a:ext cx="5330952" cy="91440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309360" y="3977639"/>
            <a:ext cx="73152" cy="914400"/>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583680" y="3977639"/>
            <a:ext cx="1508760" cy="914400"/>
          </a:xfrm>
          <a:prstGeom prst="rect">
            <a:avLst/>
          </a:prstGeom>
          <a:noFill/>
        </p:spPr>
        <p:txBody>
          <a:bodyPr wrap="square" lIns="0" rIns="0" tIns="0" bIns="0" anchor="ctr">
            <a:spAutoFit/>
          </a:bodyPr>
          <a:lstStyle/>
          <a:p>
            <a:pPr algn="l">
              <a:spcAft>
                <a:spcPts val="0"/>
              </a:spcAft>
            </a:pPr>
            <a:r>
              <a:rPr sz="2400" b="1" i="0">
                <a:solidFill>
                  <a:srgbClr val="0E2A47"/>
                </a:solidFill>
                <a:latin typeface="Calibri"/>
              </a:rPr>
              <a:t>60%</a:t>
            </a:r>
          </a:p>
        </p:txBody>
      </p:sp>
      <p:sp>
        <p:nvSpPr>
          <p:cNvPr id="31" name="TextBox 30"/>
          <p:cNvSpPr txBox="1"/>
          <p:nvPr/>
        </p:nvSpPr>
        <p:spPr>
          <a:xfrm>
            <a:off x="8138160" y="3977639"/>
            <a:ext cx="3383280" cy="914400"/>
          </a:xfrm>
          <a:prstGeom prst="rect">
            <a:avLst/>
          </a:prstGeom>
          <a:noFill/>
        </p:spPr>
        <p:txBody>
          <a:bodyPr wrap="square" lIns="0" rIns="0" tIns="0" bIns="0" anchor="ctr">
            <a:spAutoFit/>
          </a:bodyPr>
          <a:lstStyle/>
          <a:p>
            <a:pPr algn="l">
              <a:spcAft>
                <a:spcPts val="0"/>
              </a:spcAft>
            </a:pPr>
            <a:r>
              <a:rPr sz="1250" b="0" i="0">
                <a:solidFill>
                  <a:srgbClr val="14171C"/>
                </a:solidFill>
                <a:latin typeface="Calibri"/>
              </a:rPr>
              <a:t>of gained sites in N22 lie in promoters, against 34% in IR64</a:t>
            </a:r>
          </a:p>
        </p:txBody>
      </p:sp>
      <p:sp>
        <p:nvSpPr>
          <p:cNvPr id="32" name="Rectangle 31"/>
          <p:cNvSpPr/>
          <p:nvPr/>
        </p:nvSpPr>
        <p:spPr>
          <a:xfrm>
            <a:off x="6309360" y="4983480"/>
            <a:ext cx="5330952" cy="91440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309360" y="4983480"/>
            <a:ext cx="73152" cy="914400"/>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583680" y="4983480"/>
            <a:ext cx="1508760" cy="914400"/>
          </a:xfrm>
          <a:prstGeom prst="rect">
            <a:avLst/>
          </a:prstGeom>
          <a:noFill/>
        </p:spPr>
        <p:txBody>
          <a:bodyPr wrap="square" lIns="0" rIns="0" tIns="0" bIns="0" anchor="ctr">
            <a:spAutoFit/>
          </a:bodyPr>
          <a:lstStyle/>
          <a:p>
            <a:pPr algn="l">
              <a:spcAft>
                <a:spcPts val="0"/>
              </a:spcAft>
            </a:pPr>
            <a:r>
              <a:rPr sz="2400" b="1" i="0">
                <a:solidFill>
                  <a:srgbClr val="0E2A47"/>
                </a:solidFill>
                <a:latin typeface="Calibri"/>
              </a:rPr>
              <a:t>70%</a:t>
            </a:r>
          </a:p>
        </p:txBody>
      </p:sp>
      <p:sp>
        <p:nvSpPr>
          <p:cNvPr id="35" name="TextBox 34"/>
          <p:cNvSpPr txBox="1"/>
          <p:nvPr/>
        </p:nvSpPr>
        <p:spPr>
          <a:xfrm>
            <a:off x="8138160" y="4983480"/>
            <a:ext cx="3383280" cy="914400"/>
          </a:xfrm>
          <a:prstGeom prst="rect">
            <a:avLst/>
          </a:prstGeom>
          <a:noFill/>
        </p:spPr>
        <p:txBody>
          <a:bodyPr wrap="square" lIns="0" rIns="0" tIns="0" bIns="0" anchor="ctr">
            <a:spAutoFit/>
          </a:bodyPr>
          <a:lstStyle/>
          <a:p>
            <a:pPr algn="l">
              <a:spcAft>
                <a:spcPts val="0"/>
              </a:spcAft>
            </a:pPr>
            <a:r>
              <a:rPr sz="1250" b="0" i="0">
                <a:solidFill>
                  <a:srgbClr val="14171C"/>
                </a:solidFill>
                <a:latin typeface="Calibri"/>
              </a:rPr>
              <a:t>of genes that differ between cultivars at control and have a gained promoter site were higher in N22 (30 of 43)</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48640" y="347472"/>
            <a:ext cx="8229600" cy="274320"/>
          </a:xfrm>
          <a:prstGeom prst="rect">
            <a:avLst/>
          </a:prstGeom>
          <a:noFill/>
        </p:spPr>
        <p:txBody>
          <a:bodyPr wrap="square" lIns="0" rIns="0" tIns="0" bIns="0" anchor="t">
            <a:spAutoFit/>
          </a:bodyPr>
          <a:lstStyle/>
          <a:p>
            <a:pPr algn="l">
              <a:spcAft>
                <a:spcPts val="0"/>
              </a:spcAft>
            </a:pPr>
            <a:r>
              <a:rPr sz="1200" b="1" i="0">
                <a:solidFill>
                  <a:srgbClr val="1F5FAE"/>
                </a:solidFill>
                <a:latin typeface="Calibri"/>
              </a:rPr>
              <a:t>CHROMATIN ACCESSIBILITY  ·  REGULATORY CONTEXT</a:t>
            </a:r>
          </a:p>
        </p:txBody>
      </p:sp>
      <p:sp>
        <p:nvSpPr>
          <p:cNvPr id="3" name="TextBox 2"/>
          <p:cNvSpPr txBox="1"/>
          <p:nvPr/>
        </p:nvSpPr>
        <p:spPr>
          <a:xfrm>
            <a:off x="548640" y="621792"/>
            <a:ext cx="11091672" cy="914400"/>
          </a:xfrm>
          <a:prstGeom prst="rect">
            <a:avLst/>
          </a:prstGeom>
          <a:noFill/>
        </p:spPr>
        <p:txBody>
          <a:bodyPr wrap="square" lIns="0" rIns="0" tIns="0" bIns="0" anchor="t">
            <a:spAutoFit/>
          </a:bodyPr>
          <a:lstStyle/>
          <a:p>
            <a:pPr algn="l">
              <a:lnSpc>
                <a:spcPct val="95000"/>
              </a:lnSpc>
              <a:spcAft>
                <a:spcPts val="0"/>
              </a:spcAft>
            </a:pPr>
            <a:r>
              <a:rPr sz="2600" b="1" i="0">
                <a:solidFill>
                  <a:srgbClr val="0E2A47"/>
                </a:solidFill>
                <a:latin typeface="Calibri"/>
              </a:rPr>
              <a:t>Gained sites carry activating marks and drought-response motifs, and candidate genes validate</a:t>
            </a:r>
          </a:p>
        </p:txBody>
      </p:sp>
      <p:sp>
        <p:nvSpPr>
          <p:cNvPr id="4" name="Rectangle 3"/>
          <p:cNvSpPr/>
          <p:nvPr/>
        </p:nvSpPr>
        <p:spPr>
          <a:xfrm>
            <a:off x="548640" y="6108192"/>
            <a:ext cx="11091672" cy="329184"/>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6108192"/>
            <a:ext cx="64008" cy="329184"/>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108192"/>
            <a:ext cx="10817352" cy="329184"/>
          </a:xfrm>
          <a:prstGeom prst="rect">
            <a:avLst/>
          </a:prstGeom>
          <a:noFill/>
        </p:spPr>
        <p:txBody>
          <a:bodyPr wrap="square" lIns="0" rIns="0" tIns="0" bIns="0" anchor="ctr">
            <a:spAutoFit/>
          </a:bodyPr>
          <a:lstStyle/>
          <a:p>
            <a:pPr algn="l">
              <a:spcAft>
                <a:spcPts val="0"/>
              </a:spcAft>
            </a:pPr>
            <a:r>
              <a:rPr sz="1100" b="1" i="0">
                <a:solidFill>
                  <a:srgbClr val="1F5FAE"/>
                </a:solidFill>
                <a:latin typeface="Calibri"/>
              </a:rPr>
              <a:t>ROLE LINK   </a:t>
            </a:r>
            <a:r>
              <a:rPr sz="1300" b="0" i="0">
                <a:solidFill>
                  <a:srgbClr val="52514E"/>
                </a:solidFill>
                <a:latin typeface="Calibri"/>
              </a:rPr>
              <a:t>Prioritising candidates from high-dimensional epigenomic data</a:t>
            </a:r>
          </a:p>
        </p:txBody>
      </p:sp>
      <p:sp>
        <p:nvSpPr>
          <p:cNvPr id="7" name="TextBox 6"/>
          <p:cNvSpPr txBox="1"/>
          <p:nvPr/>
        </p:nvSpPr>
        <p:spPr>
          <a:xfrm>
            <a:off x="548640" y="6510528"/>
            <a:ext cx="6400800" cy="228600"/>
          </a:xfrm>
          <a:prstGeom prst="rect">
            <a:avLst/>
          </a:prstGeom>
          <a:noFill/>
        </p:spPr>
        <p:txBody>
          <a:bodyPr wrap="square" lIns="0" rIns="0" tIns="0" bIns="0" anchor="t">
            <a:spAutoFit/>
          </a:bodyPr>
          <a:lstStyle/>
          <a:p>
            <a:pPr algn="l">
              <a:spcAft>
                <a:spcPts val="0"/>
              </a:spcAft>
            </a:pPr>
            <a:r>
              <a:rPr sz="1000" b="0" i="0">
                <a:solidFill>
                  <a:srgbClr val="8A8984"/>
                </a:solidFill>
                <a:latin typeface="Calibri"/>
              </a:rPr>
              <a:t>Kunal Tembhare  ·  Computational biology and multi-omics ML</a:t>
            </a:r>
          </a:p>
        </p:txBody>
      </p:sp>
      <p:sp>
        <p:nvSpPr>
          <p:cNvPr id="8" name="TextBox 7"/>
          <p:cNvSpPr txBox="1"/>
          <p:nvPr/>
        </p:nvSpPr>
        <p:spPr>
          <a:xfrm>
            <a:off x="10268712" y="6510528"/>
            <a:ext cx="1371600" cy="228600"/>
          </a:xfrm>
          <a:prstGeom prst="rect">
            <a:avLst/>
          </a:prstGeom>
          <a:noFill/>
        </p:spPr>
        <p:txBody>
          <a:bodyPr wrap="square" lIns="0" rIns="0" tIns="0" bIns="0" anchor="t">
            <a:spAutoFit/>
          </a:bodyPr>
          <a:lstStyle/>
          <a:p>
            <a:pPr algn="r">
              <a:spcAft>
                <a:spcPts val="0"/>
              </a:spcAft>
            </a:pPr>
            <a:r>
              <a:rPr sz="1000" b="0" i="0">
                <a:solidFill>
                  <a:srgbClr val="8A8984"/>
                </a:solidFill>
                <a:latin typeface="Calibri"/>
              </a:rPr>
              <a:t>18 / 27</a:t>
            </a:r>
          </a:p>
        </p:txBody>
      </p:sp>
      <p:sp>
        <p:nvSpPr>
          <p:cNvPr id="9" name="Rectangle 8"/>
          <p:cNvSpPr/>
          <p:nvPr/>
        </p:nvSpPr>
        <p:spPr>
          <a:xfrm>
            <a:off x="548640" y="1691640"/>
            <a:ext cx="3557016" cy="352044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691640"/>
            <a:ext cx="3557016" cy="64008"/>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874519"/>
            <a:ext cx="3108960" cy="320040"/>
          </a:xfrm>
          <a:prstGeom prst="rect">
            <a:avLst/>
          </a:prstGeom>
          <a:noFill/>
        </p:spPr>
        <p:txBody>
          <a:bodyPr wrap="square" lIns="0" rIns="0" tIns="0" bIns="0" anchor="t">
            <a:spAutoFit/>
          </a:bodyPr>
          <a:lstStyle/>
          <a:p>
            <a:pPr algn="l">
              <a:spcAft>
                <a:spcPts val="0"/>
              </a:spcAft>
            </a:pPr>
            <a:r>
              <a:rPr sz="1700" b="1" i="0">
                <a:solidFill>
                  <a:srgbClr val="0E2A47"/>
                </a:solidFill>
                <a:latin typeface="Calibri"/>
              </a:rPr>
              <a:t>Chromatin state</a:t>
            </a:r>
          </a:p>
        </p:txBody>
      </p:sp>
      <p:sp>
        <p:nvSpPr>
          <p:cNvPr id="12" name="TextBox 11"/>
          <p:cNvSpPr txBox="1"/>
          <p:nvPr/>
        </p:nvSpPr>
        <p:spPr>
          <a:xfrm>
            <a:off x="777240" y="2331720"/>
            <a:ext cx="3108960" cy="2834640"/>
          </a:xfrm>
          <a:prstGeom prst="rect">
            <a:avLst/>
          </a:prstGeom>
          <a:noFill/>
        </p:spPr>
        <p:txBody>
          <a:bodyPr wrap="square" lIns="0" rIns="0" tIns="0" bIns="0" anchor="t">
            <a:spAutoFit/>
          </a:bodyPr>
          <a:lstStyle/>
          <a:p>
            <a:pPr algn="l" marL="201168" indent="-201168">
              <a:spcAft>
                <a:spcPts val="700"/>
              </a:spcAft>
              <a:buChar char="•"/>
            </a:pPr>
            <a:r>
              <a:rPr sz="1300" b="0" i="0">
                <a:solidFill>
                  <a:srgbClr val="14171C"/>
                </a:solidFill>
                <a:latin typeface="Calibri"/>
              </a:rPr>
              <a:t>Methylation inside open sites is lower than in the flanks, most clearly in the CHH context.</a:t>
            </a:r>
          </a:p>
          <a:p>
            <a:pPr algn="l" marL="201168" indent="-201168">
              <a:spcAft>
                <a:spcPts val="700"/>
              </a:spcAft>
              <a:buChar char="•"/>
            </a:pPr>
            <a:r>
              <a:rPr sz="1300" b="0" i="0">
                <a:solidFill>
                  <a:srgbClr val="14171C"/>
                </a:solidFill>
                <a:latin typeface="Calibri"/>
              </a:rPr>
              <a:t>Under drought, N22 sites carry 4.4 CG and 2.5 CHG methylated cytosines per kb, against 12.7 and 7.2 in IR64.</a:t>
            </a:r>
          </a:p>
          <a:p>
            <a:pPr algn="l" marL="201168" indent="-201168">
              <a:spcAft>
                <a:spcPts val="700"/>
              </a:spcAft>
              <a:buChar char="•"/>
            </a:pPr>
            <a:r>
              <a:rPr sz="1300" b="0" i="0">
                <a:solidFill>
                  <a:srgbClr val="14171C"/>
                </a:solidFill>
                <a:latin typeface="Calibri"/>
              </a:rPr>
              <a:t>Activating histone marks (H3K4me1, H3K27ac, H3K4me3) outnumber repressive ones (H3K27me3, H3K9me2).</a:t>
            </a:r>
          </a:p>
        </p:txBody>
      </p:sp>
      <p:sp>
        <p:nvSpPr>
          <p:cNvPr id="13" name="Rectangle 12"/>
          <p:cNvSpPr/>
          <p:nvPr/>
        </p:nvSpPr>
        <p:spPr>
          <a:xfrm>
            <a:off x="4315968" y="1691640"/>
            <a:ext cx="3557016" cy="352044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15968" y="1691640"/>
            <a:ext cx="3557016" cy="64008"/>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44568" y="1874519"/>
            <a:ext cx="3108960" cy="320040"/>
          </a:xfrm>
          <a:prstGeom prst="rect">
            <a:avLst/>
          </a:prstGeom>
          <a:noFill/>
        </p:spPr>
        <p:txBody>
          <a:bodyPr wrap="square" lIns="0" rIns="0" tIns="0" bIns="0" anchor="t">
            <a:spAutoFit/>
          </a:bodyPr>
          <a:lstStyle/>
          <a:p>
            <a:pPr algn="l">
              <a:spcAft>
                <a:spcPts val="0"/>
              </a:spcAft>
            </a:pPr>
            <a:r>
              <a:rPr sz="1700" b="1" i="0">
                <a:solidFill>
                  <a:srgbClr val="0E2A47"/>
                </a:solidFill>
                <a:latin typeface="Calibri"/>
              </a:rPr>
              <a:t>Regulatory motifs</a:t>
            </a:r>
          </a:p>
        </p:txBody>
      </p:sp>
      <p:sp>
        <p:nvSpPr>
          <p:cNvPr id="16" name="TextBox 15"/>
          <p:cNvSpPr txBox="1"/>
          <p:nvPr/>
        </p:nvSpPr>
        <p:spPr>
          <a:xfrm>
            <a:off x="4544568" y="2331720"/>
            <a:ext cx="3108960" cy="2834640"/>
          </a:xfrm>
          <a:prstGeom prst="rect">
            <a:avLst/>
          </a:prstGeom>
          <a:noFill/>
        </p:spPr>
        <p:txBody>
          <a:bodyPr wrap="square" lIns="0" rIns="0" tIns="0" bIns="0" anchor="t">
            <a:spAutoFit/>
          </a:bodyPr>
          <a:lstStyle/>
          <a:p>
            <a:pPr algn="l" marL="201168" indent="-201168">
              <a:spcAft>
                <a:spcPts val="700"/>
              </a:spcAft>
              <a:buChar char="•"/>
            </a:pPr>
            <a:r>
              <a:rPr sz="1300" b="0" i="0">
                <a:solidFill>
                  <a:srgbClr val="14171C"/>
                </a:solidFill>
                <a:latin typeface="Calibri"/>
              </a:rPr>
              <a:t>ABRE/ABF (abscisic acid response) and ARF (auxin response) elements were the most enriched in gained sites.</a:t>
            </a:r>
          </a:p>
          <a:p>
            <a:pPr algn="l" marL="201168" indent="-201168">
              <a:spcAft>
                <a:spcPts val="700"/>
              </a:spcAft>
              <a:buChar char="•"/>
            </a:pPr>
            <a:r>
              <a:rPr sz="1300" b="0" i="0">
                <a:solidFill>
                  <a:srgbClr val="14171C"/>
                </a:solidFill>
                <a:latin typeface="Calibri"/>
              </a:rPr>
              <a:t>Sites came from promoters and TSS regions linked to up-regulated candidate genes in N22.</a:t>
            </a:r>
          </a:p>
          <a:p>
            <a:pPr algn="l" marL="201168" indent="-201168">
              <a:spcAft>
                <a:spcPts val="700"/>
              </a:spcAft>
              <a:buChar char="•"/>
            </a:pPr>
            <a:r>
              <a:rPr sz="1300" b="0" i="0">
                <a:solidFill>
                  <a:srgbClr val="14171C"/>
                </a:solidFill>
                <a:latin typeface="Calibri"/>
              </a:rPr>
              <a:t>MEME-ChIP and STAMP found the motifs; they are candidate targets for engineering drought tolerance.</a:t>
            </a:r>
          </a:p>
        </p:txBody>
      </p:sp>
      <p:sp>
        <p:nvSpPr>
          <p:cNvPr id="17" name="Rectangle 16"/>
          <p:cNvSpPr/>
          <p:nvPr/>
        </p:nvSpPr>
        <p:spPr>
          <a:xfrm>
            <a:off x="8083296" y="1691640"/>
            <a:ext cx="3557016" cy="352044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83296" y="1691640"/>
            <a:ext cx="3557016" cy="64008"/>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311896" y="1874519"/>
            <a:ext cx="3108960" cy="320040"/>
          </a:xfrm>
          <a:prstGeom prst="rect">
            <a:avLst/>
          </a:prstGeom>
          <a:noFill/>
        </p:spPr>
        <p:txBody>
          <a:bodyPr wrap="square" lIns="0" rIns="0" tIns="0" bIns="0" anchor="t">
            <a:spAutoFit/>
          </a:bodyPr>
          <a:lstStyle/>
          <a:p>
            <a:pPr algn="l">
              <a:spcAft>
                <a:spcPts val="0"/>
              </a:spcAft>
            </a:pPr>
            <a:r>
              <a:rPr sz="1700" b="1" i="0">
                <a:solidFill>
                  <a:srgbClr val="0E2A47"/>
                </a:solidFill>
                <a:latin typeface="Calibri"/>
              </a:rPr>
              <a:t>Candidate genes</a:t>
            </a:r>
          </a:p>
        </p:txBody>
      </p:sp>
      <p:sp>
        <p:nvSpPr>
          <p:cNvPr id="20" name="TextBox 19"/>
          <p:cNvSpPr txBox="1"/>
          <p:nvPr/>
        </p:nvSpPr>
        <p:spPr>
          <a:xfrm>
            <a:off x="8311896" y="2331720"/>
            <a:ext cx="3108960" cy="2834640"/>
          </a:xfrm>
          <a:prstGeom prst="rect">
            <a:avLst/>
          </a:prstGeom>
          <a:noFill/>
        </p:spPr>
        <p:txBody>
          <a:bodyPr wrap="square" lIns="0" rIns="0" tIns="0" bIns="0" anchor="t">
            <a:spAutoFit/>
          </a:bodyPr>
          <a:lstStyle/>
          <a:p>
            <a:pPr algn="l" marL="201168" indent="-201168">
              <a:spcAft>
                <a:spcPts val="700"/>
              </a:spcAft>
              <a:buChar char="•"/>
            </a:pPr>
            <a:r>
              <a:rPr sz="1300" b="0" i="0">
                <a:solidFill>
                  <a:srgbClr val="14171C"/>
                </a:solidFill>
                <a:latin typeface="Calibri"/>
              </a:rPr>
              <a:t>30 candidate genes (in drought QTLs, transcription factors or abiotic-stress genes) had sites in the promoter or TSS.</a:t>
            </a:r>
          </a:p>
          <a:p>
            <a:pPr algn="l" marL="201168" indent="-201168">
              <a:spcAft>
                <a:spcPts val="700"/>
              </a:spcAft>
              <a:buChar char="•"/>
            </a:pPr>
            <a:r>
              <a:rPr sz="1300" b="0" i="0">
                <a:solidFill>
                  <a:srgbClr val="14171C"/>
                </a:solidFill>
                <a:latin typeface="Calibri"/>
              </a:rPr>
              <a:t>13 genes gained accessibility in N22 under drought, and all were up-regulated by RT‑qPCR.</a:t>
            </a:r>
          </a:p>
          <a:p>
            <a:pPr algn="l" marL="201168" indent="-201168">
              <a:spcAft>
                <a:spcPts val="700"/>
              </a:spcAft>
              <a:buChar char="•"/>
            </a:pPr>
            <a:r>
              <a:rPr sz="1300" b="0" i="0">
                <a:solidFill>
                  <a:srgbClr val="14171C"/>
                </a:solidFill>
                <a:latin typeface="Calibri"/>
              </a:rPr>
              <a:t>Examples: MYB and C2H2 zinc-finger transcription factors, and LEA and HVA22 stress genes.</a:t>
            </a:r>
          </a:p>
        </p:txBody>
      </p:sp>
      <p:sp>
        <p:nvSpPr>
          <p:cNvPr id="21" name="Rectangle 20"/>
          <p:cNvSpPr/>
          <p:nvPr/>
        </p:nvSpPr>
        <p:spPr>
          <a:xfrm>
            <a:off x="548640" y="5349240"/>
            <a:ext cx="11091672" cy="594360"/>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48640" y="5349240"/>
            <a:ext cx="73152" cy="594360"/>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2959" y="5349240"/>
            <a:ext cx="10634472" cy="594360"/>
          </a:xfrm>
          <a:prstGeom prst="rect">
            <a:avLst/>
          </a:prstGeom>
          <a:noFill/>
        </p:spPr>
        <p:txBody>
          <a:bodyPr wrap="square" lIns="0" rIns="0" tIns="0" bIns="0" anchor="ctr">
            <a:spAutoFit/>
          </a:bodyPr>
          <a:lstStyle/>
          <a:p>
            <a:pPr algn="l">
              <a:spcAft>
                <a:spcPts val="0"/>
              </a:spcAft>
            </a:pPr>
            <a:r>
              <a:rPr sz="1400" b="1" i="0">
                <a:solidFill>
                  <a:srgbClr val="0E2A47"/>
                </a:solidFill>
                <a:latin typeface="Calibri"/>
              </a:rPr>
              <a:t>Accessibility data narrowed thousands of sites to 13 candidate genes and a handful of regulatory motifs that can be tested.</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E2A47"/>
        </a:solidFill>
        <a:effectLst/>
      </p:bgPr>
    </p:bg>
    <p:spTree>
      <p:nvGrpSpPr>
        <p:cNvPr id="1" name=""/>
        <p:cNvGrpSpPr/>
        <p:nvPr/>
      </p:nvGrpSpPr>
      <p:grpSpPr/>
      <p:sp>
        <p:nvSpPr>
          <p:cNvPr id="2" name="TextBox 1"/>
          <p:cNvSpPr txBox="1"/>
          <p:nvPr/>
        </p:nvSpPr>
        <p:spPr>
          <a:xfrm>
            <a:off x="731520" y="1097280"/>
            <a:ext cx="7315200" cy="274320"/>
          </a:xfrm>
          <a:prstGeom prst="rect">
            <a:avLst/>
          </a:prstGeom>
          <a:noFill/>
        </p:spPr>
        <p:txBody>
          <a:bodyPr wrap="square" lIns="0" rIns="0" tIns="0" bIns="0" anchor="t">
            <a:spAutoFit/>
          </a:bodyPr>
          <a:lstStyle/>
          <a:p>
            <a:pPr algn="l">
              <a:spcAft>
                <a:spcPts val="0"/>
              </a:spcAft>
            </a:pPr>
            <a:r>
              <a:rPr sz="1200" b="1" i="0">
                <a:solidFill>
                  <a:srgbClr val="A9C7F0"/>
                </a:solidFill>
                <a:latin typeface="Calibri"/>
              </a:rPr>
              <a:t>PART 3 OF 3</a:t>
            </a:r>
          </a:p>
        </p:txBody>
      </p:sp>
      <p:sp>
        <p:nvSpPr>
          <p:cNvPr id="3" name="TextBox 2"/>
          <p:cNvSpPr txBox="1"/>
          <p:nvPr/>
        </p:nvSpPr>
        <p:spPr>
          <a:xfrm>
            <a:off x="731520" y="1554480"/>
            <a:ext cx="10515600" cy="1645920"/>
          </a:xfrm>
          <a:prstGeom prst="rect">
            <a:avLst/>
          </a:prstGeom>
          <a:noFill/>
        </p:spPr>
        <p:txBody>
          <a:bodyPr wrap="square" lIns="0" rIns="0" tIns="0" bIns="0" anchor="t">
            <a:spAutoFit/>
          </a:bodyPr>
          <a:lstStyle/>
          <a:p>
            <a:pPr algn="l">
              <a:lnSpc>
                <a:spcPct val="95000"/>
              </a:lnSpc>
              <a:spcAft>
                <a:spcPts val="0"/>
              </a:spcAft>
            </a:pPr>
            <a:r>
              <a:rPr sz="4000" b="1" i="0">
                <a:solidFill>
                  <a:srgbClr val="FFFFFF"/>
                </a:solidFill>
                <a:latin typeface="Calibri"/>
              </a:rPr>
              <a:t>Deconvolution of bulk RNA-seq with a variational autoencoder</a:t>
            </a:r>
          </a:p>
        </p:txBody>
      </p:sp>
      <p:sp>
        <p:nvSpPr>
          <p:cNvPr id="4" name="TextBox 3"/>
          <p:cNvSpPr txBox="1"/>
          <p:nvPr/>
        </p:nvSpPr>
        <p:spPr>
          <a:xfrm>
            <a:off x="731520" y="3291840"/>
            <a:ext cx="8686800" cy="914400"/>
          </a:xfrm>
          <a:prstGeom prst="rect">
            <a:avLst/>
          </a:prstGeom>
          <a:noFill/>
        </p:spPr>
        <p:txBody>
          <a:bodyPr wrap="square" lIns="0" rIns="0" tIns="0" bIns="0" anchor="t">
            <a:spAutoFit/>
          </a:bodyPr>
          <a:lstStyle/>
          <a:p>
            <a:pPr algn="l">
              <a:spcAft>
                <a:spcPts val="0"/>
              </a:spcAft>
            </a:pPr>
            <a:r>
              <a:rPr sz="1800" b="0" i="0">
                <a:solidFill>
                  <a:srgbClr val="D5DEEA"/>
                </a:solidFill>
                <a:latin typeface="Calibri"/>
              </a:rPr>
              <a:t>A research prototype built between March and July 2024: simulate matched training data from single-cell references, then train and track generative models. Validation against known cell proportions is the next step.</a:t>
            </a:r>
          </a:p>
        </p:txBody>
      </p:sp>
      <p:sp>
        <p:nvSpPr>
          <p:cNvPr id="5" name="Rectangle 4"/>
          <p:cNvSpPr/>
          <p:nvPr/>
        </p:nvSpPr>
        <p:spPr>
          <a:xfrm>
            <a:off x="731520" y="4434840"/>
            <a:ext cx="548640" cy="36576"/>
          </a:xfrm>
          <a:prstGeom prst="rect">
            <a:avLst/>
          </a:prstGeom>
          <a:solidFill>
            <a:srgbClr val="A9C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4663440"/>
            <a:ext cx="3291840" cy="640080"/>
          </a:xfrm>
          <a:prstGeom prst="rect">
            <a:avLst/>
          </a:prstGeom>
          <a:noFill/>
        </p:spPr>
        <p:txBody>
          <a:bodyPr wrap="square" lIns="0" rIns="0" tIns="0" bIns="0" anchor="t">
            <a:spAutoFit/>
          </a:bodyPr>
          <a:lstStyle/>
          <a:p>
            <a:pPr algn="l">
              <a:spcAft>
                <a:spcPts val="0"/>
              </a:spcAft>
            </a:pPr>
            <a:r>
              <a:rPr sz="3400" b="1" i="0">
                <a:solidFill>
                  <a:srgbClr val="FFFFFF"/>
                </a:solidFill>
                <a:latin typeface="Calibri"/>
              </a:rPr>
              <a:t>172k</a:t>
            </a:r>
          </a:p>
        </p:txBody>
      </p:sp>
      <p:sp>
        <p:nvSpPr>
          <p:cNvPr id="7" name="TextBox 6"/>
          <p:cNvSpPr txBox="1"/>
          <p:nvPr/>
        </p:nvSpPr>
        <p:spPr>
          <a:xfrm>
            <a:off x="731520" y="5349240"/>
            <a:ext cx="3200400" cy="548640"/>
          </a:xfrm>
          <a:prstGeom prst="rect">
            <a:avLst/>
          </a:prstGeom>
          <a:noFill/>
        </p:spPr>
        <p:txBody>
          <a:bodyPr wrap="square" lIns="0" rIns="0" tIns="0" bIns="0" anchor="t">
            <a:spAutoFit/>
          </a:bodyPr>
          <a:lstStyle/>
          <a:p>
            <a:pPr algn="l">
              <a:spcAft>
                <a:spcPts val="0"/>
              </a:spcAft>
            </a:pPr>
            <a:r>
              <a:rPr sz="1400" b="0" i="0">
                <a:solidFill>
                  <a:srgbClr val="D5DEEA"/>
                </a:solidFill>
                <a:latin typeface="Calibri"/>
              </a:rPr>
              <a:t>ROSMAP nuclei in 24 samples</a:t>
            </a:r>
          </a:p>
        </p:txBody>
      </p:sp>
      <p:sp>
        <p:nvSpPr>
          <p:cNvPr id="8" name="TextBox 7"/>
          <p:cNvSpPr txBox="1"/>
          <p:nvPr/>
        </p:nvSpPr>
        <p:spPr>
          <a:xfrm>
            <a:off x="4297680" y="4663440"/>
            <a:ext cx="3291840" cy="640080"/>
          </a:xfrm>
          <a:prstGeom prst="rect">
            <a:avLst/>
          </a:prstGeom>
          <a:noFill/>
        </p:spPr>
        <p:txBody>
          <a:bodyPr wrap="square" lIns="0" rIns="0" tIns="0" bIns="0" anchor="t">
            <a:spAutoFit/>
          </a:bodyPr>
          <a:lstStyle/>
          <a:p>
            <a:pPr algn="l">
              <a:spcAft>
                <a:spcPts val="0"/>
              </a:spcAft>
            </a:pPr>
            <a:r>
              <a:rPr sz="3400" b="1" i="0">
                <a:solidFill>
                  <a:srgbClr val="FFFFFF"/>
                </a:solidFill>
                <a:latin typeface="Calibri"/>
              </a:rPr>
              <a:t>202</a:t>
            </a:r>
          </a:p>
        </p:txBody>
      </p:sp>
      <p:sp>
        <p:nvSpPr>
          <p:cNvPr id="9" name="TextBox 8"/>
          <p:cNvSpPr txBox="1"/>
          <p:nvPr/>
        </p:nvSpPr>
        <p:spPr>
          <a:xfrm>
            <a:off x="4297680" y="5349240"/>
            <a:ext cx="3200400" cy="548640"/>
          </a:xfrm>
          <a:prstGeom prst="rect">
            <a:avLst/>
          </a:prstGeom>
          <a:noFill/>
        </p:spPr>
        <p:txBody>
          <a:bodyPr wrap="square" lIns="0" rIns="0" tIns="0" bIns="0" anchor="t">
            <a:spAutoFit/>
          </a:bodyPr>
          <a:lstStyle/>
          <a:p>
            <a:pPr algn="l">
              <a:spcAft>
                <a:spcPts val="0"/>
              </a:spcAft>
            </a:pPr>
            <a:r>
              <a:rPr sz="1400" b="0" i="0">
                <a:solidFill>
                  <a:srgbClr val="D5DEEA"/>
                </a:solidFill>
                <a:latin typeface="Calibri"/>
              </a:rPr>
              <a:t>tracked training runs in 9 experiments</a:t>
            </a:r>
          </a:p>
        </p:txBody>
      </p:sp>
      <p:sp>
        <p:nvSpPr>
          <p:cNvPr id="10" name="TextBox 9"/>
          <p:cNvSpPr txBox="1"/>
          <p:nvPr/>
        </p:nvSpPr>
        <p:spPr>
          <a:xfrm>
            <a:off x="7863840" y="4663440"/>
            <a:ext cx="3291840" cy="640080"/>
          </a:xfrm>
          <a:prstGeom prst="rect">
            <a:avLst/>
          </a:prstGeom>
          <a:noFill/>
        </p:spPr>
        <p:txBody>
          <a:bodyPr wrap="square" lIns="0" rIns="0" tIns="0" bIns="0" anchor="t">
            <a:spAutoFit/>
          </a:bodyPr>
          <a:lstStyle/>
          <a:p>
            <a:pPr algn="l">
              <a:spcAft>
                <a:spcPts val="0"/>
              </a:spcAft>
            </a:pPr>
            <a:r>
              <a:rPr sz="3400" b="1" i="0">
                <a:solidFill>
                  <a:srgbClr val="FFFFFF"/>
                </a:solidFill>
                <a:latin typeface="Calibri"/>
              </a:rPr>
              <a:t>4</a:t>
            </a:r>
          </a:p>
        </p:txBody>
      </p:sp>
      <p:sp>
        <p:nvSpPr>
          <p:cNvPr id="11" name="TextBox 10"/>
          <p:cNvSpPr txBox="1"/>
          <p:nvPr/>
        </p:nvSpPr>
        <p:spPr>
          <a:xfrm>
            <a:off x="7863840" y="5349240"/>
            <a:ext cx="3200400" cy="548640"/>
          </a:xfrm>
          <a:prstGeom prst="rect">
            <a:avLst/>
          </a:prstGeom>
          <a:noFill/>
        </p:spPr>
        <p:txBody>
          <a:bodyPr wrap="square" lIns="0" rIns="0" tIns="0" bIns="0" anchor="t">
            <a:spAutoFit/>
          </a:bodyPr>
          <a:lstStyle/>
          <a:p>
            <a:pPr algn="l">
              <a:spcAft>
                <a:spcPts val="0"/>
              </a:spcAft>
            </a:pPr>
            <a:r>
              <a:rPr sz="1400" b="0" i="0">
                <a:solidFill>
                  <a:srgbClr val="D5DEEA"/>
                </a:solidFill>
                <a:latin typeface="Calibri"/>
              </a:rPr>
              <a:t>cell types modelled</a:t>
            </a:r>
          </a:p>
        </p:txBody>
      </p:sp>
      <p:sp>
        <p:nvSpPr>
          <p:cNvPr id="12" name="TextBox 11"/>
          <p:cNvSpPr txBox="1"/>
          <p:nvPr/>
        </p:nvSpPr>
        <p:spPr>
          <a:xfrm>
            <a:off x="548640" y="6510528"/>
            <a:ext cx="6400800" cy="228600"/>
          </a:xfrm>
          <a:prstGeom prst="rect">
            <a:avLst/>
          </a:prstGeom>
          <a:noFill/>
        </p:spPr>
        <p:txBody>
          <a:bodyPr wrap="square" lIns="0" rIns="0" tIns="0" bIns="0" anchor="t">
            <a:spAutoFit/>
          </a:bodyPr>
          <a:lstStyle/>
          <a:p>
            <a:pPr algn="l">
              <a:spcAft>
                <a:spcPts val="0"/>
              </a:spcAft>
            </a:pPr>
            <a:r>
              <a:rPr sz="1000" b="0" i="0">
                <a:solidFill>
                  <a:srgbClr val="8A8984"/>
                </a:solidFill>
                <a:latin typeface="Calibri"/>
              </a:rPr>
              <a:t>Kunal Tembhare  ·  Computational biology and multi-omics ML</a:t>
            </a:r>
          </a:p>
        </p:txBody>
      </p:sp>
      <p:sp>
        <p:nvSpPr>
          <p:cNvPr id="13" name="TextBox 12"/>
          <p:cNvSpPr txBox="1"/>
          <p:nvPr/>
        </p:nvSpPr>
        <p:spPr>
          <a:xfrm>
            <a:off x="10268712" y="6510528"/>
            <a:ext cx="1371600" cy="228600"/>
          </a:xfrm>
          <a:prstGeom prst="rect">
            <a:avLst/>
          </a:prstGeom>
          <a:noFill/>
        </p:spPr>
        <p:txBody>
          <a:bodyPr wrap="square" lIns="0" rIns="0" tIns="0" bIns="0" anchor="t">
            <a:spAutoFit/>
          </a:bodyPr>
          <a:lstStyle/>
          <a:p>
            <a:pPr algn="r">
              <a:spcAft>
                <a:spcPts val="0"/>
              </a:spcAft>
            </a:pPr>
            <a:r>
              <a:rPr sz="1000" b="0" i="0">
                <a:solidFill>
                  <a:srgbClr val="8A8984"/>
                </a:solidFill>
                <a:latin typeface="Calibri"/>
              </a:rPr>
              <a:t>19 / 27</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48640" y="347472"/>
            <a:ext cx="8229600" cy="274320"/>
          </a:xfrm>
          <a:prstGeom prst="rect">
            <a:avLst/>
          </a:prstGeom>
          <a:noFill/>
        </p:spPr>
        <p:txBody>
          <a:bodyPr wrap="square" lIns="0" rIns="0" tIns="0" bIns="0" anchor="t">
            <a:spAutoFit/>
          </a:bodyPr>
          <a:lstStyle/>
          <a:p>
            <a:pPr algn="l">
              <a:spcAft>
                <a:spcPts val="0"/>
              </a:spcAft>
            </a:pPr>
            <a:r>
              <a:rPr sz="1200" b="1" i="0">
                <a:solidFill>
                  <a:srgbClr val="1F5FAE"/>
                </a:solidFill>
                <a:latin typeface="Calibri"/>
              </a:rPr>
              <a:t>DECONVOLUTION PROJECT  ·  IDEA AND DATA</a:t>
            </a:r>
          </a:p>
        </p:txBody>
      </p:sp>
      <p:sp>
        <p:nvSpPr>
          <p:cNvPr id="3" name="TextBox 2"/>
          <p:cNvSpPr txBox="1"/>
          <p:nvPr/>
        </p:nvSpPr>
        <p:spPr>
          <a:xfrm>
            <a:off x="548640" y="621792"/>
            <a:ext cx="11091672" cy="914400"/>
          </a:xfrm>
          <a:prstGeom prst="rect">
            <a:avLst/>
          </a:prstGeom>
          <a:noFill/>
        </p:spPr>
        <p:txBody>
          <a:bodyPr wrap="square" lIns="0" rIns="0" tIns="0" bIns="0" anchor="t">
            <a:spAutoFit/>
          </a:bodyPr>
          <a:lstStyle/>
          <a:p>
            <a:pPr algn="l">
              <a:lnSpc>
                <a:spcPct val="95000"/>
              </a:lnSpc>
              <a:spcAft>
                <a:spcPts val="0"/>
              </a:spcAft>
            </a:pPr>
            <a:r>
              <a:rPr sz="2600" b="1" i="0">
                <a:solidFill>
                  <a:srgbClr val="0E2A47"/>
                </a:solidFill>
                <a:latin typeface="Calibri"/>
              </a:rPr>
              <a:t>Bulk RNA-seq averages over cell types; the project learns cell-type structure from simulated bulk</a:t>
            </a:r>
          </a:p>
        </p:txBody>
      </p:sp>
      <p:sp>
        <p:nvSpPr>
          <p:cNvPr id="4" name="Rectangle 3"/>
          <p:cNvSpPr/>
          <p:nvPr/>
        </p:nvSpPr>
        <p:spPr>
          <a:xfrm>
            <a:off x="548640" y="6108192"/>
            <a:ext cx="11091672" cy="329184"/>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6108192"/>
            <a:ext cx="64008" cy="329184"/>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108192"/>
            <a:ext cx="10817352" cy="329184"/>
          </a:xfrm>
          <a:prstGeom prst="rect">
            <a:avLst/>
          </a:prstGeom>
          <a:noFill/>
        </p:spPr>
        <p:txBody>
          <a:bodyPr wrap="square" lIns="0" rIns="0" tIns="0" bIns="0" anchor="ctr">
            <a:spAutoFit/>
          </a:bodyPr>
          <a:lstStyle/>
          <a:p>
            <a:pPr algn="l">
              <a:spcAft>
                <a:spcPts val="0"/>
              </a:spcAft>
            </a:pPr>
            <a:r>
              <a:rPr sz="1100" b="1" i="0">
                <a:solidFill>
                  <a:srgbClr val="1F5FAE"/>
                </a:solidFill>
                <a:latin typeface="Calibri"/>
              </a:rPr>
              <a:t>ROLE LINK   </a:t>
            </a:r>
            <a:r>
              <a:rPr sz="1300" b="0" i="0">
                <a:solidFill>
                  <a:srgbClr val="52514E"/>
                </a:solidFill>
                <a:latin typeface="Calibri"/>
              </a:rPr>
              <a:t>Translating a biological question into a well-defined analytical strategy</a:t>
            </a:r>
          </a:p>
        </p:txBody>
      </p:sp>
      <p:sp>
        <p:nvSpPr>
          <p:cNvPr id="7" name="TextBox 6"/>
          <p:cNvSpPr txBox="1"/>
          <p:nvPr/>
        </p:nvSpPr>
        <p:spPr>
          <a:xfrm>
            <a:off x="548640" y="6510528"/>
            <a:ext cx="6400800" cy="228600"/>
          </a:xfrm>
          <a:prstGeom prst="rect">
            <a:avLst/>
          </a:prstGeom>
          <a:noFill/>
        </p:spPr>
        <p:txBody>
          <a:bodyPr wrap="square" lIns="0" rIns="0" tIns="0" bIns="0" anchor="t">
            <a:spAutoFit/>
          </a:bodyPr>
          <a:lstStyle/>
          <a:p>
            <a:pPr algn="l">
              <a:spcAft>
                <a:spcPts val="0"/>
              </a:spcAft>
            </a:pPr>
            <a:r>
              <a:rPr sz="1000" b="0" i="0">
                <a:solidFill>
                  <a:srgbClr val="8A8984"/>
                </a:solidFill>
                <a:latin typeface="Calibri"/>
              </a:rPr>
              <a:t>Kunal Tembhare  ·  Computational biology and multi-omics ML</a:t>
            </a:r>
          </a:p>
        </p:txBody>
      </p:sp>
      <p:sp>
        <p:nvSpPr>
          <p:cNvPr id="8" name="TextBox 7"/>
          <p:cNvSpPr txBox="1"/>
          <p:nvPr/>
        </p:nvSpPr>
        <p:spPr>
          <a:xfrm>
            <a:off x="10268712" y="6510528"/>
            <a:ext cx="1371600" cy="228600"/>
          </a:xfrm>
          <a:prstGeom prst="rect">
            <a:avLst/>
          </a:prstGeom>
          <a:noFill/>
        </p:spPr>
        <p:txBody>
          <a:bodyPr wrap="square" lIns="0" rIns="0" tIns="0" bIns="0" anchor="t">
            <a:spAutoFit/>
          </a:bodyPr>
          <a:lstStyle/>
          <a:p>
            <a:pPr algn="r">
              <a:spcAft>
                <a:spcPts val="0"/>
              </a:spcAft>
            </a:pPr>
            <a:r>
              <a:rPr sz="1000" b="0" i="0">
                <a:solidFill>
                  <a:srgbClr val="8A8984"/>
                </a:solidFill>
                <a:latin typeface="Calibri"/>
              </a:rPr>
              <a:t>20 / 27</a:t>
            </a:r>
          </a:p>
        </p:txBody>
      </p:sp>
      <p:sp>
        <p:nvSpPr>
          <p:cNvPr id="9" name="Rectangle 8"/>
          <p:cNvSpPr/>
          <p:nvPr/>
        </p:nvSpPr>
        <p:spPr>
          <a:xfrm>
            <a:off x="548640" y="1691640"/>
            <a:ext cx="5669280" cy="123444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691640"/>
            <a:ext cx="73152" cy="1234440"/>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59" y="1828800"/>
            <a:ext cx="5212080" cy="320040"/>
          </a:xfrm>
          <a:prstGeom prst="rect">
            <a:avLst/>
          </a:prstGeom>
          <a:noFill/>
        </p:spPr>
        <p:txBody>
          <a:bodyPr wrap="square" lIns="0" rIns="0" tIns="0" bIns="0" anchor="t">
            <a:spAutoFit/>
          </a:bodyPr>
          <a:lstStyle/>
          <a:p>
            <a:pPr algn="l">
              <a:spcAft>
                <a:spcPts val="0"/>
              </a:spcAft>
            </a:pPr>
            <a:r>
              <a:rPr sz="1700" b="1" i="0">
                <a:solidFill>
                  <a:srgbClr val="0E2A47"/>
                </a:solidFill>
                <a:latin typeface="Calibri"/>
              </a:rPr>
              <a:t>The problem</a:t>
            </a:r>
          </a:p>
        </p:txBody>
      </p:sp>
      <p:sp>
        <p:nvSpPr>
          <p:cNvPr id="12" name="TextBox 11"/>
          <p:cNvSpPr txBox="1"/>
          <p:nvPr/>
        </p:nvSpPr>
        <p:spPr>
          <a:xfrm>
            <a:off x="822959" y="2194560"/>
            <a:ext cx="5212080" cy="713232"/>
          </a:xfrm>
          <a:prstGeom prst="rect">
            <a:avLst/>
          </a:prstGeom>
          <a:noFill/>
        </p:spPr>
        <p:txBody>
          <a:bodyPr wrap="square" lIns="0" rIns="0" tIns="0" bIns="0" anchor="t">
            <a:spAutoFit/>
          </a:bodyPr>
          <a:lstStyle/>
          <a:p>
            <a:pPr algn="l">
              <a:spcAft>
                <a:spcPts val="0"/>
              </a:spcAft>
            </a:pPr>
            <a:r>
              <a:rPr sz="1400" b="0" i="0">
                <a:solidFill>
                  <a:srgbClr val="14171C"/>
                </a:solidFill>
                <a:latin typeface="Calibri"/>
              </a:rPr>
              <a:t>Bulk transcriptomes average over every cell in a sample. Deconvolution estimates the cell-type composition and cell-type-specific expression hidden inside them.</a:t>
            </a:r>
          </a:p>
        </p:txBody>
      </p:sp>
      <p:sp>
        <p:nvSpPr>
          <p:cNvPr id="13" name="Rectangle 12"/>
          <p:cNvSpPr/>
          <p:nvPr/>
        </p:nvSpPr>
        <p:spPr>
          <a:xfrm>
            <a:off x="548640" y="3063240"/>
            <a:ext cx="5669280" cy="123444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48640" y="3063240"/>
            <a:ext cx="73152" cy="1234440"/>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59" y="3200400"/>
            <a:ext cx="5212080" cy="320040"/>
          </a:xfrm>
          <a:prstGeom prst="rect">
            <a:avLst/>
          </a:prstGeom>
          <a:noFill/>
        </p:spPr>
        <p:txBody>
          <a:bodyPr wrap="square" lIns="0" rIns="0" tIns="0" bIns="0" anchor="t">
            <a:spAutoFit/>
          </a:bodyPr>
          <a:lstStyle/>
          <a:p>
            <a:pPr algn="l">
              <a:spcAft>
                <a:spcPts val="0"/>
              </a:spcAft>
            </a:pPr>
            <a:r>
              <a:rPr sz="1700" b="1" i="0">
                <a:solidFill>
                  <a:srgbClr val="0E2A47"/>
                </a:solidFill>
                <a:latin typeface="Calibri"/>
              </a:rPr>
              <a:t>The idea</a:t>
            </a:r>
          </a:p>
        </p:txBody>
      </p:sp>
      <p:sp>
        <p:nvSpPr>
          <p:cNvPr id="16" name="TextBox 15"/>
          <p:cNvSpPr txBox="1"/>
          <p:nvPr/>
        </p:nvSpPr>
        <p:spPr>
          <a:xfrm>
            <a:off x="822959" y="3566160"/>
            <a:ext cx="5212080" cy="713232"/>
          </a:xfrm>
          <a:prstGeom prst="rect">
            <a:avLst/>
          </a:prstGeom>
          <a:noFill/>
        </p:spPr>
        <p:txBody>
          <a:bodyPr wrap="square" lIns="0" rIns="0" tIns="0" bIns="0" anchor="t">
            <a:spAutoFit/>
          </a:bodyPr>
          <a:lstStyle/>
          <a:p>
            <a:pPr algn="l">
              <a:spcAft>
                <a:spcPts val="0"/>
              </a:spcAft>
            </a:pPr>
            <a:r>
              <a:rPr sz="1400" b="0" i="0">
                <a:solidFill>
                  <a:srgbClr val="14171C"/>
                </a:solidFill>
                <a:latin typeface="Calibri"/>
              </a:rPr>
              <a:t>Single-cell data show what each cell type contributes. Convolving them gives matched cell-type and pseudo-bulk data to train a model on.</a:t>
            </a:r>
          </a:p>
        </p:txBody>
      </p:sp>
      <p:sp>
        <p:nvSpPr>
          <p:cNvPr id="17" name="Rectangle 16"/>
          <p:cNvSpPr/>
          <p:nvPr/>
        </p:nvSpPr>
        <p:spPr>
          <a:xfrm>
            <a:off x="548640" y="4434840"/>
            <a:ext cx="5669280" cy="123444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4434840"/>
            <a:ext cx="73152" cy="1234440"/>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59" y="4572000"/>
            <a:ext cx="5212080" cy="320040"/>
          </a:xfrm>
          <a:prstGeom prst="rect">
            <a:avLst/>
          </a:prstGeom>
          <a:noFill/>
        </p:spPr>
        <p:txBody>
          <a:bodyPr wrap="square" lIns="0" rIns="0" tIns="0" bIns="0" anchor="t">
            <a:spAutoFit/>
          </a:bodyPr>
          <a:lstStyle/>
          <a:p>
            <a:pPr algn="l">
              <a:spcAft>
                <a:spcPts val="0"/>
              </a:spcAft>
            </a:pPr>
            <a:r>
              <a:rPr sz="1700" b="1" i="0">
                <a:solidFill>
                  <a:srgbClr val="0E2A47"/>
                </a:solidFill>
                <a:latin typeface="Calibri"/>
              </a:rPr>
              <a:t>The model</a:t>
            </a:r>
          </a:p>
        </p:txBody>
      </p:sp>
      <p:sp>
        <p:nvSpPr>
          <p:cNvPr id="20" name="TextBox 19"/>
          <p:cNvSpPr txBox="1"/>
          <p:nvPr/>
        </p:nvSpPr>
        <p:spPr>
          <a:xfrm>
            <a:off x="822959" y="4937759"/>
            <a:ext cx="5212080" cy="713232"/>
          </a:xfrm>
          <a:prstGeom prst="rect">
            <a:avLst/>
          </a:prstGeom>
          <a:noFill/>
        </p:spPr>
        <p:txBody>
          <a:bodyPr wrap="square" lIns="0" rIns="0" tIns="0" bIns="0" anchor="t">
            <a:spAutoFit/>
          </a:bodyPr>
          <a:lstStyle/>
          <a:p>
            <a:pPr algn="l">
              <a:spcAft>
                <a:spcPts val="0"/>
              </a:spcAft>
            </a:pPr>
            <a:r>
              <a:rPr sz="1400" b="0" i="0">
                <a:solidFill>
                  <a:srgbClr val="14171C"/>
                </a:solidFill>
                <a:latin typeface="Calibri"/>
              </a:rPr>
              <a:t>A variational autoencoder compresses four cell-type expression values per gene into one latent value and decodes them back.</a:t>
            </a:r>
          </a:p>
        </p:txBody>
      </p:sp>
      <p:sp>
        <p:nvSpPr>
          <p:cNvPr id="21" name="TextBox 20"/>
          <p:cNvSpPr txBox="1"/>
          <p:nvPr/>
        </p:nvSpPr>
        <p:spPr>
          <a:xfrm>
            <a:off x="6492240" y="1645920"/>
            <a:ext cx="5120640" cy="228600"/>
          </a:xfrm>
          <a:prstGeom prst="rect">
            <a:avLst/>
          </a:prstGeom>
          <a:noFill/>
        </p:spPr>
        <p:txBody>
          <a:bodyPr wrap="square" lIns="0" rIns="0" tIns="0" bIns="0" anchor="t">
            <a:spAutoFit/>
          </a:bodyPr>
          <a:lstStyle/>
          <a:p>
            <a:pPr algn="l">
              <a:spcAft>
                <a:spcPts val="0"/>
              </a:spcAft>
            </a:pPr>
            <a:r>
              <a:rPr sz="1100" b="1" i="0">
                <a:solidFill>
                  <a:srgbClr val="8A8984"/>
                </a:solidFill>
                <a:latin typeface="Calibri"/>
              </a:rPr>
              <a:t>DATASETS</a:t>
            </a:r>
          </a:p>
        </p:txBody>
      </p:sp>
      <p:sp>
        <p:nvSpPr>
          <p:cNvPr id="22" name="Rectangle 21"/>
          <p:cNvSpPr/>
          <p:nvPr/>
        </p:nvSpPr>
        <p:spPr>
          <a:xfrm>
            <a:off x="6492240" y="1920240"/>
            <a:ext cx="5148072" cy="178308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492240" y="1920240"/>
            <a:ext cx="73152" cy="1783080"/>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766560" y="2057400"/>
            <a:ext cx="4754880" cy="320040"/>
          </a:xfrm>
          <a:prstGeom prst="rect">
            <a:avLst/>
          </a:prstGeom>
          <a:noFill/>
        </p:spPr>
        <p:txBody>
          <a:bodyPr wrap="square" lIns="0" rIns="0" tIns="0" bIns="0" anchor="t">
            <a:spAutoFit/>
          </a:bodyPr>
          <a:lstStyle/>
          <a:p>
            <a:pPr algn="l">
              <a:spcAft>
                <a:spcPts val="0"/>
              </a:spcAft>
            </a:pPr>
            <a:r>
              <a:rPr sz="1600" b="1" i="0">
                <a:solidFill>
                  <a:srgbClr val="0E2A47"/>
                </a:solidFill>
                <a:latin typeface="Calibri"/>
              </a:rPr>
              <a:t>ROSMAP brain, current model</a:t>
            </a:r>
          </a:p>
        </p:txBody>
      </p:sp>
      <p:sp>
        <p:nvSpPr>
          <p:cNvPr id="25" name="TextBox 24"/>
          <p:cNvSpPr txBox="1"/>
          <p:nvPr/>
        </p:nvSpPr>
        <p:spPr>
          <a:xfrm>
            <a:off x="6766560" y="2450592"/>
            <a:ext cx="4754880" cy="1234440"/>
          </a:xfrm>
          <a:prstGeom prst="rect">
            <a:avLst/>
          </a:prstGeom>
          <a:noFill/>
        </p:spPr>
        <p:txBody>
          <a:bodyPr wrap="square" lIns="0" rIns="0" tIns="0" bIns="0" anchor="t">
            <a:spAutoFit/>
          </a:bodyPr>
          <a:lstStyle/>
          <a:p>
            <a:pPr algn="l">
              <a:spcAft>
                <a:spcPts val="0"/>
              </a:spcAft>
            </a:pPr>
            <a:r>
              <a:rPr sz="1350" b="0" i="0">
                <a:solidFill>
                  <a:srgbClr val="14171C"/>
                </a:solidFill>
                <a:latin typeface="Calibri"/>
              </a:rPr>
              <a:t>Single-nucleus RNA-seq: about 172,700 nuclei, 28,781 genes and 24 samples. The model uses four of nine annotated cell types: excitatory and inhibitory neurons, astrocytes and oligodendrocytes.</a:t>
            </a:r>
          </a:p>
        </p:txBody>
      </p:sp>
      <p:sp>
        <p:nvSpPr>
          <p:cNvPr id="26" name="Rectangle 25"/>
          <p:cNvSpPr/>
          <p:nvPr/>
        </p:nvSpPr>
        <p:spPr>
          <a:xfrm>
            <a:off x="6492240" y="3840480"/>
            <a:ext cx="5148072" cy="178308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492240" y="3840480"/>
            <a:ext cx="73152" cy="1783080"/>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766560" y="3977640"/>
            <a:ext cx="4754880" cy="320040"/>
          </a:xfrm>
          <a:prstGeom prst="rect">
            <a:avLst/>
          </a:prstGeom>
          <a:noFill/>
        </p:spPr>
        <p:txBody>
          <a:bodyPr wrap="square" lIns="0" rIns="0" tIns="0" bIns="0" anchor="t">
            <a:spAutoFit/>
          </a:bodyPr>
          <a:lstStyle/>
          <a:p>
            <a:pPr algn="l">
              <a:spcAft>
                <a:spcPts val="0"/>
              </a:spcAft>
            </a:pPr>
            <a:r>
              <a:rPr sz="1600" b="1" i="0">
                <a:solidFill>
                  <a:srgbClr val="0E2A47"/>
                </a:solidFill>
                <a:latin typeface="Calibri"/>
              </a:rPr>
              <a:t>Pancreatic islets, early development</a:t>
            </a:r>
          </a:p>
        </p:txBody>
      </p:sp>
      <p:sp>
        <p:nvSpPr>
          <p:cNvPr id="29" name="TextBox 28"/>
          <p:cNvSpPr txBox="1"/>
          <p:nvPr/>
        </p:nvSpPr>
        <p:spPr>
          <a:xfrm>
            <a:off x="6766560" y="4370832"/>
            <a:ext cx="4754880" cy="1234440"/>
          </a:xfrm>
          <a:prstGeom prst="rect">
            <a:avLst/>
          </a:prstGeom>
          <a:noFill/>
        </p:spPr>
        <p:txBody>
          <a:bodyPr wrap="square" lIns="0" rIns="0" tIns="0" bIns="0" anchor="t">
            <a:spAutoFit/>
          </a:bodyPr>
          <a:lstStyle/>
          <a:p>
            <a:pPr algn="l">
              <a:spcAft>
                <a:spcPts val="0"/>
              </a:spcAft>
            </a:pPr>
            <a:r>
              <a:rPr sz="1350" b="0" i="0">
                <a:solidFill>
                  <a:srgbClr val="14171C"/>
                </a:solidFill>
                <a:latin typeface="Calibri"/>
              </a:rPr>
              <a:t>GSE81608 (Xin et al.): 1,600 cells from 18 donors, 12 normal and 6 with type 2 diabetes. Alpha, beta, delta and PP cells; 33,889 genes after variance filtering.</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48640" y="347472"/>
            <a:ext cx="8229600" cy="274320"/>
          </a:xfrm>
          <a:prstGeom prst="rect">
            <a:avLst/>
          </a:prstGeom>
          <a:noFill/>
        </p:spPr>
        <p:txBody>
          <a:bodyPr wrap="square" lIns="0" rIns="0" tIns="0" bIns="0" anchor="t">
            <a:spAutoFit/>
          </a:bodyPr>
          <a:lstStyle/>
          <a:p>
            <a:pPr algn="l">
              <a:spcAft>
                <a:spcPts val="0"/>
              </a:spcAft>
            </a:pPr>
            <a:r>
              <a:rPr sz="1200" b="1" i="0">
                <a:solidFill>
                  <a:srgbClr val="1F5FAE"/>
                </a:solidFill>
                <a:latin typeface="Calibri"/>
              </a:rPr>
              <a:t>DECONVOLUTION PROJECT  ·  ARCHITECTURE</a:t>
            </a:r>
          </a:p>
        </p:txBody>
      </p:sp>
      <p:sp>
        <p:nvSpPr>
          <p:cNvPr id="3" name="TextBox 2"/>
          <p:cNvSpPr txBox="1"/>
          <p:nvPr/>
        </p:nvSpPr>
        <p:spPr>
          <a:xfrm>
            <a:off x="548640" y="621792"/>
            <a:ext cx="11091672" cy="914400"/>
          </a:xfrm>
          <a:prstGeom prst="rect">
            <a:avLst/>
          </a:prstGeom>
          <a:noFill/>
        </p:spPr>
        <p:txBody>
          <a:bodyPr wrap="square" lIns="0" rIns="0" tIns="0" bIns="0" anchor="t">
            <a:spAutoFit/>
          </a:bodyPr>
          <a:lstStyle/>
          <a:p>
            <a:pPr algn="l">
              <a:lnSpc>
                <a:spcPct val="95000"/>
              </a:lnSpc>
              <a:spcAft>
                <a:spcPts val="0"/>
              </a:spcAft>
            </a:pPr>
            <a:r>
              <a:rPr sz="2600" b="1" i="0">
                <a:solidFill>
                  <a:srgbClr val="0E2A47"/>
                </a:solidFill>
                <a:latin typeface="Calibri"/>
              </a:rPr>
              <a:t>End-to-end architecture: from raw single-nucleus data to tracked model runs</a:t>
            </a:r>
          </a:p>
        </p:txBody>
      </p:sp>
      <p:sp>
        <p:nvSpPr>
          <p:cNvPr id="4" name="Rectangle 3"/>
          <p:cNvSpPr/>
          <p:nvPr/>
        </p:nvSpPr>
        <p:spPr>
          <a:xfrm>
            <a:off x="548640" y="6108192"/>
            <a:ext cx="11091672" cy="329184"/>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6108192"/>
            <a:ext cx="64008" cy="329184"/>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108192"/>
            <a:ext cx="10817352" cy="329184"/>
          </a:xfrm>
          <a:prstGeom prst="rect">
            <a:avLst/>
          </a:prstGeom>
          <a:noFill/>
        </p:spPr>
        <p:txBody>
          <a:bodyPr wrap="square" lIns="0" rIns="0" tIns="0" bIns="0" anchor="ctr">
            <a:spAutoFit/>
          </a:bodyPr>
          <a:lstStyle/>
          <a:p>
            <a:pPr algn="l">
              <a:spcAft>
                <a:spcPts val="0"/>
              </a:spcAft>
            </a:pPr>
            <a:r>
              <a:rPr sz="1100" b="1" i="0">
                <a:solidFill>
                  <a:srgbClr val="1F5FAE"/>
                </a:solidFill>
                <a:latin typeface="Calibri"/>
              </a:rPr>
              <a:t>ROLE LINK   </a:t>
            </a:r>
            <a:r>
              <a:rPr sz="1300" b="0" i="0">
                <a:solidFill>
                  <a:srgbClr val="52514E"/>
                </a:solidFill>
                <a:latin typeface="Calibri"/>
              </a:rPr>
              <a:t>Reproducible, scalable, production-ready analytical methods</a:t>
            </a:r>
          </a:p>
        </p:txBody>
      </p:sp>
      <p:sp>
        <p:nvSpPr>
          <p:cNvPr id="7" name="TextBox 6"/>
          <p:cNvSpPr txBox="1"/>
          <p:nvPr/>
        </p:nvSpPr>
        <p:spPr>
          <a:xfrm>
            <a:off x="548640" y="6510528"/>
            <a:ext cx="6400800" cy="228600"/>
          </a:xfrm>
          <a:prstGeom prst="rect">
            <a:avLst/>
          </a:prstGeom>
          <a:noFill/>
        </p:spPr>
        <p:txBody>
          <a:bodyPr wrap="square" lIns="0" rIns="0" tIns="0" bIns="0" anchor="t">
            <a:spAutoFit/>
          </a:bodyPr>
          <a:lstStyle/>
          <a:p>
            <a:pPr algn="l">
              <a:spcAft>
                <a:spcPts val="0"/>
              </a:spcAft>
            </a:pPr>
            <a:r>
              <a:rPr sz="1000" b="0" i="0">
                <a:solidFill>
                  <a:srgbClr val="8A8984"/>
                </a:solidFill>
                <a:latin typeface="Calibri"/>
              </a:rPr>
              <a:t>Kunal Tembhare  ·  Computational biology and multi-omics ML</a:t>
            </a:r>
          </a:p>
        </p:txBody>
      </p:sp>
      <p:sp>
        <p:nvSpPr>
          <p:cNvPr id="8" name="TextBox 7"/>
          <p:cNvSpPr txBox="1"/>
          <p:nvPr/>
        </p:nvSpPr>
        <p:spPr>
          <a:xfrm>
            <a:off x="10268712" y="6510528"/>
            <a:ext cx="1371600" cy="228600"/>
          </a:xfrm>
          <a:prstGeom prst="rect">
            <a:avLst/>
          </a:prstGeom>
          <a:noFill/>
        </p:spPr>
        <p:txBody>
          <a:bodyPr wrap="square" lIns="0" rIns="0" tIns="0" bIns="0" anchor="t">
            <a:spAutoFit/>
          </a:bodyPr>
          <a:lstStyle/>
          <a:p>
            <a:pPr algn="r">
              <a:spcAft>
                <a:spcPts val="0"/>
              </a:spcAft>
            </a:pPr>
            <a:r>
              <a:rPr sz="1000" b="0" i="0">
                <a:solidFill>
                  <a:srgbClr val="8A8984"/>
                </a:solidFill>
                <a:latin typeface="Calibri"/>
              </a:rPr>
              <a:t>21 / 27</a:t>
            </a:r>
          </a:p>
        </p:txBody>
      </p:sp>
      <p:sp>
        <p:nvSpPr>
          <p:cNvPr id="9" name="Rectangle 8"/>
          <p:cNvSpPr/>
          <p:nvPr/>
        </p:nvSpPr>
        <p:spPr>
          <a:xfrm>
            <a:off x="548640" y="1783080"/>
            <a:ext cx="2011680" cy="214884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783080"/>
            <a:ext cx="2011680" cy="64008"/>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1965960"/>
            <a:ext cx="1737360" cy="274320"/>
          </a:xfrm>
          <a:prstGeom prst="rect">
            <a:avLst/>
          </a:prstGeom>
          <a:noFill/>
        </p:spPr>
        <p:txBody>
          <a:bodyPr wrap="square" lIns="0" rIns="0" tIns="0" bIns="0" anchor="t">
            <a:spAutoFit/>
          </a:bodyPr>
          <a:lstStyle/>
          <a:p>
            <a:pPr algn="l">
              <a:spcAft>
                <a:spcPts val="0"/>
              </a:spcAft>
            </a:pPr>
            <a:r>
              <a:rPr sz="1500" b="1" i="0">
                <a:solidFill>
                  <a:srgbClr val="0E2A47"/>
                </a:solidFill>
                <a:latin typeface="Calibri"/>
              </a:rPr>
              <a:t>1  Raw data</a:t>
            </a:r>
          </a:p>
        </p:txBody>
      </p:sp>
      <p:sp>
        <p:nvSpPr>
          <p:cNvPr id="12" name="TextBox 11"/>
          <p:cNvSpPr txBox="1"/>
          <p:nvPr/>
        </p:nvSpPr>
        <p:spPr>
          <a:xfrm>
            <a:off x="685800" y="2359152"/>
            <a:ext cx="1737360" cy="1051560"/>
          </a:xfrm>
          <a:prstGeom prst="rect">
            <a:avLst/>
          </a:prstGeom>
          <a:noFill/>
        </p:spPr>
        <p:txBody>
          <a:bodyPr wrap="square" lIns="0" rIns="0" tIns="0" bIns="0" anchor="t">
            <a:spAutoFit/>
          </a:bodyPr>
          <a:lstStyle/>
          <a:p>
            <a:pPr algn="l">
              <a:spcAft>
                <a:spcPts val="0"/>
              </a:spcAft>
            </a:pPr>
            <a:r>
              <a:rPr sz="1250" b="0" i="0">
                <a:solidFill>
                  <a:srgbClr val="14171C"/>
                </a:solidFill>
                <a:latin typeface="Calibri"/>
              </a:rPr>
              <a:t>ROSMAP count matrix with gene and cell metadata</a:t>
            </a:r>
          </a:p>
        </p:txBody>
      </p:sp>
      <p:sp>
        <p:nvSpPr>
          <p:cNvPr id="13" name="TextBox 12"/>
          <p:cNvSpPr txBox="1"/>
          <p:nvPr/>
        </p:nvSpPr>
        <p:spPr>
          <a:xfrm>
            <a:off x="685800" y="3401568"/>
            <a:ext cx="1737360" cy="502920"/>
          </a:xfrm>
          <a:prstGeom prst="rect">
            <a:avLst/>
          </a:prstGeom>
          <a:noFill/>
        </p:spPr>
        <p:txBody>
          <a:bodyPr wrap="square" lIns="0" rIns="0" tIns="0" bIns="0" anchor="t">
            <a:spAutoFit/>
          </a:bodyPr>
          <a:lstStyle/>
          <a:p>
            <a:pPr algn="l">
              <a:spcAft>
                <a:spcPts val="0"/>
              </a:spcAft>
            </a:pPr>
            <a:r>
              <a:rPr sz="1000" b="1" i="0">
                <a:solidFill>
                  <a:srgbClr val="1F5FAE"/>
                </a:solidFill>
                <a:latin typeface="Calibri"/>
              </a:rPr>
              <a:t>data/raw/rosmap</a:t>
            </a:r>
          </a:p>
        </p:txBody>
      </p:sp>
      <p:cxnSp>
        <p:nvCxnSpPr>
          <p:cNvPr id="14" name="Connector 13"/>
          <p:cNvCxnSpPr/>
          <p:nvPr/>
        </p:nvCxnSpPr>
        <p:spPr>
          <a:xfrm>
            <a:off x="2587752" y="2743200"/>
            <a:ext cx="201168" cy="0"/>
          </a:xfrm>
          <a:prstGeom prst="line">
            <a:avLst/>
          </a:prstGeom>
          <a:ln w="22225">
            <a:solidFill>
              <a:srgbClr val="8A898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ectangle 14"/>
          <p:cNvSpPr/>
          <p:nvPr/>
        </p:nvSpPr>
        <p:spPr>
          <a:xfrm>
            <a:off x="2816352" y="1783080"/>
            <a:ext cx="2011680" cy="214884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816352" y="1783080"/>
            <a:ext cx="2011680" cy="64008"/>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953512" y="1965960"/>
            <a:ext cx="1737360" cy="274320"/>
          </a:xfrm>
          <a:prstGeom prst="rect">
            <a:avLst/>
          </a:prstGeom>
          <a:noFill/>
        </p:spPr>
        <p:txBody>
          <a:bodyPr wrap="square" lIns="0" rIns="0" tIns="0" bIns="0" anchor="t">
            <a:spAutoFit/>
          </a:bodyPr>
          <a:lstStyle/>
          <a:p>
            <a:pPr algn="l">
              <a:spcAft>
                <a:spcPts val="0"/>
              </a:spcAft>
            </a:pPr>
            <a:r>
              <a:rPr sz="1500" b="1" i="0">
                <a:solidFill>
                  <a:srgbClr val="0E2A47"/>
                </a:solidFill>
                <a:latin typeface="Calibri"/>
              </a:rPr>
              <a:t>2  Preprocess</a:t>
            </a:r>
          </a:p>
        </p:txBody>
      </p:sp>
      <p:sp>
        <p:nvSpPr>
          <p:cNvPr id="18" name="TextBox 17"/>
          <p:cNvSpPr txBox="1"/>
          <p:nvPr/>
        </p:nvSpPr>
        <p:spPr>
          <a:xfrm>
            <a:off x="2953512" y="2359152"/>
            <a:ext cx="1737360" cy="1051560"/>
          </a:xfrm>
          <a:prstGeom prst="rect">
            <a:avLst/>
          </a:prstGeom>
          <a:noFill/>
        </p:spPr>
        <p:txBody>
          <a:bodyPr wrap="square" lIns="0" rIns="0" tIns="0" bIns="0" anchor="t">
            <a:spAutoFit/>
          </a:bodyPr>
          <a:lstStyle/>
          <a:p>
            <a:pPr algn="l">
              <a:spcAft>
                <a:spcPts val="0"/>
              </a:spcAft>
            </a:pPr>
            <a:r>
              <a:rPr sz="1250" b="0" i="0">
                <a:solidFill>
                  <a:srgbClr val="14171C"/>
                </a:solidFill>
                <a:latin typeface="Calibri"/>
              </a:rPr>
              <a:t>Scanpy drops genes seen in fewer than 5 cells; 24 sample files; counts to CPM; low-expression genes filtered</a:t>
            </a:r>
          </a:p>
        </p:txBody>
      </p:sp>
      <p:sp>
        <p:nvSpPr>
          <p:cNvPr id="19" name="TextBox 18"/>
          <p:cNvSpPr txBox="1"/>
          <p:nvPr/>
        </p:nvSpPr>
        <p:spPr>
          <a:xfrm>
            <a:off x="2953512" y="3401568"/>
            <a:ext cx="1737360" cy="502920"/>
          </a:xfrm>
          <a:prstGeom prst="rect">
            <a:avLst/>
          </a:prstGeom>
          <a:noFill/>
        </p:spPr>
        <p:txBody>
          <a:bodyPr wrap="square" lIns="0" rIns="0" tIns="0" bIns="0" anchor="t">
            <a:spAutoFit/>
          </a:bodyPr>
          <a:lstStyle/>
          <a:p>
            <a:pPr algn="l">
              <a:spcAft>
                <a:spcPts val="0"/>
              </a:spcAft>
            </a:pPr>
            <a:r>
              <a:rPr sz="1000" b="1" i="0">
                <a:solidFill>
                  <a:srgbClr val="1F5FAE"/>
                </a:solidFill>
                <a:latin typeface="Calibri"/>
              </a:rPr>
              <a:t>notebooks/rosmap/00–02</a:t>
            </a:r>
          </a:p>
        </p:txBody>
      </p:sp>
      <p:cxnSp>
        <p:nvCxnSpPr>
          <p:cNvPr id="20" name="Connector 19"/>
          <p:cNvCxnSpPr/>
          <p:nvPr/>
        </p:nvCxnSpPr>
        <p:spPr>
          <a:xfrm>
            <a:off x="4855464" y="2743200"/>
            <a:ext cx="201168" cy="0"/>
          </a:xfrm>
          <a:prstGeom prst="line">
            <a:avLst/>
          </a:prstGeom>
          <a:ln w="22225">
            <a:solidFill>
              <a:srgbClr val="8A8984"/>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ectangle 20"/>
          <p:cNvSpPr/>
          <p:nvPr/>
        </p:nvSpPr>
        <p:spPr>
          <a:xfrm>
            <a:off x="5084064" y="1783080"/>
            <a:ext cx="2011680" cy="214884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084064" y="1783080"/>
            <a:ext cx="2011680" cy="64008"/>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221224" y="1965960"/>
            <a:ext cx="1737360" cy="274320"/>
          </a:xfrm>
          <a:prstGeom prst="rect">
            <a:avLst/>
          </a:prstGeom>
          <a:noFill/>
        </p:spPr>
        <p:txBody>
          <a:bodyPr wrap="square" lIns="0" rIns="0" tIns="0" bIns="0" anchor="t">
            <a:spAutoFit/>
          </a:bodyPr>
          <a:lstStyle/>
          <a:p>
            <a:pPr algn="l">
              <a:spcAft>
                <a:spcPts val="0"/>
              </a:spcAft>
            </a:pPr>
            <a:r>
              <a:rPr sz="1500" b="1" i="0">
                <a:solidFill>
                  <a:srgbClr val="0E2A47"/>
                </a:solidFill>
                <a:latin typeface="Calibri"/>
              </a:rPr>
              <a:t>3  Simulate</a:t>
            </a:r>
          </a:p>
        </p:txBody>
      </p:sp>
      <p:sp>
        <p:nvSpPr>
          <p:cNvPr id="24" name="TextBox 23"/>
          <p:cNvSpPr txBox="1"/>
          <p:nvPr/>
        </p:nvSpPr>
        <p:spPr>
          <a:xfrm>
            <a:off x="5221224" y="2359152"/>
            <a:ext cx="1737360" cy="1051560"/>
          </a:xfrm>
          <a:prstGeom prst="rect">
            <a:avLst/>
          </a:prstGeom>
          <a:noFill/>
        </p:spPr>
        <p:txBody>
          <a:bodyPr wrap="square" lIns="0" rIns="0" tIns="0" bIns="0" anchor="t">
            <a:spAutoFit/>
          </a:bodyPr>
          <a:lstStyle/>
          <a:p>
            <a:pPr algn="l">
              <a:spcAft>
                <a:spcPts val="0"/>
              </a:spcAft>
            </a:pPr>
            <a:r>
              <a:rPr sz="1250" b="0" i="0">
                <a:solidFill>
                  <a:srgbClr val="14171C"/>
                </a:solidFill>
                <a:latin typeface="Calibri"/>
              </a:rPr>
              <a:t>Deconv class computes θ, S and p per sample and writes paired single-cell and pseudo-bulk tables</a:t>
            </a:r>
          </a:p>
        </p:txBody>
      </p:sp>
      <p:sp>
        <p:nvSpPr>
          <p:cNvPr id="25" name="TextBox 24"/>
          <p:cNvSpPr txBox="1"/>
          <p:nvPr/>
        </p:nvSpPr>
        <p:spPr>
          <a:xfrm>
            <a:off x="5221224" y="3401568"/>
            <a:ext cx="1737360" cy="502920"/>
          </a:xfrm>
          <a:prstGeom prst="rect">
            <a:avLst/>
          </a:prstGeom>
          <a:noFill/>
        </p:spPr>
        <p:txBody>
          <a:bodyPr wrap="square" lIns="0" rIns="0" tIns="0" bIns="0" anchor="t">
            <a:spAutoFit/>
          </a:bodyPr>
          <a:lstStyle/>
          <a:p>
            <a:pPr algn="l">
              <a:spcAft>
                <a:spcPts val="0"/>
              </a:spcAft>
            </a:pPr>
            <a:r>
              <a:rPr sz="1000" b="1" i="0">
                <a:solidFill>
                  <a:srgbClr val="1F5FAE"/>
                </a:solidFill>
                <a:latin typeface="Calibri"/>
              </a:rPr>
              <a:t>src/data/make_dataset_</a:t>
            </a:r>
          </a:p>
          <a:p>
            <a:pPr algn="l">
              <a:spcAft>
                <a:spcPts val="0"/>
              </a:spcAft>
            </a:pPr>
            <a:r>
              <a:rPr sz="1000" b="1" i="0">
                <a:solidFill>
                  <a:srgbClr val="1F5FAE"/>
                </a:solidFill>
                <a:latin typeface="Calibri"/>
              </a:rPr>
              <a:t>rosmap.py</a:t>
            </a:r>
          </a:p>
        </p:txBody>
      </p:sp>
      <p:cxnSp>
        <p:nvCxnSpPr>
          <p:cNvPr id="26" name="Connector 25"/>
          <p:cNvCxnSpPr/>
          <p:nvPr/>
        </p:nvCxnSpPr>
        <p:spPr>
          <a:xfrm>
            <a:off x="7123176" y="2743200"/>
            <a:ext cx="201168" cy="0"/>
          </a:xfrm>
          <a:prstGeom prst="line">
            <a:avLst/>
          </a:prstGeom>
          <a:ln w="22225">
            <a:solidFill>
              <a:srgbClr val="8A8984"/>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Rectangle 26"/>
          <p:cNvSpPr/>
          <p:nvPr/>
        </p:nvSpPr>
        <p:spPr>
          <a:xfrm>
            <a:off x="7351776" y="1783080"/>
            <a:ext cx="2011680" cy="214884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351776" y="1783080"/>
            <a:ext cx="2011680" cy="64008"/>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88936" y="1965960"/>
            <a:ext cx="1737360" cy="274320"/>
          </a:xfrm>
          <a:prstGeom prst="rect">
            <a:avLst/>
          </a:prstGeom>
          <a:noFill/>
        </p:spPr>
        <p:txBody>
          <a:bodyPr wrap="square" lIns="0" rIns="0" tIns="0" bIns="0" anchor="t">
            <a:spAutoFit/>
          </a:bodyPr>
          <a:lstStyle/>
          <a:p>
            <a:pPr algn="l">
              <a:spcAft>
                <a:spcPts val="0"/>
              </a:spcAft>
            </a:pPr>
            <a:r>
              <a:rPr sz="1500" b="1" i="0">
                <a:solidFill>
                  <a:srgbClr val="0E2A47"/>
                </a:solidFill>
                <a:latin typeface="Calibri"/>
              </a:rPr>
              <a:t>4  Train</a:t>
            </a:r>
          </a:p>
        </p:txBody>
      </p:sp>
      <p:sp>
        <p:nvSpPr>
          <p:cNvPr id="30" name="TextBox 29"/>
          <p:cNvSpPr txBox="1"/>
          <p:nvPr/>
        </p:nvSpPr>
        <p:spPr>
          <a:xfrm>
            <a:off x="7488936" y="2359152"/>
            <a:ext cx="1737360" cy="1051560"/>
          </a:xfrm>
          <a:prstGeom prst="rect">
            <a:avLst/>
          </a:prstGeom>
          <a:noFill/>
        </p:spPr>
        <p:txBody>
          <a:bodyPr wrap="square" lIns="0" rIns="0" tIns="0" bIns="0" anchor="t">
            <a:spAutoFit/>
          </a:bodyPr>
          <a:lstStyle/>
          <a:p>
            <a:pPr algn="l">
              <a:spcAft>
                <a:spcPts val="0"/>
              </a:spcAft>
            </a:pPr>
            <a:r>
              <a:rPr sz="1250" b="0" i="0">
                <a:solidFill>
                  <a:srgbClr val="14171C"/>
                </a:solidFill>
                <a:latin typeface="Calibri"/>
              </a:rPr>
              <a:t>PyTorch VAE or autoencoder; Optuna tuning over 10 trials, then retraining with the best parameters</a:t>
            </a:r>
          </a:p>
        </p:txBody>
      </p:sp>
      <p:sp>
        <p:nvSpPr>
          <p:cNvPr id="31" name="TextBox 30"/>
          <p:cNvSpPr txBox="1"/>
          <p:nvPr/>
        </p:nvSpPr>
        <p:spPr>
          <a:xfrm>
            <a:off x="7488936" y="3401568"/>
            <a:ext cx="1737360" cy="502920"/>
          </a:xfrm>
          <a:prstGeom prst="rect">
            <a:avLst/>
          </a:prstGeom>
          <a:noFill/>
        </p:spPr>
        <p:txBody>
          <a:bodyPr wrap="square" lIns="0" rIns="0" tIns="0" bIns="0" anchor="t">
            <a:spAutoFit/>
          </a:bodyPr>
          <a:lstStyle/>
          <a:p>
            <a:pPr algn="l">
              <a:spcAft>
                <a:spcPts val="0"/>
              </a:spcAft>
            </a:pPr>
            <a:r>
              <a:rPr sz="1000" b="1" i="0">
                <a:solidFill>
                  <a:srgbClr val="1F5FAE"/>
                </a:solidFill>
                <a:latin typeface="Calibri"/>
              </a:rPr>
              <a:t>src/models/train_model_</a:t>
            </a:r>
          </a:p>
          <a:p>
            <a:pPr algn="l">
              <a:spcAft>
                <a:spcPts val="0"/>
              </a:spcAft>
            </a:pPr>
            <a:r>
              <a:rPr sz="1000" b="1" i="0">
                <a:solidFill>
                  <a:srgbClr val="1F5FAE"/>
                </a:solidFill>
                <a:latin typeface="Calibri"/>
              </a:rPr>
              <a:t>optuna_rosmap.py</a:t>
            </a:r>
          </a:p>
        </p:txBody>
      </p:sp>
      <p:cxnSp>
        <p:nvCxnSpPr>
          <p:cNvPr id="32" name="Connector 31"/>
          <p:cNvCxnSpPr/>
          <p:nvPr/>
        </p:nvCxnSpPr>
        <p:spPr>
          <a:xfrm>
            <a:off x="9390888" y="2743200"/>
            <a:ext cx="201168" cy="0"/>
          </a:xfrm>
          <a:prstGeom prst="line">
            <a:avLst/>
          </a:prstGeom>
          <a:ln w="22225">
            <a:solidFill>
              <a:srgbClr val="8A8984"/>
            </a:solidFill>
            <a:tailEnd type="triangle" w="med" len="med"/>
          </a:ln>
        </p:spPr>
        <p:style>
          <a:lnRef idx="2">
            <a:schemeClr val="accent1"/>
          </a:lnRef>
          <a:fillRef idx="0">
            <a:schemeClr val="accent1"/>
          </a:fillRef>
          <a:effectRef idx="1">
            <a:schemeClr val="accent1"/>
          </a:effectRef>
          <a:fontRef idx="minor">
            <a:schemeClr val="tx1"/>
          </a:fontRef>
        </p:style>
      </p:cxnSp>
      <p:sp>
        <p:nvSpPr>
          <p:cNvPr id="33" name="Rectangle 32"/>
          <p:cNvSpPr/>
          <p:nvPr/>
        </p:nvSpPr>
        <p:spPr>
          <a:xfrm>
            <a:off x="9619488" y="1783080"/>
            <a:ext cx="2011680" cy="214884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9619488" y="1783080"/>
            <a:ext cx="2011680" cy="64008"/>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756648" y="1965960"/>
            <a:ext cx="1737360" cy="274320"/>
          </a:xfrm>
          <a:prstGeom prst="rect">
            <a:avLst/>
          </a:prstGeom>
          <a:noFill/>
        </p:spPr>
        <p:txBody>
          <a:bodyPr wrap="square" lIns="0" rIns="0" tIns="0" bIns="0" anchor="t">
            <a:spAutoFit/>
          </a:bodyPr>
          <a:lstStyle/>
          <a:p>
            <a:pPr algn="l">
              <a:spcAft>
                <a:spcPts val="0"/>
              </a:spcAft>
            </a:pPr>
            <a:r>
              <a:rPr sz="1500" b="1" i="0">
                <a:solidFill>
                  <a:srgbClr val="0E2A47"/>
                </a:solidFill>
                <a:latin typeface="Calibri"/>
              </a:rPr>
              <a:t>5  Track</a:t>
            </a:r>
          </a:p>
        </p:txBody>
      </p:sp>
      <p:sp>
        <p:nvSpPr>
          <p:cNvPr id="36" name="TextBox 35"/>
          <p:cNvSpPr txBox="1"/>
          <p:nvPr/>
        </p:nvSpPr>
        <p:spPr>
          <a:xfrm>
            <a:off x="9756648" y="2359152"/>
            <a:ext cx="1737360" cy="1051560"/>
          </a:xfrm>
          <a:prstGeom prst="rect">
            <a:avLst/>
          </a:prstGeom>
          <a:noFill/>
        </p:spPr>
        <p:txBody>
          <a:bodyPr wrap="square" lIns="0" rIns="0" tIns="0" bIns="0" anchor="t">
            <a:spAutoFit/>
          </a:bodyPr>
          <a:lstStyle/>
          <a:p>
            <a:pPr algn="l">
              <a:spcAft>
                <a:spcPts val="0"/>
              </a:spcAft>
            </a:pPr>
            <a:r>
              <a:rPr sz="1250" b="0" i="0">
                <a:solidFill>
                  <a:srgbClr val="14171C"/>
                </a:solidFill>
                <a:latin typeface="Calibri"/>
              </a:rPr>
              <a:t>MLflow logs parameters, final loss, the model and a loss figure for each run</a:t>
            </a:r>
          </a:p>
        </p:txBody>
      </p:sp>
      <p:sp>
        <p:nvSpPr>
          <p:cNvPr id="37" name="TextBox 36"/>
          <p:cNvSpPr txBox="1"/>
          <p:nvPr/>
        </p:nvSpPr>
        <p:spPr>
          <a:xfrm>
            <a:off x="9756648" y="3401568"/>
            <a:ext cx="1737360" cy="502920"/>
          </a:xfrm>
          <a:prstGeom prst="rect">
            <a:avLst/>
          </a:prstGeom>
          <a:noFill/>
        </p:spPr>
        <p:txBody>
          <a:bodyPr wrap="square" lIns="0" rIns="0" tIns="0" bIns="0" anchor="t">
            <a:spAutoFit/>
          </a:bodyPr>
          <a:lstStyle/>
          <a:p>
            <a:pPr algn="l">
              <a:spcAft>
                <a:spcPts val="0"/>
              </a:spcAft>
            </a:pPr>
            <a:r>
              <a:rPr sz="1000" b="1" i="0">
                <a:solidFill>
                  <a:srgbClr val="1F5FAE"/>
                </a:solidFill>
                <a:latin typeface="Calibri"/>
              </a:rPr>
              <a:t>mlruns and mlartifacts</a:t>
            </a:r>
          </a:p>
        </p:txBody>
      </p:sp>
      <p:sp>
        <p:nvSpPr>
          <p:cNvPr id="38" name="Rectangle 37"/>
          <p:cNvSpPr/>
          <p:nvPr/>
        </p:nvSpPr>
        <p:spPr>
          <a:xfrm>
            <a:off x="548640" y="4160520"/>
            <a:ext cx="6547104" cy="566928"/>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548640" y="4160520"/>
            <a:ext cx="73152" cy="566928"/>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77240" y="4160520"/>
            <a:ext cx="6181344" cy="566928"/>
          </a:xfrm>
          <a:prstGeom prst="rect">
            <a:avLst/>
          </a:prstGeom>
          <a:noFill/>
        </p:spPr>
        <p:txBody>
          <a:bodyPr wrap="square" lIns="0" rIns="0" tIns="0" bIns="0" anchor="ctr">
            <a:spAutoFit/>
          </a:bodyPr>
          <a:lstStyle/>
          <a:p>
            <a:pPr algn="l">
              <a:spcAft>
                <a:spcPts val="0"/>
              </a:spcAft>
            </a:pPr>
            <a:r>
              <a:rPr sz="1300" b="1" i="0">
                <a:solidFill>
                  <a:srgbClr val="0E2A47"/>
                </a:solidFill>
                <a:latin typeface="Calibri"/>
              </a:rPr>
              <a:t>DVC</a:t>
            </a:r>
            <a:r>
              <a:rPr sz="1300" b="0" i="0">
                <a:solidFill>
                  <a:srgbClr val="14171C"/>
                </a:solidFill>
                <a:latin typeface="Calibri"/>
              </a:rPr>
              <a:t>  data directory versioned: 27 GB in 125 files, with a remote store</a:t>
            </a:r>
          </a:p>
        </p:txBody>
      </p:sp>
      <p:sp>
        <p:nvSpPr>
          <p:cNvPr id="41" name="Rectangle 40"/>
          <p:cNvSpPr/>
          <p:nvPr/>
        </p:nvSpPr>
        <p:spPr>
          <a:xfrm>
            <a:off x="7351776" y="4160520"/>
            <a:ext cx="4279392" cy="566928"/>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351776" y="4160520"/>
            <a:ext cx="73152" cy="566928"/>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580376" y="4160520"/>
            <a:ext cx="3913632" cy="566928"/>
          </a:xfrm>
          <a:prstGeom prst="rect">
            <a:avLst/>
          </a:prstGeom>
          <a:noFill/>
        </p:spPr>
        <p:txBody>
          <a:bodyPr wrap="square" lIns="0" rIns="0" tIns="0" bIns="0" anchor="ctr">
            <a:spAutoFit/>
          </a:bodyPr>
          <a:lstStyle/>
          <a:p>
            <a:pPr algn="l">
              <a:spcAft>
                <a:spcPts val="0"/>
              </a:spcAft>
            </a:pPr>
            <a:r>
              <a:rPr sz="1300" b="1" i="0">
                <a:solidFill>
                  <a:srgbClr val="0E2A47"/>
                </a:solidFill>
                <a:latin typeface="Calibri"/>
              </a:rPr>
              <a:t>params.yaml</a:t>
            </a:r>
            <a:r>
              <a:rPr sz="1300" b="0" i="0">
                <a:solidFill>
                  <a:srgbClr val="14171C"/>
                </a:solidFill>
                <a:latin typeface="Calibri"/>
              </a:rPr>
              <a:t>  hyperparameters and switches for each run</a:t>
            </a:r>
          </a:p>
        </p:txBody>
      </p:sp>
      <p:sp>
        <p:nvSpPr>
          <p:cNvPr id="44" name="Rectangle 43"/>
          <p:cNvSpPr/>
          <p:nvPr/>
        </p:nvSpPr>
        <p:spPr>
          <a:xfrm>
            <a:off x="548640" y="4846320"/>
            <a:ext cx="11091672" cy="566928"/>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548640" y="4846320"/>
            <a:ext cx="73152" cy="566928"/>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77240" y="4846320"/>
            <a:ext cx="10725912" cy="566928"/>
          </a:xfrm>
          <a:prstGeom prst="rect">
            <a:avLst/>
          </a:prstGeom>
          <a:noFill/>
        </p:spPr>
        <p:txBody>
          <a:bodyPr wrap="square" lIns="0" rIns="0" tIns="0" bIns="0" anchor="ctr">
            <a:spAutoFit/>
          </a:bodyPr>
          <a:lstStyle/>
          <a:p>
            <a:pPr algn="l">
              <a:spcAft>
                <a:spcPts val="0"/>
              </a:spcAft>
            </a:pPr>
            <a:r>
              <a:rPr sz="1300" b="1" i="0">
                <a:solidFill>
                  <a:srgbClr val="0E2A47"/>
                </a:solidFill>
                <a:latin typeface="Calibri"/>
              </a:rPr>
              <a:t>Compute</a:t>
            </a:r>
            <a:r>
              <a:rPr sz="1300" b="0" i="0">
                <a:solidFill>
                  <a:srgbClr val="14171C"/>
                </a:solidFill>
                <a:latin typeface="Calibri"/>
              </a:rPr>
              <a:t>  JupyterLab sessions on a Slurm HPC cluster; Hugging Face Accelerate handles device placement</a:t>
            </a:r>
          </a:p>
        </p:txBody>
      </p:sp>
      <p:sp>
        <p:nvSpPr>
          <p:cNvPr id="47" name="TextBox 46"/>
          <p:cNvSpPr txBox="1"/>
          <p:nvPr/>
        </p:nvSpPr>
        <p:spPr>
          <a:xfrm>
            <a:off x="548640" y="5577840"/>
            <a:ext cx="11091672" cy="274320"/>
          </a:xfrm>
          <a:prstGeom prst="rect">
            <a:avLst/>
          </a:prstGeom>
          <a:noFill/>
        </p:spPr>
        <p:txBody>
          <a:bodyPr wrap="square" lIns="0" rIns="0" tIns="0" bIns="0" anchor="t">
            <a:spAutoFit/>
          </a:bodyPr>
          <a:lstStyle/>
          <a:p>
            <a:pPr algn="l">
              <a:spcAft>
                <a:spcPts val="0"/>
              </a:spcAft>
            </a:pPr>
            <a:r>
              <a:rPr sz="1200" b="0" i="0">
                <a:solidFill>
                  <a:srgbClr val="52514E"/>
                </a:solidFill>
                <a:latin typeface="Calibri"/>
              </a:rPr>
              <a:t>Paths are relative to the Deconvolution repository.</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48640" y="347472"/>
            <a:ext cx="8229600" cy="274320"/>
          </a:xfrm>
          <a:prstGeom prst="rect">
            <a:avLst/>
          </a:prstGeom>
          <a:noFill/>
        </p:spPr>
        <p:txBody>
          <a:bodyPr wrap="square" lIns="0" rIns="0" tIns="0" bIns="0" anchor="t">
            <a:spAutoFit/>
          </a:bodyPr>
          <a:lstStyle/>
          <a:p>
            <a:pPr algn="l">
              <a:spcAft>
                <a:spcPts val="0"/>
              </a:spcAft>
            </a:pPr>
            <a:r>
              <a:rPr sz="1200" b="1" i="0">
                <a:solidFill>
                  <a:srgbClr val="1F5FAE"/>
                </a:solidFill>
                <a:latin typeface="Calibri"/>
              </a:rPr>
              <a:t>DECONVOLUTION PROJECT  ·  SIMULATING TRAINING DATA</a:t>
            </a:r>
          </a:p>
        </p:txBody>
      </p:sp>
      <p:sp>
        <p:nvSpPr>
          <p:cNvPr id="3" name="TextBox 2"/>
          <p:cNvSpPr txBox="1"/>
          <p:nvPr/>
        </p:nvSpPr>
        <p:spPr>
          <a:xfrm>
            <a:off x="548640" y="621792"/>
            <a:ext cx="11091672" cy="914400"/>
          </a:xfrm>
          <a:prstGeom prst="rect">
            <a:avLst/>
          </a:prstGeom>
          <a:noFill/>
        </p:spPr>
        <p:txBody>
          <a:bodyPr wrap="square" lIns="0" rIns="0" tIns="0" bIns="0" anchor="t">
            <a:spAutoFit/>
          </a:bodyPr>
          <a:lstStyle/>
          <a:p>
            <a:pPr algn="l">
              <a:lnSpc>
                <a:spcPct val="95000"/>
              </a:lnSpc>
              <a:spcAft>
                <a:spcPts val="0"/>
              </a:spcAft>
            </a:pPr>
            <a:r>
              <a:rPr sz="2600" b="1" i="0">
                <a:solidFill>
                  <a:srgbClr val="0E2A47"/>
                </a:solidFill>
                <a:latin typeface="Calibri"/>
              </a:rPr>
              <a:t>Single-cell data are convolved into matched cell-type and pseudo-bulk training pairs</a:t>
            </a:r>
          </a:p>
        </p:txBody>
      </p:sp>
      <p:sp>
        <p:nvSpPr>
          <p:cNvPr id="4" name="Rectangle 3"/>
          <p:cNvSpPr/>
          <p:nvPr/>
        </p:nvSpPr>
        <p:spPr>
          <a:xfrm>
            <a:off x="548640" y="6108192"/>
            <a:ext cx="11091672" cy="329184"/>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6108192"/>
            <a:ext cx="64008" cy="329184"/>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108192"/>
            <a:ext cx="10817352" cy="329184"/>
          </a:xfrm>
          <a:prstGeom prst="rect">
            <a:avLst/>
          </a:prstGeom>
          <a:noFill/>
        </p:spPr>
        <p:txBody>
          <a:bodyPr wrap="square" lIns="0" rIns="0" tIns="0" bIns="0" anchor="ctr">
            <a:spAutoFit/>
          </a:bodyPr>
          <a:lstStyle/>
          <a:p>
            <a:pPr algn="l">
              <a:spcAft>
                <a:spcPts val="0"/>
              </a:spcAft>
            </a:pPr>
            <a:r>
              <a:rPr sz="1100" b="1" i="0">
                <a:solidFill>
                  <a:srgbClr val="1F5FAE"/>
                </a:solidFill>
                <a:latin typeface="Calibri"/>
              </a:rPr>
              <a:t>ROLE LINK   </a:t>
            </a:r>
            <a:r>
              <a:rPr sz="1300" b="0" i="0">
                <a:solidFill>
                  <a:srgbClr val="52514E"/>
                </a:solidFill>
                <a:latin typeface="Calibri"/>
              </a:rPr>
              <a:t>Simulation and generative approaches for scientific workflows</a:t>
            </a:r>
          </a:p>
        </p:txBody>
      </p:sp>
      <p:sp>
        <p:nvSpPr>
          <p:cNvPr id="7" name="TextBox 6"/>
          <p:cNvSpPr txBox="1"/>
          <p:nvPr/>
        </p:nvSpPr>
        <p:spPr>
          <a:xfrm>
            <a:off x="548640" y="6510528"/>
            <a:ext cx="6400800" cy="228600"/>
          </a:xfrm>
          <a:prstGeom prst="rect">
            <a:avLst/>
          </a:prstGeom>
          <a:noFill/>
        </p:spPr>
        <p:txBody>
          <a:bodyPr wrap="square" lIns="0" rIns="0" tIns="0" bIns="0" anchor="t">
            <a:spAutoFit/>
          </a:bodyPr>
          <a:lstStyle/>
          <a:p>
            <a:pPr algn="l">
              <a:spcAft>
                <a:spcPts val="0"/>
              </a:spcAft>
            </a:pPr>
            <a:r>
              <a:rPr sz="1000" b="0" i="0">
                <a:solidFill>
                  <a:srgbClr val="8A8984"/>
                </a:solidFill>
                <a:latin typeface="Calibri"/>
              </a:rPr>
              <a:t>Kunal Tembhare  ·  Computational biology and multi-omics ML</a:t>
            </a:r>
          </a:p>
        </p:txBody>
      </p:sp>
      <p:sp>
        <p:nvSpPr>
          <p:cNvPr id="8" name="TextBox 7"/>
          <p:cNvSpPr txBox="1"/>
          <p:nvPr/>
        </p:nvSpPr>
        <p:spPr>
          <a:xfrm>
            <a:off x="10268712" y="6510528"/>
            <a:ext cx="1371600" cy="228600"/>
          </a:xfrm>
          <a:prstGeom prst="rect">
            <a:avLst/>
          </a:prstGeom>
          <a:noFill/>
        </p:spPr>
        <p:txBody>
          <a:bodyPr wrap="square" lIns="0" rIns="0" tIns="0" bIns="0" anchor="t">
            <a:spAutoFit/>
          </a:bodyPr>
          <a:lstStyle/>
          <a:p>
            <a:pPr algn="r">
              <a:spcAft>
                <a:spcPts val="0"/>
              </a:spcAft>
            </a:pPr>
            <a:r>
              <a:rPr sz="1000" b="0" i="0">
                <a:solidFill>
                  <a:srgbClr val="8A8984"/>
                </a:solidFill>
                <a:latin typeface="Calibri"/>
              </a:rPr>
              <a:t>22 / 27</a:t>
            </a:r>
          </a:p>
        </p:txBody>
      </p:sp>
      <p:sp>
        <p:nvSpPr>
          <p:cNvPr id="9" name="Rectangle 8"/>
          <p:cNvSpPr/>
          <p:nvPr/>
        </p:nvSpPr>
        <p:spPr>
          <a:xfrm>
            <a:off x="548640" y="1783080"/>
            <a:ext cx="2468880" cy="182880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783080"/>
            <a:ext cx="2468880" cy="64008"/>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85800" y="1984248"/>
            <a:ext cx="347472" cy="34747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200" b="1">
                <a:solidFill>
                  <a:srgbClr val="FFFFFF"/>
                </a:solidFill>
                <a:latin typeface="Calibri"/>
              </a:rPr>
              <a:t>1</a:t>
            </a:r>
          </a:p>
        </p:txBody>
      </p:sp>
      <p:sp>
        <p:nvSpPr>
          <p:cNvPr id="12" name="TextBox 11"/>
          <p:cNvSpPr txBox="1"/>
          <p:nvPr/>
        </p:nvSpPr>
        <p:spPr>
          <a:xfrm>
            <a:off x="685800" y="2423160"/>
            <a:ext cx="2194560" cy="320040"/>
          </a:xfrm>
          <a:prstGeom prst="rect">
            <a:avLst/>
          </a:prstGeom>
          <a:noFill/>
        </p:spPr>
        <p:txBody>
          <a:bodyPr wrap="square" lIns="0" rIns="0" tIns="0" bIns="0" anchor="t">
            <a:spAutoFit/>
          </a:bodyPr>
          <a:lstStyle/>
          <a:p>
            <a:pPr algn="l">
              <a:spcAft>
                <a:spcPts val="0"/>
              </a:spcAft>
            </a:pPr>
            <a:r>
              <a:rPr sz="1550" b="1" i="0">
                <a:solidFill>
                  <a:srgbClr val="0E2A47"/>
                </a:solidFill>
                <a:latin typeface="Calibri"/>
              </a:rPr>
              <a:t>Single-cell counts</a:t>
            </a:r>
          </a:p>
        </p:txBody>
      </p:sp>
      <p:sp>
        <p:nvSpPr>
          <p:cNvPr id="13" name="TextBox 12"/>
          <p:cNvSpPr txBox="1"/>
          <p:nvPr/>
        </p:nvSpPr>
        <p:spPr>
          <a:xfrm>
            <a:off x="685800" y="2788920"/>
            <a:ext cx="2194560" cy="822960"/>
          </a:xfrm>
          <a:prstGeom prst="rect">
            <a:avLst/>
          </a:prstGeom>
          <a:noFill/>
        </p:spPr>
        <p:txBody>
          <a:bodyPr wrap="square" lIns="0" rIns="0" tIns="0" bIns="0" anchor="t">
            <a:spAutoFit/>
          </a:bodyPr>
          <a:lstStyle/>
          <a:p>
            <a:pPr algn="l">
              <a:spcAft>
                <a:spcPts val="0"/>
              </a:spcAft>
            </a:pPr>
            <a:r>
              <a:rPr sz="1300" b="0" i="0">
                <a:solidFill>
                  <a:srgbClr val="14171C"/>
                </a:solidFill>
                <a:latin typeface="Calibri"/>
              </a:rPr>
              <a:t>Per sample: genes × cells, with a cell-type label for each cell.</a:t>
            </a:r>
          </a:p>
        </p:txBody>
      </p:sp>
      <p:cxnSp>
        <p:nvCxnSpPr>
          <p:cNvPr id="14" name="Connector 13"/>
          <p:cNvCxnSpPr/>
          <p:nvPr/>
        </p:nvCxnSpPr>
        <p:spPr>
          <a:xfrm>
            <a:off x="3054096" y="2697480"/>
            <a:ext cx="329184" cy="0"/>
          </a:xfrm>
          <a:prstGeom prst="line">
            <a:avLst/>
          </a:prstGeom>
          <a:ln w="22225">
            <a:solidFill>
              <a:srgbClr val="8A898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ectangle 14"/>
          <p:cNvSpPr/>
          <p:nvPr/>
        </p:nvSpPr>
        <p:spPr>
          <a:xfrm>
            <a:off x="3419856" y="1783080"/>
            <a:ext cx="2468880" cy="182880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419856" y="1783080"/>
            <a:ext cx="2468880" cy="64008"/>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3557016" y="1984248"/>
            <a:ext cx="347472" cy="34747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200" b="1">
                <a:solidFill>
                  <a:srgbClr val="FFFFFF"/>
                </a:solidFill>
                <a:latin typeface="Calibri"/>
              </a:rPr>
              <a:t>2</a:t>
            </a:r>
          </a:p>
        </p:txBody>
      </p:sp>
      <p:sp>
        <p:nvSpPr>
          <p:cNvPr id="18" name="TextBox 17"/>
          <p:cNvSpPr txBox="1"/>
          <p:nvPr/>
        </p:nvSpPr>
        <p:spPr>
          <a:xfrm>
            <a:off x="3557016" y="2423160"/>
            <a:ext cx="2194560" cy="320040"/>
          </a:xfrm>
          <a:prstGeom prst="rect">
            <a:avLst/>
          </a:prstGeom>
          <a:noFill/>
        </p:spPr>
        <p:txBody>
          <a:bodyPr wrap="square" lIns="0" rIns="0" tIns="0" bIns="0" anchor="t">
            <a:spAutoFit/>
          </a:bodyPr>
          <a:lstStyle/>
          <a:p>
            <a:pPr algn="l">
              <a:spcAft>
                <a:spcPts val="0"/>
              </a:spcAft>
            </a:pPr>
            <a:r>
              <a:rPr sz="1550" b="1" i="0">
                <a:solidFill>
                  <a:srgbClr val="0E2A47"/>
                </a:solidFill>
                <a:latin typeface="Calibri"/>
              </a:rPr>
              <a:t>Abundance and size</a:t>
            </a:r>
          </a:p>
        </p:txBody>
      </p:sp>
      <p:sp>
        <p:nvSpPr>
          <p:cNvPr id="19" name="TextBox 18"/>
          <p:cNvSpPr txBox="1"/>
          <p:nvPr/>
        </p:nvSpPr>
        <p:spPr>
          <a:xfrm>
            <a:off x="3557016" y="2788920"/>
            <a:ext cx="2194560" cy="822960"/>
          </a:xfrm>
          <a:prstGeom prst="rect">
            <a:avLst/>
          </a:prstGeom>
          <a:noFill/>
        </p:spPr>
        <p:txBody>
          <a:bodyPr wrap="square" lIns="0" rIns="0" tIns="0" bIns="0" anchor="t">
            <a:spAutoFit/>
          </a:bodyPr>
          <a:lstStyle/>
          <a:p>
            <a:pPr algn="l">
              <a:spcAft>
                <a:spcPts val="0"/>
              </a:spcAft>
            </a:pPr>
            <a:r>
              <a:rPr sz="1300" b="0" i="0">
                <a:solidFill>
                  <a:srgbClr val="14171C"/>
                </a:solidFill>
                <a:latin typeface="Calibri"/>
              </a:rPr>
              <a:t>θ: each cell type's share of RNA per gene. S: average RNA per cell, by cell type.</a:t>
            </a:r>
          </a:p>
        </p:txBody>
      </p:sp>
      <p:cxnSp>
        <p:nvCxnSpPr>
          <p:cNvPr id="20" name="Connector 19"/>
          <p:cNvCxnSpPr/>
          <p:nvPr/>
        </p:nvCxnSpPr>
        <p:spPr>
          <a:xfrm>
            <a:off x="5925312" y="2697480"/>
            <a:ext cx="329184" cy="0"/>
          </a:xfrm>
          <a:prstGeom prst="line">
            <a:avLst/>
          </a:prstGeom>
          <a:ln w="22225">
            <a:solidFill>
              <a:srgbClr val="8A8984"/>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ectangle 20"/>
          <p:cNvSpPr/>
          <p:nvPr/>
        </p:nvSpPr>
        <p:spPr>
          <a:xfrm>
            <a:off x="6291072" y="1783080"/>
            <a:ext cx="2468880" cy="182880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91072" y="1783080"/>
            <a:ext cx="2468880" cy="64008"/>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28232" y="1984248"/>
            <a:ext cx="347472" cy="34747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200" b="1">
                <a:solidFill>
                  <a:srgbClr val="FFFFFF"/>
                </a:solidFill>
                <a:latin typeface="Calibri"/>
              </a:rPr>
              <a:t>3</a:t>
            </a:r>
          </a:p>
        </p:txBody>
      </p:sp>
      <p:sp>
        <p:nvSpPr>
          <p:cNvPr id="24" name="TextBox 23"/>
          <p:cNvSpPr txBox="1"/>
          <p:nvPr/>
        </p:nvSpPr>
        <p:spPr>
          <a:xfrm>
            <a:off x="6428232" y="2423160"/>
            <a:ext cx="2194560" cy="320040"/>
          </a:xfrm>
          <a:prstGeom prst="rect">
            <a:avLst/>
          </a:prstGeom>
          <a:noFill/>
        </p:spPr>
        <p:txBody>
          <a:bodyPr wrap="square" lIns="0" rIns="0" tIns="0" bIns="0" anchor="t">
            <a:spAutoFit/>
          </a:bodyPr>
          <a:lstStyle/>
          <a:p>
            <a:pPr algn="l">
              <a:spcAft>
                <a:spcPts val="0"/>
              </a:spcAft>
            </a:pPr>
            <a:r>
              <a:rPr sz="1550" b="1" i="0">
                <a:solidFill>
                  <a:srgbClr val="0E2A47"/>
                </a:solidFill>
                <a:latin typeface="Calibri"/>
              </a:rPr>
              <a:t>Convolved cell types</a:t>
            </a:r>
          </a:p>
        </p:txBody>
      </p:sp>
      <p:sp>
        <p:nvSpPr>
          <p:cNvPr id="25" name="TextBox 24"/>
          <p:cNvSpPr txBox="1"/>
          <p:nvPr/>
        </p:nvSpPr>
        <p:spPr>
          <a:xfrm>
            <a:off x="6428232" y="2788920"/>
            <a:ext cx="2194560" cy="822960"/>
          </a:xfrm>
          <a:prstGeom prst="rect">
            <a:avLst/>
          </a:prstGeom>
          <a:noFill/>
        </p:spPr>
        <p:txBody>
          <a:bodyPr wrap="square" lIns="0" rIns="0" tIns="0" bIns="0" anchor="t">
            <a:spAutoFit/>
          </a:bodyPr>
          <a:lstStyle/>
          <a:p>
            <a:pPr algn="l">
              <a:spcAft>
                <a:spcPts val="0"/>
              </a:spcAft>
            </a:pPr>
            <a:r>
              <a:rPr sz="1300" b="0" i="0">
                <a:solidFill>
                  <a:srgbClr val="14171C"/>
                </a:solidFill>
                <a:latin typeface="Calibri"/>
              </a:rPr>
              <a:t>θ × S gives genes × 4 cell-type expression values per sample. This is the model input.</a:t>
            </a:r>
          </a:p>
        </p:txBody>
      </p:sp>
      <p:cxnSp>
        <p:nvCxnSpPr>
          <p:cNvPr id="26" name="Connector 25"/>
          <p:cNvCxnSpPr/>
          <p:nvPr/>
        </p:nvCxnSpPr>
        <p:spPr>
          <a:xfrm>
            <a:off x="8796528" y="2697480"/>
            <a:ext cx="329184" cy="0"/>
          </a:xfrm>
          <a:prstGeom prst="line">
            <a:avLst/>
          </a:prstGeom>
          <a:ln w="22225">
            <a:solidFill>
              <a:srgbClr val="8A8984"/>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Rectangle 26"/>
          <p:cNvSpPr/>
          <p:nvPr/>
        </p:nvSpPr>
        <p:spPr>
          <a:xfrm>
            <a:off x="9162288" y="1783080"/>
            <a:ext cx="2468880" cy="182880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162288" y="1783080"/>
            <a:ext cx="2468880" cy="64008"/>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299448" y="1984248"/>
            <a:ext cx="347472" cy="34747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200" b="1">
                <a:solidFill>
                  <a:srgbClr val="FFFFFF"/>
                </a:solidFill>
                <a:latin typeface="Calibri"/>
              </a:rPr>
              <a:t>4</a:t>
            </a:r>
          </a:p>
        </p:txBody>
      </p:sp>
      <p:sp>
        <p:nvSpPr>
          <p:cNvPr id="30" name="TextBox 29"/>
          <p:cNvSpPr txBox="1"/>
          <p:nvPr/>
        </p:nvSpPr>
        <p:spPr>
          <a:xfrm>
            <a:off x="9299448" y="2423160"/>
            <a:ext cx="2194560" cy="320040"/>
          </a:xfrm>
          <a:prstGeom prst="rect">
            <a:avLst/>
          </a:prstGeom>
          <a:noFill/>
        </p:spPr>
        <p:txBody>
          <a:bodyPr wrap="square" lIns="0" rIns="0" tIns="0" bIns="0" anchor="t">
            <a:spAutoFit/>
          </a:bodyPr>
          <a:lstStyle/>
          <a:p>
            <a:pPr algn="l">
              <a:spcAft>
                <a:spcPts val="0"/>
              </a:spcAft>
            </a:pPr>
            <a:r>
              <a:rPr sz="1550" b="1" i="0">
                <a:solidFill>
                  <a:srgbClr val="0E2A47"/>
                </a:solidFill>
                <a:latin typeface="Calibri"/>
              </a:rPr>
              <a:t>Pseudo-bulk</a:t>
            </a:r>
          </a:p>
        </p:txBody>
      </p:sp>
      <p:sp>
        <p:nvSpPr>
          <p:cNvPr id="31" name="TextBox 30"/>
          <p:cNvSpPr txBox="1"/>
          <p:nvPr/>
        </p:nvSpPr>
        <p:spPr>
          <a:xfrm>
            <a:off x="9299448" y="2788920"/>
            <a:ext cx="2194560" cy="822960"/>
          </a:xfrm>
          <a:prstGeom prst="rect">
            <a:avLst/>
          </a:prstGeom>
          <a:noFill/>
        </p:spPr>
        <p:txBody>
          <a:bodyPr wrap="square" lIns="0" rIns="0" tIns="0" bIns="0" anchor="t">
            <a:spAutoFit/>
          </a:bodyPr>
          <a:lstStyle/>
          <a:p>
            <a:pPr algn="l">
              <a:spcAft>
                <a:spcPts val="0"/>
              </a:spcAft>
            </a:pPr>
            <a:r>
              <a:rPr sz="1300" b="0" i="0">
                <a:solidFill>
                  <a:srgbClr val="14171C"/>
                </a:solidFill>
                <a:latin typeface="Calibri"/>
              </a:rPr>
              <a:t>Cell types weighted by their proportions p give one bulk-like value per gene.</a:t>
            </a:r>
          </a:p>
        </p:txBody>
      </p:sp>
      <p:sp>
        <p:nvSpPr>
          <p:cNvPr id="32" name="Rectangle 31"/>
          <p:cNvSpPr/>
          <p:nvPr/>
        </p:nvSpPr>
        <p:spPr>
          <a:xfrm>
            <a:off x="548640" y="3840480"/>
            <a:ext cx="5449824" cy="128016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48640" y="3840480"/>
            <a:ext cx="73152" cy="1280160"/>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22959" y="3931920"/>
            <a:ext cx="5029200" cy="274320"/>
          </a:xfrm>
          <a:prstGeom prst="rect">
            <a:avLst/>
          </a:prstGeom>
          <a:noFill/>
        </p:spPr>
        <p:txBody>
          <a:bodyPr wrap="square" lIns="0" rIns="0" tIns="0" bIns="0" anchor="t">
            <a:spAutoFit/>
          </a:bodyPr>
          <a:lstStyle/>
          <a:p>
            <a:pPr algn="l">
              <a:spcAft>
                <a:spcPts val="0"/>
              </a:spcAft>
            </a:pPr>
            <a:r>
              <a:rPr sz="1500" b="1" i="0">
                <a:solidFill>
                  <a:srgbClr val="0E2A47"/>
                </a:solidFill>
                <a:latin typeface="Calibri"/>
              </a:rPr>
              <a:t>Proportions p</a:t>
            </a:r>
          </a:p>
        </p:txBody>
      </p:sp>
      <p:sp>
        <p:nvSpPr>
          <p:cNvPr id="35" name="TextBox 34"/>
          <p:cNvSpPr txBox="1"/>
          <p:nvPr/>
        </p:nvSpPr>
        <p:spPr>
          <a:xfrm>
            <a:off x="822959" y="4279392"/>
            <a:ext cx="5029200" cy="822960"/>
          </a:xfrm>
          <a:prstGeom prst="rect">
            <a:avLst/>
          </a:prstGeom>
          <a:noFill/>
        </p:spPr>
        <p:txBody>
          <a:bodyPr wrap="square" lIns="0" rIns="0" tIns="0" bIns="0" anchor="t">
            <a:spAutoFit/>
          </a:bodyPr>
          <a:lstStyle/>
          <a:p>
            <a:pPr algn="l">
              <a:spcAft>
                <a:spcPts val="0"/>
              </a:spcAft>
            </a:pPr>
            <a:r>
              <a:rPr sz="1300" b="0" i="0">
                <a:solidFill>
                  <a:srgbClr val="14171C"/>
                </a:solidFill>
                <a:latin typeface="Calibri"/>
              </a:rPr>
              <a:t>Estimated by linear regression of a reference pseudo-bulk on the reference cell-type matrix, then rescaled to sum to 1. Outliers across samples are removed with the IQR rule before averaging.</a:t>
            </a:r>
          </a:p>
        </p:txBody>
      </p:sp>
      <p:sp>
        <p:nvSpPr>
          <p:cNvPr id="36" name="Rectangle 35"/>
          <p:cNvSpPr/>
          <p:nvPr/>
        </p:nvSpPr>
        <p:spPr>
          <a:xfrm>
            <a:off x="6190488" y="3840480"/>
            <a:ext cx="5449824" cy="128016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6190488" y="3840480"/>
            <a:ext cx="73152" cy="1280160"/>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464807" y="3931920"/>
            <a:ext cx="5029200" cy="274320"/>
          </a:xfrm>
          <a:prstGeom prst="rect">
            <a:avLst/>
          </a:prstGeom>
          <a:noFill/>
        </p:spPr>
        <p:txBody>
          <a:bodyPr wrap="square" lIns="0" rIns="0" tIns="0" bIns="0" anchor="t">
            <a:spAutoFit/>
          </a:bodyPr>
          <a:lstStyle/>
          <a:p>
            <a:pPr algn="l">
              <a:spcAft>
                <a:spcPts val="0"/>
              </a:spcAft>
            </a:pPr>
            <a:r>
              <a:rPr sz="1500" b="1" i="0">
                <a:solidFill>
                  <a:srgbClr val="0E2A47"/>
                </a:solidFill>
                <a:latin typeface="Calibri"/>
              </a:rPr>
              <a:t>Preprocessing</a:t>
            </a:r>
          </a:p>
        </p:txBody>
      </p:sp>
      <p:sp>
        <p:nvSpPr>
          <p:cNvPr id="39" name="TextBox 38"/>
          <p:cNvSpPr txBox="1"/>
          <p:nvPr/>
        </p:nvSpPr>
        <p:spPr>
          <a:xfrm>
            <a:off x="6464807" y="4279392"/>
            <a:ext cx="5029200" cy="822960"/>
          </a:xfrm>
          <a:prstGeom prst="rect">
            <a:avLst/>
          </a:prstGeom>
          <a:noFill/>
        </p:spPr>
        <p:txBody>
          <a:bodyPr wrap="square" lIns="0" rIns="0" tIns="0" bIns="0" anchor="t">
            <a:spAutoFit/>
          </a:bodyPr>
          <a:lstStyle/>
          <a:p>
            <a:pPr algn="l">
              <a:spcAft>
                <a:spcPts val="0"/>
              </a:spcAft>
            </a:pPr>
            <a:r>
              <a:rPr sz="1300" b="0" i="0">
                <a:solidFill>
                  <a:srgbClr val="14171C"/>
                </a:solidFill>
                <a:latin typeface="Calibri"/>
              </a:rPr>
              <a:t>Genes seen in fewer than 5 cells removed. Counts converted to CPM. One file per sample (24 samples), saved as paired single-cell and pseudo-bulk tables.</a:t>
            </a:r>
          </a:p>
        </p:txBody>
      </p:sp>
      <p:sp>
        <p:nvSpPr>
          <p:cNvPr id="40" name="TextBox 39"/>
          <p:cNvSpPr txBox="1"/>
          <p:nvPr/>
        </p:nvSpPr>
        <p:spPr>
          <a:xfrm>
            <a:off x="548640" y="5349240"/>
            <a:ext cx="11091672" cy="457200"/>
          </a:xfrm>
          <a:prstGeom prst="rect">
            <a:avLst/>
          </a:prstGeom>
          <a:noFill/>
        </p:spPr>
        <p:txBody>
          <a:bodyPr wrap="square" lIns="0" rIns="0" tIns="0" bIns="0" anchor="t">
            <a:spAutoFit/>
          </a:bodyPr>
          <a:lstStyle/>
          <a:p>
            <a:pPr algn="l">
              <a:spcAft>
                <a:spcPts val="0"/>
              </a:spcAft>
            </a:pPr>
            <a:r>
              <a:rPr sz="1350" b="1" i="0">
                <a:solidFill>
                  <a:srgbClr val="0E2A47"/>
                </a:solidFill>
                <a:latin typeface="Calibri"/>
              </a:rPr>
              <a:t>bulk(gene) ≈ sum over cell types of   p × S × θ</a:t>
            </a:r>
            <a:r>
              <a:rPr sz="1350" b="0" i="0">
                <a:solidFill>
                  <a:srgbClr val="52514E"/>
                </a:solidFill>
                <a:latin typeface="Calibri"/>
              </a:rPr>
              <a:t>      Formulation follows the MuSiC paper cited in the project documentation.</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48640" y="347472"/>
            <a:ext cx="8229600" cy="274320"/>
          </a:xfrm>
          <a:prstGeom prst="rect">
            <a:avLst/>
          </a:prstGeom>
          <a:noFill/>
        </p:spPr>
        <p:txBody>
          <a:bodyPr wrap="square" lIns="0" rIns="0" tIns="0" bIns="0" anchor="t">
            <a:spAutoFit/>
          </a:bodyPr>
          <a:lstStyle/>
          <a:p>
            <a:pPr algn="l">
              <a:spcAft>
                <a:spcPts val="0"/>
              </a:spcAft>
            </a:pPr>
            <a:r>
              <a:rPr sz="1200" b="1" i="0">
                <a:solidFill>
                  <a:srgbClr val="1F5FAE"/>
                </a:solidFill>
                <a:latin typeface="Calibri"/>
              </a:rPr>
              <a:t>DECONVOLUTION PROJECT  ·  MODEL AND TRAINING</a:t>
            </a:r>
          </a:p>
        </p:txBody>
      </p:sp>
      <p:sp>
        <p:nvSpPr>
          <p:cNvPr id="3" name="TextBox 2"/>
          <p:cNvSpPr txBox="1"/>
          <p:nvPr/>
        </p:nvSpPr>
        <p:spPr>
          <a:xfrm>
            <a:off x="548640" y="621792"/>
            <a:ext cx="11091672" cy="914400"/>
          </a:xfrm>
          <a:prstGeom prst="rect">
            <a:avLst/>
          </a:prstGeom>
          <a:noFill/>
        </p:spPr>
        <p:txBody>
          <a:bodyPr wrap="square" lIns="0" rIns="0" tIns="0" bIns="0" anchor="t">
            <a:spAutoFit/>
          </a:bodyPr>
          <a:lstStyle/>
          <a:p>
            <a:pPr algn="l">
              <a:lnSpc>
                <a:spcPct val="95000"/>
              </a:lnSpc>
              <a:spcAft>
                <a:spcPts val="0"/>
              </a:spcAft>
            </a:pPr>
            <a:r>
              <a:rPr sz="2600" b="1" i="0">
                <a:solidFill>
                  <a:srgbClr val="0E2A47"/>
                </a:solidFill>
                <a:latin typeface="Calibri"/>
              </a:rPr>
              <a:t>A compact VAE trained on one gene at a time across all samples</a:t>
            </a:r>
          </a:p>
        </p:txBody>
      </p:sp>
      <p:sp>
        <p:nvSpPr>
          <p:cNvPr id="4" name="Rectangle 3"/>
          <p:cNvSpPr/>
          <p:nvPr/>
        </p:nvSpPr>
        <p:spPr>
          <a:xfrm>
            <a:off x="548640" y="6108192"/>
            <a:ext cx="11091672" cy="329184"/>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6108192"/>
            <a:ext cx="64008" cy="329184"/>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108192"/>
            <a:ext cx="10817352" cy="329184"/>
          </a:xfrm>
          <a:prstGeom prst="rect">
            <a:avLst/>
          </a:prstGeom>
          <a:noFill/>
        </p:spPr>
        <p:txBody>
          <a:bodyPr wrap="square" lIns="0" rIns="0" tIns="0" bIns="0" anchor="ctr">
            <a:spAutoFit/>
          </a:bodyPr>
          <a:lstStyle/>
          <a:p>
            <a:pPr algn="l">
              <a:spcAft>
                <a:spcPts val="0"/>
              </a:spcAft>
            </a:pPr>
            <a:r>
              <a:rPr sz="1100" b="1" i="0">
                <a:solidFill>
                  <a:srgbClr val="1F5FAE"/>
                </a:solidFill>
                <a:latin typeface="Calibri"/>
              </a:rPr>
              <a:t>ROLE LINK   </a:t>
            </a:r>
            <a:r>
              <a:rPr sz="1300" b="0" i="0">
                <a:solidFill>
                  <a:srgbClr val="52514E"/>
                </a:solidFill>
                <a:latin typeface="Calibri"/>
              </a:rPr>
              <a:t>Deep learning and generative models for biological data</a:t>
            </a:r>
          </a:p>
        </p:txBody>
      </p:sp>
      <p:sp>
        <p:nvSpPr>
          <p:cNvPr id="7" name="TextBox 6"/>
          <p:cNvSpPr txBox="1"/>
          <p:nvPr/>
        </p:nvSpPr>
        <p:spPr>
          <a:xfrm>
            <a:off x="548640" y="6510528"/>
            <a:ext cx="6400800" cy="228600"/>
          </a:xfrm>
          <a:prstGeom prst="rect">
            <a:avLst/>
          </a:prstGeom>
          <a:noFill/>
        </p:spPr>
        <p:txBody>
          <a:bodyPr wrap="square" lIns="0" rIns="0" tIns="0" bIns="0" anchor="t">
            <a:spAutoFit/>
          </a:bodyPr>
          <a:lstStyle/>
          <a:p>
            <a:pPr algn="l">
              <a:spcAft>
                <a:spcPts val="0"/>
              </a:spcAft>
            </a:pPr>
            <a:r>
              <a:rPr sz="1000" b="0" i="0">
                <a:solidFill>
                  <a:srgbClr val="8A8984"/>
                </a:solidFill>
                <a:latin typeface="Calibri"/>
              </a:rPr>
              <a:t>Kunal Tembhare  ·  Computational biology and multi-omics ML</a:t>
            </a:r>
          </a:p>
        </p:txBody>
      </p:sp>
      <p:sp>
        <p:nvSpPr>
          <p:cNvPr id="8" name="TextBox 7"/>
          <p:cNvSpPr txBox="1"/>
          <p:nvPr/>
        </p:nvSpPr>
        <p:spPr>
          <a:xfrm>
            <a:off x="10268712" y="6510528"/>
            <a:ext cx="1371600" cy="228600"/>
          </a:xfrm>
          <a:prstGeom prst="rect">
            <a:avLst/>
          </a:prstGeom>
          <a:noFill/>
        </p:spPr>
        <p:txBody>
          <a:bodyPr wrap="square" lIns="0" rIns="0" tIns="0" bIns="0" anchor="t">
            <a:spAutoFit/>
          </a:bodyPr>
          <a:lstStyle/>
          <a:p>
            <a:pPr algn="r">
              <a:spcAft>
                <a:spcPts val="0"/>
              </a:spcAft>
            </a:pPr>
            <a:r>
              <a:rPr sz="1000" b="0" i="0">
                <a:solidFill>
                  <a:srgbClr val="8A8984"/>
                </a:solidFill>
                <a:latin typeface="Calibri"/>
              </a:rPr>
              <a:t>23 / 27</a:t>
            </a:r>
          </a:p>
        </p:txBody>
      </p:sp>
      <p:sp>
        <p:nvSpPr>
          <p:cNvPr id="9" name="Rectangle 8"/>
          <p:cNvSpPr/>
          <p:nvPr/>
        </p:nvSpPr>
        <p:spPr>
          <a:xfrm>
            <a:off x="548640" y="1737360"/>
            <a:ext cx="1737360" cy="141732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828800"/>
            <a:ext cx="1463039" cy="274320"/>
          </a:xfrm>
          <a:prstGeom prst="rect">
            <a:avLst/>
          </a:prstGeom>
          <a:noFill/>
        </p:spPr>
        <p:txBody>
          <a:bodyPr wrap="square" lIns="0" rIns="0" tIns="0" bIns="0" anchor="t">
            <a:spAutoFit/>
          </a:bodyPr>
          <a:lstStyle/>
          <a:p>
            <a:pPr algn="l">
              <a:spcAft>
                <a:spcPts val="0"/>
              </a:spcAft>
            </a:pPr>
            <a:r>
              <a:rPr sz="1500" b="1" i="0">
                <a:solidFill>
                  <a:srgbClr val="0E2A47"/>
                </a:solidFill>
                <a:latin typeface="Calibri"/>
              </a:rPr>
              <a:t>Input</a:t>
            </a:r>
          </a:p>
        </p:txBody>
      </p:sp>
      <p:sp>
        <p:nvSpPr>
          <p:cNvPr id="11" name="TextBox 10"/>
          <p:cNvSpPr txBox="1"/>
          <p:nvPr/>
        </p:nvSpPr>
        <p:spPr>
          <a:xfrm>
            <a:off x="685800" y="2176272"/>
            <a:ext cx="1463039" cy="960120"/>
          </a:xfrm>
          <a:prstGeom prst="rect">
            <a:avLst/>
          </a:prstGeom>
          <a:noFill/>
        </p:spPr>
        <p:txBody>
          <a:bodyPr wrap="square" lIns="0" rIns="0" tIns="0" bIns="0" anchor="t">
            <a:spAutoFit/>
          </a:bodyPr>
          <a:lstStyle/>
          <a:p>
            <a:pPr algn="l">
              <a:spcAft>
                <a:spcPts val="0"/>
              </a:spcAft>
            </a:pPr>
            <a:r>
              <a:rPr sz="1250" b="0" i="0">
                <a:solidFill>
                  <a:srgbClr val="14171C"/>
                </a:solidFill>
                <a:latin typeface="Calibri"/>
              </a:rPr>
              <a:t>Four cell-type values for one gene</a:t>
            </a:r>
          </a:p>
        </p:txBody>
      </p:sp>
      <p:sp>
        <p:nvSpPr>
          <p:cNvPr id="12" name="Rectangle 11"/>
          <p:cNvSpPr/>
          <p:nvPr/>
        </p:nvSpPr>
        <p:spPr>
          <a:xfrm>
            <a:off x="2697480" y="1737360"/>
            <a:ext cx="2377440" cy="141732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834640" y="1828800"/>
            <a:ext cx="2103120" cy="274320"/>
          </a:xfrm>
          <a:prstGeom prst="rect">
            <a:avLst/>
          </a:prstGeom>
          <a:noFill/>
        </p:spPr>
        <p:txBody>
          <a:bodyPr wrap="square" lIns="0" rIns="0" tIns="0" bIns="0" anchor="t">
            <a:spAutoFit/>
          </a:bodyPr>
          <a:lstStyle/>
          <a:p>
            <a:pPr algn="l">
              <a:spcAft>
                <a:spcPts val="0"/>
              </a:spcAft>
            </a:pPr>
            <a:r>
              <a:rPr sz="1500" b="1" i="0">
                <a:solidFill>
                  <a:srgbClr val="0E2A47"/>
                </a:solidFill>
                <a:latin typeface="Calibri"/>
              </a:rPr>
              <a:t>Encoder</a:t>
            </a:r>
          </a:p>
        </p:txBody>
      </p:sp>
      <p:sp>
        <p:nvSpPr>
          <p:cNvPr id="14" name="TextBox 13"/>
          <p:cNvSpPr txBox="1"/>
          <p:nvPr/>
        </p:nvSpPr>
        <p:spPr>
          <a:xfrm>
            <a:off x="2834640" y="2176272"/>
            <a:ext cx="2103120" cy="960120"/>
          </a:xfrm>
          <a:prstGeom prst="rect">
            <a:avLst/>
          </a:prstGeom>
          <a:noFill/>
        </p:spPr>
        <p:txBody>
          <a:bodyPr wrap="square" lIns="0" rIns="0" tIns="0" bIns="0" anchor="t">
            <a:spAutoFit/>
          </a:bodyPr>
          <a:lstStyle/>
          <a:p>
            <a:pPr algn="l">
              <a:spcAft>
                <a:spcPts val="0"/>
              </a:spcAft>
            </a:pPr>
            <a:r>
              <a:rPr sz="1250" b="0" i="0">
                <a:solidFill>
                  <a:srgbClr val="14171C"/>
                </a:solidFill>
                <a:latin typeface="Calibri"/>
              </a:rPr>
              <a:t>Linear, BatchNorm, ReLU; dropout every second layer</a:t>
            </a:r>
          </a:p>
        </p:txBody>
      </p:sp>
      <p:sp>
        <p:nvSpPr>
          <p:cNvPr id="15" name="Rectangle 14"/>
          <p:cNvSpPr/>
          <p:nvPr/>
        </p:nvSpPr>
        <p:spPr>
          <a:xfrm>
            <a:off x="5440680" y="1737360"/>
            <a:ext cx="1920240" cy="1417320"/>
          </a:xfrm>
          <a:prstGeom prst="rect">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577840" y="1828800"/>
            <a:ext cx="1645920" cy="274320"/>
          </a:xfrm>
          <a:prstGeom prst="rect">
            <a:avLst/>
          </a:prstGeom>
          <a:noFill/>
        </p:spPr>
        <p:txBody>
          <a:bodyPr wrap="square" lIns="0" rIns="0" tIns="0" bIns="0" anchor="t">
            <a:spAutoFit/>
          </a:bodyPr>
          <a:lstStyle/>
          <a:p>
            <a:pPr algn="l">
              <a:spcAft>
                <a:spcPts val="0"/>
              </a:spcAft>
            </a:pPr>
            <a:r>
              <a:rPr sz="1500" b="1" i="0">
                <a:solidFill>
                  <a:srgbClr val="FFFFFF"/>
                </a:solidFill>
                <a:latin typeface="Calibri"/>
              </a:rPr>
              <a:t>Latent</a:t>
            </a:r>
          </a:p>
        </p:txBody>
      </p:sp>
      <p:sp>
        <p:nvSpPr>
          <p:cNvPr id="17" name="TextBox 16"/>
          <p:cNvSpPr txBox="1"/>
          <p:nvPr/>
        </p:nvSpPr>
        <p:spPr>
          <a:xfrm>
            <a:off x="5577840" y="2176272"/>
            <a:ext cx="1645920" cy="960120"/>
          </a:xfrm>
          <a:prstGeom prst="rect">
            <a:avLst/>
          </a:prstGeom>
          <a:noFill/>
        </p:spPr>
        <p:txBody>
          <a:bodyPr wrap="square" lIns="0" rIns="0" tIns="0" bIns="0" anchor="t">
            <a:spAutoFit/>
          </a:bodyPr>
          <a:lstStyle/>
          <a:p>
            <a:pPr algn="l">
              <a:spcAft>
                <a:spcPts val="0"/>
              </a:spcAft>
            </a:pPr>
            <a:r>
              <a:rPr sz="1250" b="0" i="0">
                <a:solidFill>
                  <a:srgbClr val="D5DEEA"/>
                </a:solidFill>
                <a:latin typeface="Calibri"/>
              </a:rPr>
              <a:t>Mean and log-variance, one dimension; z sampled by reparameterisation</a:t>
            </a:r>
          </a:p>
        </p:txBody>
      </p:sp>
      <p:sp>
        <p:nvSpPr>
          <p:cNvPr id="18" name="Rectangle 17"/>
          <p:cNvSpPr/>
          <p:nvPr/>
        </p:nvSpPr>
        <p:spPr>
          <a:xfrm>
            <a:off x="7726679" y="1737360"/>
            <a:ext cx="2103120" cy="141732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863840" y="1828800"/>
            <a:ext cx="1828799" cy="274320"/>
          </a:xfrm>
          <a:prstGeom prst="rect">
            <a:avLst/>
          </a:prstGeom>
          <a:noFill/>
        </p:spPr>
        <p:txBody>
          <a:bodyPr wrap="square" lIns="0" rIns="0" tIns="0" bIns="0" anchor="t">
            <a:spAutoFit/>
          </a:bodyPr>
          <a:lstStyle/>
          <a:p>
            <a:pPr algn="l">
              <a:spcAft>
                <a:spcPts val="0"/>
              </a:spcAft>
            </a:pPr>
            <a:r>
              <a:rPr sz="1500" b="1" i="0">
                <a:solidFill>
                  <a:srgbClr val="0E2A47"/>
                </a:solidFill>
                <a:latin typeface="Calibri"/>
              </a:rPr>
              <a:t>Decoder</a:t>
            </a:r>
          </a:p>
        </p:txBody>
      </p:sp>
      <p:sp>
        <p:nvSpPr>
          <p:cNvPr id="20" name="TextBox 19"/>
          <p:cNvSpPr txBox="1"/>
          <p:nvPr/>
        </p:nvSpPr>
        <p:spPr>
          <a:xfrm>
            <a:off x="7863840" y="2176272"/>
            <a:ext cx="1828799" cy="960120"/>
          </a:xfrm>
          <a:prstGeom prst="rect">
            <a:avLst/>
          </a:prstGeom>
          <a:noFill/>
        </p:spPr>
        <p:txBody>
          <a:bodyPr wrap="square" lIns="0" rIns="0" tIns="0" bIns="0" anchor="t">
            <a:spAutoFit/>
          </a:bodyPr>
          <a:lstStyle/>
          <a:p>
            <a:pPr algn="l">
              <a:spcAft>
                <a:spcPts val="0"/>
              </a:spcAft>
            </a:pPr>
            <a:r>
              <a:rPr sz="1250" b="0" i="0">
                <a:solidFill>
                  <a:srgbClr val="14171C"/>
                </a:solidFill>
                <a:latin typeface="Calibri"/>
              </a:rPr>
              <a:t>Mirrored layers with a linear output</a:t>
            </a:r>
          </a:p>
        </p:txBody>
      </p:sp>
      <p:sp>
        <p:nvSpPr>
          <p:cNvPr id="21" name="Rectangle 20"/>
          <p:cNvSpPr/>
          <p:nvPr/>
        </p:nvSpPr>
        <p:spPr>
          <a:xfrm>
            <a:off x="10195560" y="1737360"/>
            <a:ext cx="1444752" cy="141732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332720" y="1828800"/>
            <a:ext cx="1170432" cy="274320"/>
          </a:xfrm>
          <a:prstGeom prst="rect">
            <a:avLst/>
          </a:prstGeom>
          <a:noFill/>
        </p:spPr>
        <p:txBody>
          <a:bodyPr wrap="square" lIns="0" rIns="0" tIns="0" bIns="0" anchor="t">
            <a:spAutoFit/>
          </a:bodyPr>
          <a:lstStyle/>
          <a:p>
            <a:pPr algn="l">
              <a:spcAft>
                <a:spcPts val="0"/>
              </a:spcAft>
            </a:pPr>
            <a:r>
              <a:rPr sz="1500" b="1" i="0">
                <a:solidFill>
                  <a:srgbClr val="0E2A47"/>
                </a:solidFill>
                <a:latin typeface="Calibri"/>
              </a:rPr>
              <a:t>Output</a:t>
            </a:r>
          </a:p>
        </p:txBody>
      </p:sp>
      <p:sp>
        <p:nvSpPr>
          <p:cNvPr id="23" name="TextBox 22"/>
          <p:cNvSpPr txBox="1"/>
          <p:nvPr/>
        </p:nvSpPr>
        <p:spPr>
          <a:xfrm>
            <a:off x="10332720" y="2176272"/>
            <a:ext cx="1170432" cy="960120"/>
          </a:xfrm>
          <a:prstGeom prst="rect">
            <a:avLst/>
          </a:prstGeom>
          <a:noFill/>
        </p:spPr>
        <p:txBody>
          <a:bodyPr wrap="square" lIns="0" rIns="0" tIns="0" bIns="0" anchor="t">
            <a:spAutoFit/>
          </a:bodyPr>
          <a:lstStyle/>
          <a:p>
            <a:pPr algn="l">
              <a:spcAft>
                <a:spcPts val="0"/>
              </a:spcAft>
            </a:pPr>
            <a:r>
              <a:rPr sz="1250" b="0" i="0">
                <a:solidFill>
                  <a:srgbClr val="14171C"/>
                </a:solidFill>
                <a:latin typeface="Calibri"/>
              </a:rPr>
              <a:t>Four reconstructed values</a:t>
            </a:r>
          </a:p>
        </p:txBody>
      </p:sp>
      <p:cxnSp>
        <p:nvCxnSpPr>
          <p:cNvPr id="24" name="Connector 23"/>
          <p:cNvCxnSpPr/>
          <p:nvPr/>
        </p:nvCxnSpPr>
        <p:spPr>
          <a:xfrm>
            <a:off x="2304288" y="2441448"/>
            <a:ext cx="374904" cy="0"/>
          </a:xfrm>
          <a:prstGeom prst="line">
            <a:avLst/>
          </a:prstGeom>
          <a:ln w="22225">
            <a:solidFill>
              <a:srgbClr val="52514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5093207" y="2441448"/>
            <a:ext cx="329185" cy="0"/>
          </a:xfrm>
          <a:prstGeom prst="line">
            <a:avLst/>
          </a:prstGeom>
          <a:ln w="22225">
            <a:solidFill>
              <a:srgbClr val="52514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7379208" y="2441448"/>
            <a:ext cx="329184" cy="0"/>
          </a:xfrm>
          <a:prstGeom prst="line">
            <a:avLst/>
          </a:prstGeom>
          <a:ln w="22225">
            <a:solidFill>
              <a:srgbClr val="52514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9848088" y="2441448"/>
            <a:ext cx="329184" cy="0"/>
          </a:xfrm>
          <a:prstGeom prst="line">
            <a:avLst/>
          </a:prstGeom>
          <a:ln w="22225">
            <a:solidFill>
              <a:srgbClr val="52514E"/>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ectangle 27"/>
          <p:cNvSpPr/>
          <p:nvPr/>
        </p:nvSpPr>
        <p:spPr>
          <a:xfrm>
            <a:off x="548640" y="3429000"/>
            <a:ext cx="3557016" cy="246888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48640" y="3429000"/>
            <a:ext cx="3557016" cy="64008"/>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77240" y="3611880"/>
            <a:ext cx="3108960" cy="320040"/>
          </a:xfrm>
          <a:prstGeom prst="rect">
            <a:avLst/>
          </a:prstGeom>
          <a:noFill/>
        </p:spPr>
        <p:txBody>
          <a:bodyPr wrap="square" lIns="0" rIns="0" tIns="0" bIns="0" anchor="t">
            <a:spAutoFit/>
          </a:bodyPr>
          <a:lstStyle/>
          <a:p>
            <a:pPr algn="l">
              <a:spcAft>
                <a:spcPts val="0"/>
              </a:spcAft>
            </a:pPr>
            <a:r>
              <a:rPr sz="1600" b="1" i="0">
                <a:solidFill>
                  <a:srgbClr val="0E2A47"/>
                </a:solidFill>
                <a:latin typeface="Calibri"/>
              </a:rPr>
              <a:t>Loss</a:t>
            </a:r>
          </a:p>
        </p:txBody>
      </p:sp>
      <p:sp>
        <p:nvSpPr>
          <p:cNvPr id="31" name="TextBox 30"/>
          <p:cNvSpPr txBox="1"/>
          <p:nvPr/>
        </p:nvSpPr>
        <p:spPr>
          <a:xfrm>
            <a:off x="777240" y="4023360"/>
            <a:ext cx="3108960" cy="1828800"/>
          </a:xfrm>
          <a:prstGeom prst="rect">
            <a:avLst/>
          </a:prstGeom>
          <a:noFill/>
        </p:spPr>
        <p:txBody>
          <a:bodyPr wrap="square" lIns="0" rIns="0" tIns="0" bIns="0" anchor="t">
            <a:spAutoFit/>
          </a:bodyPr>
          <a:lstStyle/>
          <a:p>
            <a:pPr algn="l">
              <a:spcAft>
                <a:spcPts val="0"/>
              </a:spcAft>
            </a:pPr>
            <a:r>
              <a:rPr sz="1300" b="0" i="0">
                <a:solidFill>
                  <a:srgbClr val="14171C"/>
                </a:solidFill>
                <a:latin typeface="Calibri"/>
              </a:rPr>
              <a:t>VAE script: MSE reconstruction plus a KL term against a prior taken from the batch distribution. Latest step (31 Jul 2024): an autoencoder variant that returns the latent value and adds an MSE term against the pseudo-bulk signal.</a:t>
            </a:r>
          </a:p>
        </p:txBody>
      </p:sp>
      <p:sp>
        <p:nvSpPr>
          <p:cNvPr id="32" name="Rectangle 31"/>
          <p:cNvSpPr/>
          <p:nvPr/>
        </p:nvSpPr>
        <p:spPr>
          <a:xfrm>
            <a:off x="4315968" y="3429000"/>
            <a:ext cx="3557016" cy="246888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4315968" y="3429000"/>
            <a:ext cx="3557016" cy="64008"/>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544568" y="3611880"/>
            <a:ext cx="3108960" cy="320040"/>
          </a:xfrm>
          <a:prstGeom prst="rect">
            <a:avLst/>
          </a:prstGeom>
          <a:noFill/>
        </p:spPr>
        <p:txBody>
          <a:bodyPr wrap="square" lIns="0" rIns="0" tIns="0" bIns="0" anchor="t">
            <a:spAutoFit/>
          </a:bodyPr>
          <a:lstStyle/>
          <a:p>
            <a:pPr algn="l">
              <a:spcAft>
                <a:spcPts val="0"/>
              </a:spcAft>
            </a:pPr>
            <a:r>
              <a:rPr sz="1600" b="1" i="0">
                <a:solidFill>
                  <a:srgbClr val="0E2A47"/>
                </a:solidFill>
                <a:latin typeface="Calibri"/>
              </a:rPr>
              <a:t>Data layout</a:t>
            </a:r>
          </a:p>
        </p:txBody>
      </p:sp>
      <p:sp>
        <p:nvSpPr>
          <p:cNvPr id="35" name="TextBox 34"/>
          <p:cNvSpPr txBox="1"/>
          <p:nvPr/>
        </p:nvSpPr>
        <p:spPr>
          <a:xfrm>
            <a:off x="4544568" y="4023360"/>
            <a:ext cx="3108960" cy="1828800"/>
          </a:xfrm>
          <a:prstGeom prst="rect">
            <a:avLst/>
          </a:prstGeom>
          <a:noFill/>
        </p:spPr>
        <p:txBody>
          <a:bodyPr wrap="square" lIns="0" rIns="0" tIns="0" bIns="0" anchor="t">
            <a:spAutoFit/>
          </a:bodyPr>
          <a:lstStyle/>
          <a:p>
            <a:pPr algn="l">
              <a:spcAft>
                <a:spcPts val="0"/>
              </a:spcAft>
            </a:pPr>
            <a:r>
              <a:rPr sz="1300" b="0" i="0">
                <a:solidFill>
                  <a:srgbClr val="14171C"/>
                </a:solidFill>
                <a:latin typeface="Calibri"/>
              </a:rPr>
              <a:t>One batch is one gene across all 24 samples. Min-max scaling, gradient clipping and batch normalisation are switches in params.yaml, so each run can be reproduced.</a:t>
            </a:r>
          </a:p>
        </p:txBody>
      </p:sp>
      <p:sp>
        <p:nvSpPr>
          <p:cNvPr id="36" name="Rectangle 35"/>
          <p:cNvSpPr/>
          <p:nvPr/>
        </p:nvSpPr>
        <p:spPr>
          <a:xfrm>
            <a:off x="8083296" y="3429000"/>
            <a:ext cx="3557016" cy="246888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8083296" y="3429000"/>
            <a:ext cx="3557016" cy="64008"/>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311896" y="3611880"/>
            <a:ext cx="3108960" cy="320040"/>
          </a:xfrm>
          <a:prstGeom prst="rect">
            <a:avLst/>
          </a:prstGeom>
          <a:noFill/>
        </p:spPr>
        <p:txBody>
          <a:bodyPr wrap="square" lIns="0" rIns="0" tIns="0" bIns="0" anchor="t">
            <a:spAutoFit/>
          </a:bodyPr>
          <a:lstStyle/>
          <a:p>
            <a:pPr algn="l">
              <a:spcAft>
                <a:spcPts val="0"/>
              </a:spcAft>
            </a:pPr>
            <a:r>
              <a:rPr sz="1600" b="1" i="0">
                <a:solidFill>
                  <a:srgbClr val="0E2A47"/>
                </a:solidFill>
                <a:latin typeface="Calibri"/>
              </a:rPr>
              <a:t>Tuning</a:t>
            </a:r>
          </a:p>
        </p:txBody>
      </p:sp>
      <p:sp>
        <p:nvSpPr>
          <p:cNvPr id="39" name="TextBox 38"/>
          <p:cNvSpPr txBox="1"/>
          <p:nvPr/>
        </p:nvSpPr>
        <p:spPr>
          <a:xfrm>
            <a:off x="8311896" y="4023360"/>
            <a:ext cx="3108960" cy="1828800"/>
          </a:xfrm>
          <a:prstGeom prst="rect">
            <a:avLst/>
          </a:prstGeom>
          <a:noFill/>
        </p:spPr>
        <p:txBody>
          <a:bodyPr wrap="square" lIns="0" rIns="0" tIns="0" bIns="0" anchor="t">
            <a:spAutoFit/>
          </a:bodyPr>
          <a:lstStyle/>
          <a:p>
            <a:pPr algn="l">
              <a:spcAft>
                <a:spcPts val="0"/>
              </a:spcAft>
            </a:pPr>
            <a:r>
              <a:rPr sz="1300" b="0" i="0">
                <a:solidFill>
                  <a:srgbClr val="14171C"/>
                </a:solidFill>
                <a:latin typeface="Calibri"/>
              </a:rPr>
              <a:t>Optuna, 10 trials: five hidden-layer layouts, dropout 0 to 0.1, learning rate 1e-4 to 0.1, weight decay 1e-5 to 0.1, gradient-clip norm 0.1 to 5. AdamW, with Hugging Face Accelerate for device handling.</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48640" y="347472"/>
            <a:ext cx="8229600" cy="274320"/>
          </a:xfrm>
          <a:prstGeom prst="rect">
            <a:avLst/>
          </a:prstGeom>
          <a:noFill/>
        </p:spPr>
        <p:txBody>
          <a:bodyPr wrap="square" lIns="0" rIns="0" tIns="0" bIns="0" anchor="t">
            <a:spAutoFit/>
          </a:bodyPr>
          <a:lstStyle/>
          <a:p>
            <a:pPr algn="l">
              <a:spcAft>
                <a:spcPts val="0"/>
              </a:spcAft>
            </a:pPr>
            <a:r>
              <a:rPr sz="1200" b="1" i="0">
                <a:solidFill>
                  <a:srgbClr val="1F5FAE"/>
                </a:solidFill>
                <a:latin typeface="Calibri"/>
              </a:rPr>
              <a:t>DECONVOLUTION PROJECT  ·  REPRODUCIBILITY</a:t>
            </a:r>
          </a:p>
        </p:txBody>
      </p:sp>
      <p:sp>
        <p:nvSpPr>
          <p:cNvPr id="3" name="TextBox 2"/>
          <p:cNvSpPr txBox="1"/>
          <p:nvPr/>
        </p:nvSpPr>
        <p:spPr>
          <a:xfrm>
            <a:off x="548640" y="621792"/>
            <a:ext cx="11091672" cy="914400"/>
          </a:xfrm>
          <a:prstGeom prst="rect">
            <a:avLst/>
          </a:prstGeom>
          <a:noFill/>
        </p:spPr>
        <p:txBody>
          <a:bodyPr wrap="square" lIns="0" rIns="0" tIns="0" bIns="0" anchor="t">
            <a:spAutoFit/>
          </a:bodyPr>
          <a:lstStyle/>
          <a:p>
            <a:pPr algn="l">
              <a:lnSpc>
                <a:spcPct val="95000"/>
              </a:lnSpc>
              <a:spcAft>
                <a:spcPts val="0"/>
              </a:spcAft>
            </a:pPr>
            <a:r>
              <a:rPr sz="2600" b="1" i="0">
                <a:solidFill>
                  <a:srgbClr val="0E2A47"/>
                </a:solidFill>
                <a:latin typeface="Calibri"/>
              </a:rPr>
              <a:t>Every experiment is parameterised, versioned and tracked</a:t>
            </a:r>
          </a:p>
        </p:txBody>
      </p:sp>
      <p:sp>
        <p:nvSpPr>
          <p:cNvPr id="4" name="Rectangle 3"/>
          <p:cNvSpPr/>
          <p:nvPr/>
        </p:nvSpPr>
        <p:spPr>
          <a:xfrm>
            <a:off x="548640" y="6108192"/>
            <a:ext cx="11091672" cy="329184"/>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6108192"/>
            <a:ext cx="64008" cy="329184"/>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108192"/>
            <a:ext cx="10817352" cy="329184"/>
          </a:xfrm>
          <a:prstGeom prst="rect">
            <a:avLst/>
          </a:prstGeom>
          <a:noFill/>
        </p:spPr>
        <p:txBody>
          <a:bodyPr wrap="square" lIns="0" rIns="0" tIns="0" bIns="0" anchor="ctr">
            <a:spAutoFit/>
          </a:bodyPr>
          <a:lstStyle/>
          <a:p>
            <a:pPr algn="l">
              <a:spcAft>
                <a:spcPts val="0"/>
              </a:spcAft>
            </a:pPr>
            <a:r>
              <a:rPr sz="1100" b="1" i="0">
                <a:solidFill>
                  <a:srgbClr val="1F5FAE"/>
                </a:solidFill>
                <a:latin typeface="Calibri"/>
              </a:rPr>
              <a:t>ROLE LINK   </a:t>
            </a:r>
            <a:r>
              <a:rPr sz="1300" b="0" i="0">
                <a:solidFill>
                  <a:srgbClr val="52514E"/>
                </a:solidFill>
                <a:latin typeface="Calibri"/>
              </a:rPr>
              <a:t>Reproducible, scalable, production-ready analytical methods</a:t>
            </a:r>
          </a:p>
        </p:txBody>
      </p:sp>
      <p:sp>
        <p:nvSpPr>
          <p:cNvPr id="7" name="TextBox 6"/>
          <p:cNvSpPr txBox="1"/>
          <p:nvPr/>
        </p:nvSpPr>
        <p:spPr>
          <a:xfrm>
            <a:off x="548640" y="6510528"/>
            <a:ext cx="6400800" cy="228600"/>
          </a:xfrm>
          <a:prstGeom prst="rect">
            <a:avLst/>
          </a:prstGeom>
          <a:noFill/>
        </p:spPr>
        <p:txBody>
          <a:bodyPr wrap="square" lIns="0" rIns="0" tIns="0" bIns="0" anchor="t">
            <a:spAutoFit/>
          </a:bodyPr>
          <a:lstStyle/>
          <a:p>
            <a:pPr algn="l">
              <a:spcAft>
                <a:spcPts val="0"/>
              </a:spcAft>
            </a:pPr>
            <a:r>
              <a:rPr sz="1000" b="0" i="0">
                <a:solidFill>
                  <a:srgbClr val="8A8984"/>
                </a:solidFill>
                <a:latin typeface="Calibri"/>
              </a:rPr>
              <a:t>Kunal Tembhare  ·  Computational biology and multi-omics ML</a:t>
            </a:r>
          </a:p>
        </p:txBody>
      </p:sp>
      <p:sp>
        <p:nvSpPr>
          <p:cNvPr id="8" name="TextBox 7"/>
          <p:cNvSpPr txBox="1"/>
          <p:nvPr/>
        </p:nvSpPr>
        <p:spPr>
          <a:xfrm>
            <a:off x="10268712" y="6510528"/>
            <a:ext cx="1371600" cy="228600"/>
          </a:xfrm>
          <a:prstGeom prst="rect">
            <a:avLst/>
          </a:prstGeom>
          <a:noFill/>
        </p:spPr>
        <p:txBody>
          <a:bodyPr wrap="square" lIns="0" rIns="0" tIns="0" bIns="0" anchor="t">
            <a:spAutoFit/>
          </a:bodyPr>
          <a:lstStyle/>
          <a:p>
            <a:pPr algn="r">
              <a:spcAft>
                <a:spcPts val="0"/>
              </a:spcAft>
            </a:pPr>
            <a:r>
              <a:rPr sz="1000" b="0" i="0">
                <a:solidFill>
                  <a:srgbClr val="8A8984"/>
                </a:solidFill>
                <a:latin typeface="Calibri"/>
              </a:rPr>
              <a:t>24 / 27</a:t>
            </a:r>
          </a:p>
        </p:txBody>
      </p:sp>
      <p:sp>
        <p:nvSpPr>
          <p:cNvPr id="9" name="Rectangle 8"/>
          <p:cNvSpPr/>
          <p:nvPr/>
        </p:nvSpPr>
        <p:spPr>
          <a:xfrm>
            <a:off x="548640" y="1783080"/>
            <a:ext cx="2468880" cy="182880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783080"/>
            <a:ext cx="2468880" cy="64008"/>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2011680"/>
            <a:ext cx="2194560" cy="320040"/>
          </a:xfrm>
          <a:prstGeom prst="rect">
            <a:avLst/>
          </a:prstGeom>
          <a:noFill/>
        </p:spPr>
        <p:txBody>
          <a:bodyPr wrap="square" lIns="0" rIns="0" tIns="0" bIns="0" anchor="t">
            <a:spAutoFit/>
          </a:bodyPr>
          <a:lstStyle/>
          <a:p>
            <a:pPr algn="l">
              <a:spcAft>
                <a:spcPts val="0"/>
              </a:spcAft>
            </a:pPr>
            <a:r>
              <a:rPr sz="1600" b="1" i="0">
                <a:solidFill>
                  <a:srgbClr val="0E2A47"/>
                </a:solidFill>
                <a:latin typeface="Calibri"/>
              </a:rPr>
              <a:t>DVC</a:t>
            </a:r>
          </a:p>
        </p:txBody>
      </p:sp>
      <p:sp>
        <p:nvSpPr>
          <p:cNvPr id="12" name="TextBox 11"/>
          <p:cNvSpPr txBox="1"/>
          <p:nvPr/>
        </p:nvSpPr>
        <p:spPr>
          <a:xfrm>
            <a:off x="685800" y="2423160"/>
            <a:ext cx="2194560" cy="1188720"/>
          </a:xfrm>
          <a:prstGeom prst="rect">
            <a:avLst/>
          </a:prstGeom>
          <a:noFill/>
        </p:spPr>
        <p:txBody>
          <a:bodyPr wrap="square" lIns="0" rIns="0" tIns="0" bIns="0" anchor="t">
            <a:spAutoFit/>
          </a:bodyPr>
          <a:lstStyle/>
          <a:p>
            <a:pPr algn="l">
              <a:spcAft>
                <a:spcPts val="0"/>
              </a:spcAft>
            </a:pPr>
            <a:r>
              <a:rPr sz="1300" b="0" i="0">
                <a:solidFill>
                  <a:srgbClr val="14171C"/>
                </a:solidFill>
                <a:latin typeface="Calibri"/>
              </a:rPr>
              <a:t>Data and models versioned: 27 GB in 125 files, with a remote store and two pipeline stages.</a:t>
            </a:r>
          </a:p>
        </p:txBody>
      </p:sp>
      <p:cxnSp>
        <p:nvCxnSpPr>
          <p:cNvPr id="13" name="Connector 12"/>
          <p:cNvCxnSpPr/>
          <p:nvPr/>
        </p:nvCxnSpPr>
        <p:spPr>
          <a:xfrm>
            <a:off x="3054096" y="2697480"/>
            <a:ext cx="329184" cy="0"/>
          </a:xfrm>
          <a:prstGeom prst="line">
            <a:avLst/>
          </a:prstGeom>
          <a:ln w="22225">
            <a:solidFill>
              <a:srgbClr val="8A898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ectangle 13"/>
          <p:cNvSpPr/>
          <p:nvPr/>
        </p:nvSpPr>
        <p:spPr>
          <a:xfrm>
            <a:off x="3419856" y="1783080"/>
            <a:ext cx="2468880" cy="182880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419856" y="1783080"/>
            <a:ext cx="2468880" cy="64008"/>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57016" y="2011680"/>
            <a:ext cx="2194560" cy="320040"/>
          </a:xfrm>
          <a:prstGeom prst="rect">
            <a:avLst/>
          </a:prstGeom>
          <a:noFill/>
        </p:spPr>
        <p:txBody>
          <a:bodyPr wrap="square" lIns="0" rIns="0" tIns="0" bIns="0" anchor="t">
            <a:spAutoFit/>
          </a:bodyPr>
          <a:lstStyle/>
          <a:p>
            <a:pPr algn="l">
              <a:spcAft>
                <a:spcPts val="0"/>
              </a:spcAft>
            </a:pPr>
            <a:r>
              <a:rPr sz="1600" b="1" i="0">
                <a:solidFill>
                  <a:srgbClr val="0E2A47"/>
                </a:solidFill>
                <a:latin typeface="Calibri"/>
              </a:rPr>
              <a:t>params.yaml</a:t>
            </a:r>
          </a:p>
        </p:txBody>
      </p:sp>
      <p:sp>
        <p:nvSpPr>
          <p:cNvPr id="17" name="TextBox 16"/>
          <p:cNvSpPr txBox="1"/>
          <p:nvPr/>
        </p:nvSpPr>
        <p:spPr>
          <a:xfrm>
            <a:off x="3557016" y="2423160"/>
            <a:ext cx="2194560" cy="1188720"/>
          </a:xfrm>
          <a:prstGeom prst="rect">
            <a:avLst/>
          </a:prstGeom>
          <a:noFill/>
        </p:spPr>
        <p:txBody>
          <a:bodyPr wrap="square" lIns="0" rIns="0" tIns="0" bIns="0" anchor="t">
            <a:spAutoFit/>
          </a:bodyPr>
          <a:lstStyle/>
          <a:p>
            <a:pPr algn="l">
              <a:spcAft>
                <a:spcPts val="0"/>
              </a:spcAft>
            </a:pPr>
            <a:r>
              <a:rPr sz="1300" b="0" i="0">
                <a:solidFill>
                  <a:srgbClr val="14171C"/>
                </a:solidFill>
                <a:latin typeface="Calibri"/>
              </a:rPr>
              <a:t>Hyperparameters and switches in one file: batch layout, scaling, clipping, search ranges.</a:t>
            </a:r>
          </a:p>
        </p:txBody>
      </p:sp>
      <p:cxnSp>
        <p:nvCxnSpPr>
          <p:cNvPr id="18" name="Connector 17"/>
          <p:cNvCxnSpPr/>
          <p:nvPr/>
        </p:nvCxnSpPr>
        <p:spPr>
          <a:xfrm>
            <a:off x="5925312" y="2697480"/>
            <a:ext cx="329184" cy="0"/>
          </a:xfrm>
          <a:prstGeom prst="line">
            <a:avLst/>
          </a:prstGeom>
          <a:ln w="22225">
            <a:solidFill>
              <a:srgbClr val="8A898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6291072" y="1783080"/>
            <a:ext cx="2468880" cy="182880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91072" y="1783080"/>
            <a:ext cx="2468880" cy="64008"/>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28232" y="2011680"/>
            <a:ext cx="2194560" cy="320040"/>
          </a:xfrm>
          <a:prstGeom prst="rect">
            <a:avLst/>
          </a:prstGeom>
          <a:noFill/>
        </p:spPr>
        <p:txBody>
          <a:bodyPr wrap="square" lIns="0" rIns="0" tIns="0" bIns="0" anchor="t">
            <a:spAutoFit/>
          </a:bodyPr>
          <a:lstStyle/>
          <a:p>
            <a:pPr algn="l">
              <a:spcAft>
                <a:spcPts val="0"/>
              </a:spcAft>
            </a:pPr>
            <a:r>
              <a:rPr sz="1600" b="1" i="0">
                <a:solidFill>
                  <a:srgbClr val="0E2A47"/>
                </a:solidFill>
                <a:latin typeface="Calibri"/>
              </a:rPr>
              <a:t>Training</a:t>
            </a:r>
          </a:p>
        </p:txBody>
      </p:sp>
      <p:sp>
        <p:nvSpPr>
          <p:cNvPr id="22" name="TextBox 21"/>
          <p:cNvSpPr txBox="1"/>
          <p:nvPr/>
        </p:nvSpPr>
        <p:spPr>
          <a:xfrm>
            <a:off x="6428232" y="2423160"/>
            <a:ext cx="2194560" cy="1188720"/>
          </a:xfrm>
          <a:prstGeom prst="rect">
            <a:avLst/>
          </a:prstGeom>
          <a:noFill/>
        </p:spPr>
        <p:txBody>
          <a:bodyPr wrap="square" lIns="0" rIns="0" tIns="0" bIns="0" anchor="t">
            <a:spAutoFit/>
          </a:bodyPr>
          <a:lstStyle/>
          <a:p>
            <a:pPr algn="l">
              <a:spcAft>
                <a:spcPts val="0"/>
              </a:spcAft>
            </a:pPr>
            <a:r>
              <a:rPr sz="1300" b="0" i="0">
                <a:solidFill>
                  <a:srgbClr val="14171C"/>
                </a:solidFill>
                <a:latin typeface="Calibri"/>
              </a:rPr>
              <a:t>PyTorch 2.3 with Optuna (10 trials) and Hugging Face Accelerate; JupyterLab sessions on a Slurm cluster.</a:t>
            </a:r>
          </a:p>
        </p:txBody>
      </p:sp>
      <p:cxnSp>
        <p:nvCxnSpPr>
          <p:cNvPr id="23" name="Connector 22"/>
          <p:cNvCxnSpPr/>
          <p:nvPr/>
        </p:nvCxnSpPr>
        <p:spPr>
          <a:xfrm>
            <a:off x="8796528" y="2697480"/>
            <a:ext cx="329184" cy="0"/>
          </a:xfrm>
          <a:prstGeom prst="line">
            <a:avLst/>
          </a:prstGeom>
          <a:ln w="22225">
            <a:solidFill>
              <a:srgbClr val="8A8984"/>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62288" y="1783080"/>
            <a:ext cx="2468880" cy="182880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162288" y="1783080"/>
            <a:ext cx="2468880" cy="64008"/>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299448" y="2011680"/>
            <a:ext cx="2194560" cy="320040"/>
          </a:xfrm>
          <a:prstGeom prst="rect">
            <a:avLst/>
          </a:prstGeom>
          <a:noFill/>
        </p:spPr>
        <p:txBody>
          <a:bodyPr wrap="square" lIns="0" rIns="0" tIns="0" bIns="0" anchor="t">
            <a:spAutoFit/>
          </a:bodyPr>
          <a:lstStyle/>
          <a:p>
            <a:pPr algn="l">
              <a:spcAft>
                <a:spcPts val="0"/>
              </a:spcAft>
            </a:pPr>
            <a:r>
              <a:rPr sz="1600" b="1" i="0">
                <a:solidFill>
                  <a:srgbClr val="0E2A47"/>
                </a:solidFill>
                <a:latin typeface="Calibri"/>
              </a:rPr>
              <a:t>MLflow</a:t>
            </a:r>
          </a:p>
        </p:txBody>
      </p:sp>
      <p:sp>
        <p:nvSpPr>
          <p:cNvPr id="27" name="TextBox 26"/>
          <p:cNvSpPr txBox="1"/>
          <p:nvPr/>
        </p:nvSpPr>
        <p:spPr>
          <a:xfrm>
            <a:off x="9299448" y="2423160"/>
            <a:ext cx="2194560" cy="1188720"/>
          </a:xfrm>
          <a:prstGeom prst="rect">
            <a:avLst/>
          </a:prstGeom>
          <a:noFill/>
        </p:spPr>
        <p:txBody>
          <a:bodyPr wrap="square" lIns="0" rIns="0" tIns="0" bIns="0" anchor="t">
            <a:spAutoFit/>
          </a:bodyPr>
          <a:lstStyle/>
          <a:p>
            <a:pPr algn="l">
              <a:spcAft>
                <a:spcPts val="0"/>
              </a:spcAft>
            </a:pPr>
            <a:r>
              <a:rPr sz="1300" b="0" i="0">
                <a:solidFill>
                  <a:srgbClr val="14171C"/>
                </a:solidFill>
                <a:latin typeface="Calibri"/>
              </a:rPr>
              <a:t>Parameters, final loss, the model and a loss figure are logged for every run.</a:t>
            </a:r>
          </a:p>
        </p:txBody>
      </p:sp>
      <p:sp>
        <p:nvSpPr>
          <p:cNvPr id="28" name="Rectangle 27"/>
          <p:cNvSpPr/>
          <p:nvPr/>
        </p:nvSpPr>
        <p:spPr>
          <a:xfrm>
            <a:off x="548640" y="3886200"/>
            <a:ext cx="3557016" cy="118872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48640" y="3886200"/>
            <a:ext cx="73152" cy="1188720"/>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22959" y="3886200"/>
            <a:ext cx="1417320" cy="1188720"/>
          </a:xfrm>
          <a:prstGeom prst="rect">
            <a:avLst/>
          </a:prstGeom>
          <a:noFill/>
        </p:spPr>
        <p:txBody>
          <a:bodyPr wrap="square" lIns="0" rIns="0" tIns="0" bIns="0" anchor="ctr">
            <a:spAutoFit/>
          </a:bodyPr>
          <a:lstStyle/>
          <a:p>
            <a:pPr algn="l">
              <a:spcAft>
                <a:spcPts val="0"/>
              </a:spcAft>
            </a:pPr>
            <a:r>
              <a:rPr sz="3000" b="1" i="0">
                <a:solidFill>
                  <a:srgbClr val="0E2A47"/>
                </a:solidFill>
                <a:latin typeface="Calibri"/>
              </a:rPr>
              <a:t>202</a:t>
            </a:r>
          </a:p>
        </p:txBody>
      </p:sp>
      <p:sp>
        <p:nvSpPr>
          <p:cNvPr id="31" name="TextBox 30"/>
          <p:cNvSpPr txBox="1"/>
          <p:nvPr/>
        </p:nvSpPr>
        <p:spPr>
          <a:xfrm>
            <a:off x="2286000" y="3886200"/>
            <a:ext cx="1691640" cy="1188720"/>
          </a:xfrm>
          <a:prstGeom prst="rect">
            <a:avLst/>
          </a:prstGeom>
          <a:noFill/>
        </p:spPr>
        <p:txBody>
          <a:bodyPr wrap="square" lIns="0" rIns="0" tIns="0" bIns="0" anchor="ctr">
            <a:spAutoFit/>
          </a:bodyPr>
          <a:lstStyle/>
          <a:p>
            <a:pPr algn="l">
              <a:spcAft>
                <a:spcPts val="0"/>
              </a:spcAft>
            </a:pPr>
            <a:r>
              <a:rPr sz="1250" b="0" i="0">
                <a:solidFill>
                  <a:srgbClr val="14171C"/>
                </a:solidFill>
                <a:latin typeface="Calibri"/>
              </a:rPr>
              <a:t>tracked training runs in 9 MLflow experiments</a:t>
            </a:r>
          </a:p>
        </p:txBody>
      </p:sp>
      <p:sp>
        <p:nvSpPr>
          <p:cNvPr id="32" name="Rectangle 31"/>
          <p:cNvSpPr/>
          <p:nvPr/>
        </p:nvSpPr>
        <p:spPr>
          <a:xfrm>
            <a:off x="4315968" y="3886200"/>
            <a:ext cx="3557016" cy="118872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4315968" y="3886200"/>
            <a:ext cx="73152" cy="1188720"/>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590288" y="3886200"/>
            <a:ext cx="1417320" cy="1188720"/>
          </a:xfrm>
          <a:prstGeom prst="rect">
            <a:avLst/>
          </a:prstGeom>
          <a:noFill/>
        </p:spPr>
        <p:txBody>
          <a:bodyPr wrap="square" lIns="0" rIns="0" tIns="0" bIns="0" anchor="ctr">
            <a:spAutoFit/>
          </a:bodyPr>
          <a:lstStyle/>
          <a:p>
            <a:pPr algn="l">
              <a:spcAft>
                <a:spcPts val="0"/>
              </a:spcAft>
            </a:pPr>
            <a:r>
              <a:rPr sz="3000" b="1" i="0">
                <a:solidFill>
                  <a:srgbClr val="0E2A47"/>
                </a:solidFill>
                <a:latin typeface="Calibri"/>
              </a:rPr>
              <a:t>27 GB</a:t>
            </a:r>
          </a:p>
        </p:txBody>
      </p:sp>
      <p:sp>
        <p:nvSpPr>
          <p:cNvPr id="35" name="TextBox 34"/>
          <p:cNvSpPr txBox="1"/>
          <p:nvPr/>
        </p:nvSpPr>
        <p:spPr>
          <a:xfrm>
            <a:off x="6053327" y="3886200"/>
            <a:ext cx="1691640" cy="1188720"/>
          </a:xfrm>
          <a:prstGeom prst="rect">
            <a:avLst/>
          </a:prstGeom>
          <a:noFill/>
        </p:spPr>
        <p:txBody>
          <a:bodyPr wrap="square" lIns="0" rIns="0" tIns="0" bIns="0" anchor="ctr">
            <a:spAutoFit/>
          </a:bodyPr>
          <a:lstStyle/>
          <a:p>
            <a:pPr algn="l">
              <a:spcAft>
                <a:spcPts val="0"/>
              </a:spcAft>
            </a:pPr>
            <a:r>
              <a:rPr sz="1250" b="0" i="0">
                <a:solidFill>
                  <a:srgbClr val="14171C"/>
                </a:solidFill>
                <a:latin typeface="Calibri"/>
              </a:rPr>
              <a:t>of data and models versioned with DVC</a:t>
            </a:r>
          </a:p>
        </p:txBody>
      </p:sp>
      <p:sp>
        <p:nvSpPr>
          <p:cNvPr id="36" name="Rectangle 35"/>
          <p:cNvSpPr/>
          <p:nvPr/>
        </p:nvSpPr>
        <p:spPr>
          <a:xfrm>
            <a:off x="8083296" y="3886200"/>
            <a:ext cx="3557016" cy="118872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8083296" y="3886200"/>
            <a:ext cx="73152" cy="1188720"/>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357616" y="3886200"/>
            <a:ext cx="1417320" cy="1188720"/>
          </a:xfrm>
          <a:prstGeom prst="rect">
            <a:avLst/>
          </a:prstGeom>
          <a:noFill/>
        </p:spPr>
        <p:txBody>
          <a:bodyPr wrap="square" lIns="0" rIns="0" tIns="0" bIns="0" anchor="ctr">
            <a:spAutoFit/>
          </a:bodyPr>
          <a:lstStyle/>
          <a:p>
            <a:pPr algn="l">
              <a:spcAft>
                <a:spcPts val="0"/>
              </a:spcAft>
            </a:pPr>
            <a:r>
              <a:rPr sz="3000" b="1" i="0">
                <a:solidFill>
                  <a:srgbClr val="0E2A47"/>
                </a:solidFill>
                <a:latin typeface="Calibri"/>
              </a:rPr>
              <a:t>37</a:t>
            </a:r>
          </a:p>
        </p:txBody>
      </p:sp>
      <p:sp>
        <p:nvSpPr>
          <p:cNvPr id="39" name="TextBox 38"/>
          <p:cNvSpPr txBox="1"/>
          <p:nvPr/>
        </p:nvSpPr>
        <p:spPr>
          <a:xfrm>
            <a:off x="9820656" y="3886200"/>
            <a:ext cx="1691640" cy="1188720"/>
          </a:xfrm>
          <a:prstGeom prst="rect">
            <a:avLst/>
          </a:prstGeom>
          <a:noFill/>
        </p:spPr>
        <p:txBody>
          <a:bodyPr wrap="square" lIns="0" rIns="0" tIns="0" bIns="0" anchor="ctr">
            <a:spAutoFit/>
          </a:bodyPr>
          <a:lstStyle/>
          <a:p>
            <a:pPr algn="l">
              <a:spcAft>
                <a:spcPts val="0"/>
              </a:spcAft>
            </a:pPr>
            <a:r>
              <a:rPr sz="1250" b="0" i="0">
                <a:solidFill>
                  <a:srgbClr val="14171C"/>
                </a:solidFill>
                <a:latin typeface="Calibri"/>
              </a:rPr>
              <a:t>commits by one author, March to July 2024</a:t>
            </a:r>
          </a:p>
        </p:txBody>
      </p:sp>
      <p:sp>
        <p:nvSpPr>
          <p:cNvPr id="40" name="TextBox 39"/>
          <p:cNvSpPr txBox="1"/>
          <p:nvPr/>
        </p:nvSpPr>
        <p:spPr>
          <a:xfrm>
            <a:off x="548640" y="5303520"/>
            <a:ext cx="11091672" cy="548640"/>
          </a:xfrm>
          <a:prstGeom prst="rect">
            <a:avLst/>
          </a:prstGeom>
          <a:noFill/>
        </p:spPr>
        <p:txBody>
          <a:bodyPr wrap="square" lIns="0" rIns="0" tIns="0" bIns="0" anchor="t">
            <a:spAutoFit/>
          </a:bodyPr>
          <a:lstStyle/>
          <a:p>
            <a:pPr algn="l">
              <a:spcAft>
                <a:spcPts val="0"/>
              </a:spcAft>
            </a:pPr>
            <a:r>
              <a:rPr sz="1300" b="0" i="0">
                <a:solidFill>
                  <a:srgbClr val="52514E"/>
                </a:solidFill>
                <a:latin typeface="Calibri"/>
              </a:rPr>
              <a:t>Also in the repository: Sphinx docs, Makefile and tox, and pinned requirements (torch 2.3.0, mlflow 2.11.2, optuna 3.6.1, dvc 3.49.0).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48640" y="347472"/>
            <a:ext cx="8229600" cy="274320"/>
          </a:xfrm>
          <a:prstGeom prst="rect">
            <a:avLst/>
          </a:prstGeom>
          <a:noFill/>
        </p:spPr>
        <p:txBody>
          <a:bodyPr wrap="square" lIns="0" rIns="0" tIns="0" bIns="0" anchor="t">
            <a:spAutoFit/>
          </a:bodyPr>
          <a:lstStyle/>
          <a:p>
            <a:pPr algn="l">
              <a:spcAft>
                <a:spcPts val="0"/>
              </a:spcAft>
            </a:pPr>
            <a:r>
              <a:rPr sz="1200" b="1" i="0">
                <a:solidFill>
                  <a:srgbClr val="1F5FAE"/>
                </a:solidFill>
                <a:latin typeface="Calibri"/>
              </a:rPr>
              <a:t>DECONVOLUTION PROJECT  ·  DEBUGGING TRAINING</a:t>
            </a:r>
          </a:p>
        </p:txBody>
      </p:sp>
      <p:sp>
        <p:nvSpPr>
          <p:cNvPr id="3" name="TextBox 2"/>
          <p:cNvSpPr txBox="1"/>
          <p:nvPr/>
        </p:nvSpPr>
        <p:spPr>
          <a:xfrm>
            <a:off x="548640" y="621792"/>
            <a:ext cx="11091672" cy="914400"/>
          </a:xfrm>
          <a:prstGeom prst="rect">
            <a:avLst/>
          </a:prstGeom>
          <a:noFill/>
        </p:spPr>
        <p:txBody>
          <a:bodyPr wrap="square" lIns="0" rIns="0" tIns="0" bIns="0" anchor="t">
            <a:spAutoFit/>
          </a:bodyPr>
          <a:lstStyle/>
          <a:p>
            <a:pPr algn="l">
              <a:lnSpc>
                <a:spcPct val="95000"/>
              </a:lnSpc>
              <a:spcAft>
                <a:spcPts val="0"/>
              </a:spcAft>
            </a:pPr>
            <a:r>
              <a:rPr sz="2600" b="1" i="0">
                <a:solidFill>
                  <a:srgbClr val="0E2A47"/>
                </a:solidFill>
                <a:latin typeface="Calibri"/>
              </a:rPr>
              <a:t>Unstable loss drove most of the iteration, and each fix targeted scale or numerical stability</a:t>
            </a:r>
          </a:p>
        </p:txBody>
      </p:sp>
      <p:sp>
        <p:nvSpPr>
          <p:cNvPr id="4" name="Rectangle 3"/>
          <p:cNvSpPr/>
          <p:nvPr/>
        </p:nvSpPr>
        <p:spPr>
          <a:xfrm>
            <a:off x="548640" y="6108192"/>
            <a:ext cx="11091672" cy="329184"/>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6108192"/>
            <a:ext cx="64008" cy="329184"/>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108192"/>
            <a:ext cx="10817352" cy="329184"/>
          </a:xfrm>
          <a:prstGeom prst="rect">
            <a:avLst/>
          </a:prstGeom>
          <a:noFill/>
        </p:spPr>
        <p:txBody>
          <a:bodyPr wrap="square" lIns="0" rIns="0" tIns="0" bIns="0" anchor="ctr">
            <a:spAutoFit/>
          </a:bodyPr>
          <a:lstStyle/>
          <a:p>
            <a:pPr algn="l">
              <a:spcAft>
                <a:spcPts val="0"/>
              </a:spcAft>
            </a:pPr>
            <a:r>
              <a:rPr sz="1100" b="1" i="0">
                <a:solidFill>
                  <a:srgbClr val="1F5FAE"/>
                </a:solidFill>
                <a:latin typeface="Calibri"/>
              </a:rPr>
              <a:t>ROLE LINK   </a:t>
            </a:r>
            <a:r>
              <a:rPr sz="1300" b="0" i="0">
                <a:solidFill>
                  <a:srgbClr val="52514E"/>
                </a:solidFill>
                <a:latin typeface="Calibri"/>
              </a:rPr>
              <a:t>Understanding model assumptions and limitations; debugging models</a:t>
            </a:r>
          </a:p>
        </p:txBody>
      </p:sp>
      <p:sp>
        <p:nvSpPr>
          <p:cNvPr id="7" name="TextBox 6"/>
          <p:cNvSpPr txBox="1"/>
          <p:nvPr/>
        </p:nvSpPr>
        <p:spPr>
          <a:xfrm>
            <a:off x="548640" y="6510528"/>
            <a:ext cx="6400800" cy="228600"/>
          </a:xfrm>
          <a:prstGeom prst="rect">
            <a:avLst/>
          </a:prstGeom>
          <a:noFill/>
        </p:spPr>
        <p:txBody>
          <a:bodyPr wrap="square" lIns="0" rIns="0" tIns="0" bIns="0" anchor="t">
            <a:spAutoFit/>
          </a:bodyPr>
          <a:lstStyle/>
          <a:p>
            <a:pPr algn="l">
              <a:spcAft>
                <a:spcPts val="0"/>
              </a:spcAft>
            </a:pPr>
            <a:r>
              <a:rPr sz="1000" b="0" i="0">
                <a:solidFill>
                  <a:srgbClr val="8A8984"/>
                </a:solidFill>
                <a:latin typeface="Calibri"/>
              </a:rPr>
              <a:t>Kunal Tembhare  ·  Computational biology and multi-omics ML</a:t>
            </a:r>
          </a:p>
        </p:txBody>
      </p:sp>
      <p:sp>
        <p:nvSpPr>
          <p:cNvPr id="8" name="TextBox 7"/>
          <p:cNvSpPr txBox="1"/>
          <p:nvPr/>
        </p:nvSpPr>
        <p:spPr>
          <a:xfrm>
            <a:off x="10268712" y="6510528"/>
            <a:ext cx="1371600" cy="228600"/>
          </a:xfrm>
          <a:prstGeom prst="rect">
            <a:avLst/>
          </a:prstGeom>
          <a:noFill/>
        </p:spPr>
        <p:txBody>
          <a:bodyPr wrap="square" lIns="0" rIns="0" tIns="0" bIns="0" anchor="t">
            <a:spAutoFit/>
          </a:bodyPr>
          <a:lstStyle/>
          <a:p>
            <a:pPr algn="r">
              <a:spcAft>
                <a:spcPts val="0"/>
              </a:spcAft>
            </a:pPr>
            <a:r>
              <a:rPr sz="1000" b="0" i="0">
                <a:solidFill>
                  <a:srgbClr val="8A8984"/>
                </a:solidFill>
                <a:latin typeface="Calibri"/>
              </a:rPr>
              <a:t>25 / 27</a:t>
            </a:r>
          </a:p>
        </p:txBody>
      </p:sp>
      <p:pic>
        <p:nvPicPr>
          <p:cNvPr id="9" name="Picture 8" descr="loss_plot.png"/>
          <p:cNvPicPr>
            <a:picLocks noChangeAspect="1"/>
          </p:cNvPicPr>
          <p:nvPr/>
        </p:nvPicPr>
        <p:blipFill>
          <a:blip r:embed="rId2"/>
          <a:stretch>
            <a:fillRect/>
          </a:stretch>
        </p:blipFill>
        <p:spPr>
          <a:xfrm>
            <a:off x="548640" y="1783080"/>
            <a:ext cx="5394960" cy="2697480"/>
          </a:xfrm>
          <a:prstGeom prst="rect">
            <a:avLst/>
          </a:prstGeom>
        </p:spPr>
      </p:pic>
      <p:sp>
        <p:nvSpPr>
          <p:cNvPr id="10" name="TextBox 9"/>
          <p:cNvSpPr txBox="1"/>
          <p:nvPr/>
        </p:nvSpPr>
        <p:spPr>
          <a:xfrm>
            <a:off x="548640" y="4526280"/>
            <a:ext cx="5394960" cy="457200"/>
          </a:xfrm>
          <a:prstGeom prst="rect">
            <a:avLst/>
          </a:prstGeom>
          <a:noFill/>
        </p:spPr>
        <p:txBody>
          <a:bodyPr wrap="square" lIns="0" rIns="0" tIns="0" bIns="0" anchor="t">
            <a:spAutoFit/>
          </a:bodyPr>
          <a:lstStyle/>
          <a:p>
            <a:pPr algn="l">
              <a:spcAft>
                <a:spcPts val="0"/>
              </a:spcAft>
            </a:pPr>
            <a:r>
              <a:rPr sz="1250" b="0" i="0">
                <a:solidFill>
                  <a:srgbClr val="52514E"/>
                </a:solidFill>
                <a:latin typeface="Calibri"/>
              </a:rPr>
              <a:t>Training loss of one logged run: a spike to about 3×10¹² at epoch 7, then recovery.</a:t>
            </a:r>
          </a:p>
        </p:txBody>
      </p:sp>
      <p:sp>
        <p:nvSpPr>
          <p:cNvPr id="11" name="Rectangle 10"/>
          <p:cNvSpPr/>
          <p:nvPr/>
        </p:nvSpPr>
        <p:spPr>
          <a:xfrm>
            <a:off x="548640" y="5029200"/>
            <a:ext cx="5394960" cy="868680"/>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5029200"/>
            <a:ext cx="73152" cy="868680"/>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59" y="5029200"/>
            <a:ext cx="4983480" cy="868680"/>
          </a:xfrm>
          <a:prstGeom prst="rect">
            <a:avLst/>
          </a:prstGeom>
          <a:noFill/>
        </p:spPr>
        <p:txBody>
          <a:bodyPr wrap="square" lIns="0" rIns="0" tIns="0" bIns="0" anchor="ctr">
            <a:spAutoFit/>
          </a:bodyPr>
          <a:lstStyle/>
          <a:p>
            <a:pPr algn="l">
              <a:spcAft>
                <a:spcPts val="0"/>
              </a:spcAft>
            </a:pPr>
            <a:r>
              <a:rPr sz="1300" b="1" i="0">
                <a:solidFill>
                  <a:srgbClr val="0E2A47"/>
                </a:solidFill>
                <a:latin typeface="Calibri"/>
              </a:rPr>
              <a:t>In the tracked ROSMAP runs, 9 of 11 that logged a final loss ended in NaN. The 31 Jul autoencoder variant ran without NaN in a short notebook test.</a:t>
            </a:r>
          </a:p>
        </p:txBody>
      </p:sp>
      <p:sp>
        <p:nvSpPr>
          <p:cNvPr id="14" name="TextBox 13"/>
          <p:cNvSpPr txBox="1"/>
          <p:nvPr/>
        </p:nvSpPr>
        <p:spPr>
          <a:xfrm>
            <a:off x="6400800" y="1645920"/>
            <a:ext cx="5212080" cy="228600"/>
          </a:xfrm>
          <a:prstGeom prst="rect">
            <a:avLst/>
          </a:prstGeom>
          <a:noFill/>
        </p:spPr>
        <p:txBody>
          <a:bodyPr wrap="square" lIns="0" rIns="0" tIns="0" bIns="0" anchor="t">
            <a:spAutoFit/>
          </a:bodyPr>
          <a:lstStyle/>
          <a:p>
            <a:pPr algn="l">
              <a:spcAft>
                <a:spcPts val="0"/>
              </a:spcAft>
            </a:pPr>
            <a:r>
              <a:rPr sz="1100" b="1" i="0">
                <a:solidFill>
                  <a:srgbClr val="8A8984"/>
                </a:solidFill>
                <a:latin typeface="Calibri"/>
              </a:rPr>
              <a:t>WHAT WAS CHANGED, FROM THE COMMIT HISTORY</a:t>
            </a:r>
          </a:p>
        </p:txBody>
      </p:sp>
      <p:sp>
        <p:nvSpPr>
          <p:cNvPr id="15" name="Rectangle 14"/>
          <p:cNvSpPr/>
          <p:nvPr/>
        </p:nvSpPr>
        <p:spPr>
          <a:xfrm>
            <a:off x="6400800" y="1938528"/>
            <a:ext cx="5239512" cy="603504"/>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492240" y="2057400"/>
            <a:ext cx="1097280" cy="365760"/>
          </a:xfrm>
          <a:prstGeom prst="roundRect">
            <a:avLst>
              <a:gd name="adj" fmla="val 30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250" b="1">
                <a:solidFill>
                  <a:srgbClr val="0E2A47"/>
                </a:solidFill>
                <a:latin typeface="Calibri"/>
              </a:rPr>
              <a:t>1 May</a:t>
            </a:r>
          </a:p>
        </p:txBody>
      </p:sp>
      <p:sp>
        <p:nvSpPr>
          <p:cNvPr id="17" name="TextBox 16"/>
          <p:cNvSpPr txBox="1"/>
          <p:nvPr/>
        </p:nvSpPr>
        <p:spPr>
          <a:xfrm>
            <a:off x="7772400" y="1938528"/>
            <a:ext cx="3794760" cy="603504"/>
          </a:xfrm>
          <a:prstGeom prst="rect">
            <a:avLst/>
          </a:prstGeom>
          <a:noFill/>
        </p:spPr>
        <p:txBody>
          <a:bodyPr wrap="square" lIns="0" rIns="0" tIns="0" bIns="0" anchor="ctr">
            <a:spAutoFit/>
          </a:bodyPr>
          <a:lstStyle/>
          <a:p>
            <a:pPr algn="l">
              <a:spcAft>
                <a:spcPts val="0"/>
              </a:spcAft>
            </a:pPr>
            <a:r>
              <a:rPr sz="1250" b="0" i="0">
                <a:solidFill>
                  <a:srgbClr val="14171C"/>
                </a:solidFill>
                <a:latin typeface="Calibri"/>
              </a:rPr>
              <a:t>Gradient-norm clipping added</a:t>
            </a:r>
          </a:p>
        </p:txBody>
      </p:sp>
      <p:sp>
        <p:nvSpPr>
          <p:cNvPr id="18" name="Rectangle 17"/>
          <p:cNvSpPr/>
          <p:nvPr/>
        </p:nvSpPr>
        <p:spPr>
          <a:xfrm>
            <a:off x="6400800" y="2615184"/>
            <a:ext cx="5239512" cy="603504"/>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492240" y="2734056"/>
            <a:ext cx="1097280" cy="365760"/>
          </a:xfrm>
          <a:prstGeom prst="roundRect">
            <a:avLst>
              <a:gd name="adj" fmla="val 30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250" b="1">
                <a:solidFill>
                  <a:srgbClr val="0E2A47"/>
                </a:solidFill>
                <a:latin typeface="Calibri"/>
              </a:rPr>
              <a:t>24 May</a:t>
            </a:r>
          </a:p>
        </p:txBody>
      </p:sp>
      <p:sp>
        <p:nvSpPr>
          <p:cNvPr id="20" name="TextBox 19"/>
          <p:cNvSpPr txBox="1"/>
          <p:nvPr/>
        </p:nvSpPr>
        <p:spPr>
          <a:xfrm>
            <a:off x="7772400" y="2615184"/>
            <a:ext cx="3794760" cy="603504"/>
          </a:xfrm>
          <a:prstGeom prst="rect">
            <a:avLst/>
          </a:prstGeom>
          <a:noFill/>
        </p:spPr>
        <p:txBody>
          <a:bodyPr wrap="square" lIns="0" rIns="0" tIns="0" bIns="0" anchor="ctr">
            <a:spAutoFit/>
          </a:bodyPr>
          <a:lstStyle/>
          <a:p>
            <a:pPr algn="l">
              <a:spcAft>
                <a:spcPts val="0"/>
              </a:spcAft>
            </a:pPr>
            <a:r>
              <a:rPr sz="1250" b="0" i="0">
                <a:solidFill>
                  <a:srgbClr val="14171C"/>
                </a:solidFill>
                <a:latin typeface="Calibri"/>
              </a:rPr>
              <a:t>Min-max scaling of the inputs</a:t>
            </a:r>
          </a:p>
        </p:txBody>
      </p:sp>
      <p:sp>
        <p:nvSpPr>
          <p:cNvPr id="21" name="Rectangle 20"/>
          <p:cNvSpPr/>
          <p:nvPr/>
        </p:nvSpPr>
        <p:spPr>
          <a:xfrm>
            <a:off x="6400800" y="3291840"/>
            <a:ext cx="5239512" cy="603504"/>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6492240" y="3410712"/>
            <a:ext cx="1097280" cy="365760"/>
          </a:xfrm>
          <a:prstGeom prst="roundRect">
            <a:avLst>
              <a:gd name="adj" fmla="val 30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250" b="1">
                <a:solidFill>
                  <a:srgbClr val="0E2A47"/>
                </a:solidFill>
                <a:latin typeface="Calibri"/>
              </a:rPr>
              <a:t>4–5 Jun</a:t>
            </a:r>
          </a:p>
        </p:txBody>
      </p:sp>
      <p:sp>
        <p:nvSpPr>
          <p:cNvPr id="23" name="TextBox 22"/>
          <p:cNvSpPr txBox="1"/>
          <p:nvPr/>
        </p:nvSpPr>
        <p:spPr>
          <a:xfrm>
            <a:off x="7772400" y="3291840"/>
            <a:ext cx="3794760" cy="603504"/>
          </a:xfrm>
          <a:prstGeom prst="rect">
            <a:avLst/>
          </a:prstGeom>
          <a:noFill/>
        </p:spPr>
        <p:txBody>
          <a:bodyPr wrap="square" lIns="0" rIns="0" tIns="0" bIns="0" anchor="ctr">
            <a:spAutoFit/>
          </a:bodyPr>
          <a:lstStyle/>
          <a:p>
            <a:pPr algn="l">
              <a:spcAft>
                <a:spcPts val="0"/>
              </a:spcAft>
            </a:pPr>
            <a:r>
              <a:rPr sz="1250" b="0" i="0">
                <a:solidFill>
                  <a:srgbClr val="14171C"/>
                </a:solidFill>
                <a:latin typeface="Calibri"/>
              </a:rPr>
              <a:t>Scaling by batch distribution; KL computed from the whole pseudo-bulk distribution</a:t>
            </a:r>
          </a:p>
        </p:txBody>
      </p:sp>
      <p:sp>
        <p:nvSpPr>
          <p:cNvPr id="24" name="Rectangle 23"/>
          <p:cNvSpPr/>
          <p:nvPr/>
        </p:nvSpPr>
        <p:spPr>
          <a:xfrm>
            <a:off x="6400800" y="3968496"/>
            <a:ext cx="5239512" cy="603504"/>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492240" y="4087368"/>
            <a:ext cx="1097280" cy="365760"/>
          </a:xfrm>
          <a:prstGeom prst="roundRect">
            <a:avLst>
              <a:gd name="adj" fmla="val 30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250" b="1">
                <a:solidFill>
                  <a:srgbClr val="0E2A47"/>
                </a:solidFill>
                <a:latin typeface="Calibri"/>
              </a:rPr>
              <a:t>10 Jul</a:t>
            </a:r>
          </a:p>
        </p:txBody>
      </p:sp>
      <p:sp>
        <p:nvSpPr>
          <p:cNvPr id="26" name="TextBox 25"/>
          <p:cNvSpPr txBox="1"/>
          <p:nvPr/>
        </p:nvSpPr>
        <p:spPr>
          <a:xfrm>
            <a:off x="7772400" y="3968496"/>
            <a:ext cx="3794760" cy="603504"/>
          </a:xfrm>
          <a:prstGeom prst="rect">
            <a:avLst/>
          </a:prstGeom>
          <a:noFill/>
        </p:spPr>
        <p:txBody>
          <a:bodyPr wrap="square" lIns="0" rIns="0" tIns="0" bIns="0" anchor="ctr">
            <a:spAutoFit/>
          </a:bodyPr>
          <a:lstStyle/>
          <a:p>
            <a:pPr algn="l">
              <a:spcAft>
                <a:spcPts val="0"/>
              </a:spcAft>
            </a:pPr>
            <a:r>
              <a:rPr sz="1250" b="0" i="0">
                <a:solidFill>
                  <a:srgbClr val="14171C"/>
                </a:solidFill>
                <a:latin typeface="Calibri"/>
              </a:rPr>
              <a:t>Guard for NaN loss when all inputs are zero</a:t>
            </a:r>
          </a:p>
        </p:txBody>
      </p:sp>
      <p:sp>
        <p:nvSpPr>
          <p:cNvPr id="27" name="Rectangle 26"/>
          <p:cNvSpPr/>
          <p:nvPr/>
        </p:nvSpPr>
        <p:spPr>
          <a:xfrm>
            <a:off x="6400800" y="4645152"/>
            <a:ext cx="5239512" cy="603504"/>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6492240" y="4764024"/>
            <a:ext cx="1097280" cy="365760"/>
          </a:xfrm>
          <a:prstGeom prst="roundRect">
            <a:avLst>
              <a:gd name="adj" fmla="val 30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250" b="1">
                <a:solidFill>
                  <a:srgbClr val="0E2A47"/>
                </a:solidFill>
                <a:latin typeface="Calibri"/>
              </a:rPr>
              <a:t>15–23 Jul</a:t>
            </a:r>
          </a:p>
        </p:txBody>
      </p:sp>
      <p:sp>
        <p:nvSpPr>
          <p:cNvPr id="29" name="TextBox 28"/>
          <p:cNvSpPr txBox="1"/>
          <p:nvPr/>
        </p:nvSpPr>
        <p:spPr>
          <a:xfrm>
            <a:off x="7772400" y="4645152"/>
            <a:ext cx="3794760" cy="603504"/>
          </a:xfrm>
          <a:prstGeom prst="rect">
            <a:avLst/>
          </a:prstGeom>
          <a:noFill/>
        </p:spPr>
        <p:txBody>
          <a:bodyPr wrap="square" lIns="0" rIns="0" tIns="0" bIns="0" anchor="ctr">
            <a:spAutoFit/>
          </a:bodyPr>
          <a:lstStyle/>
          <a:p>
            <a:pPr algn="l">
              <a:spcAft>
                <a:spcPts val="0"/>
              </a:spcAft>
            </a:pPr>
            <a:r>
              <a:rPr sz="1250" b="0" i="0">
                <a:solidFill>
                  <a:srgbClr val="14171C"/>
                </a:solidFill>
                <a:latin typeface="Calibri"/>
              </a:rPr>
              <a:t>Counts converted to CPM; one batch is one gene across all samples</a:t>
            </a:r>
          </a:p>
        </p:txBody>
      </p:sp>
      <p:sp>
        <p:nvSpPr>
          <p:cNvPr id="30" name="Rectangle 29"/>
          <p:cNvSpPr/>
          <p:nvPr/>
        </p:nvSpPr>
        <p:spPr>
          <a:xfrm>
            <a:off x="6400800" y="5321808"/>
            <a:ext cx="5239512" cy="603504"/>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6492240" y="5440680"/>
            <a:ext cx="1097280" cy="365760"/>
          </a:xfrm>
          <a:prstGeom prst="roundRect">
            <a:avLst>
              <a:gd name="adj" fmla="val 30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250" b="1">
                <a:solidFill>
                  <a:srgbClr val="0E2A47"/>
                </a:solidFill>
                <a:latin typeface="Calibri"/>
              </a:rPr>
              <a:t>31 Jul</a:t>
            </a:r>
          </a:p>
        </p:txBody>
      </p:sp>
      <p:sp>
        <p:nvSpPr>
          <p:cNvPr id="32" name="TextBox 31"/>
          <p:cNvSpPr txBox="1"/>
          <p:nvPr/>
        </p:nvSpPr>
        <p:spPr>
          <a:xfrm>
            <a:off x="7772400" y="5321808"/>
            <a:ext cx="3794760" cy="603504"/>
          </a:xfrm>
          <a:prstGeom prst="rect">
            <a:avLst/>
          </a:prstGeom>
          <a:noFill/>
        </p:spPr>
        <p:txBody>
          <a:bodyPr wrap="square" lIns="0" rIns="0" tIns="0" bIns="0" anchor="ctr">
            <a:spAutoFit/>
          </a:bodyPr>
          <a:lstStyle/>
          <a:p>
            <a:pPr algn="l">
              <a:spcAft>
                <a:spcPts val="0"/>
              </a:spcAft>
            </a:pPr>
            <a:r>
              <a:rPr sz="1250" b="0" i="0">
                <a:solidFill>
                  <a:srgbClr val="14171C"/>
                </a:solidFill>
                <a:latin typeface="Calibri"/>
              </a:rPr>
              <a:t>MSE objective replaces the KL term; pseudo-bulk as the known latent factor</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48640" y="347472"/>
            <a:ext cx="8229600" cy="274320"/>
          </a:xfrm>
          <a:prstGeom prst="rect">
            <a:avLst/>
          </a:prstGeom>
          <a:noFill/>
        </p:spPr>
        <p:txBody>
          <a:bodyPr wrap="square" lIns="0" rIns="0" tIns="0" bIns="0" anchor="t">
            <a:spAutoFit/>
          </a:bodyPr>
          <a:lstStyle/>
          <a:p>
            <a:pPr algn="l">
              <a:spcAft>
                <a:spcPts val="0"/>
              </a:spcAft>
            </a:pPr>
            <a:r>
              <a:rPr sz="1200" b="1" i="0">
                <a:solidFill>
                  <a:srgbClr val="1F5FAE"/>
                </a:solidFill>
                <a:latin typeface="Calibri"/>
              </a:rPr>
              <a:t>DECONVOLUTION PROJECT  ·  STATUS AND NEXT STEPS</a:t>
            </a:r>
          </a:p>
        </p:txBody>
      </p:sp>
      <p:sp>
        <p:nvSpPr>
          <p:cNvPr id="3" name="TextBox 2"/>
          <p:cNvSpPr txBox="1"/>
          <p:nvPr/>
        </p:nvSpPr>
        <p:spPr>
          <a:xfrm>
            <a:off x="548640" y="621792"/>
            <a:ext cx="11091672" cy="914400"/>
          </a:xfrm>
          <a:prstGeom prst="rect">
            <a:avLst/>
          </a:prstGeom>
          <a:noFill/>
        </p:spPr>
        <p:txBody>
          <a:bodyPr wrap="square" lIns="0" rIns="0" tIns="0" bIns="0" anchor="t">
            <a:spAutoFit/>
          </a:bodyPr>
          <a:lstStyle/>
          <a:p>
            <a:pPr algn="l">
              <a:lnSpc>
                <a:spcPct val="95000"/>
              </a:lnSpc>
              <a:spcAft>
                <a:spcPts val="0"/>
              </a:spcAft>
            </a:pPr>
            <a:r>
              <a:rPr sz="2600" b="1" i="0">
                <a:solidFill>
                  <a:srgbClr val="0E2A47"/>
                </a:solidFill>
                <a:latin typeface="Calibri"/>
              </a:rPr>
              <a:t>A working prototype: validation against known cell proportions comes next</a:t>
            </a:r>
          </a:p>
        </p:txBody>
      </p:sp>
      <p:sp>
        <p:nvSpPr>
          <p:cNvPr id="4" name="Rectangle 3"/>
          <p:cNvSpPr/>
          <p:nvPr/>
        </p:nvSpPr>
        <p:spPr>
          <a:xfrm>
            <a:off x="548640" y="6108192"/>
            <a:ext cx="11091672" cy="329184"/>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6108192"/>
            <a:ext cx="64008" cy="329184"/>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108192"/>
            <a:ext cx="10817352" cy="329184"/>
          </a:xfrm>
          <a:prstGeom prst="rect">
            <a:avLst/>
          </a:prstGeom>
          <a:noFill/>
        </p:spPr>
        <p:txBody>
          <a:bodyPr wrap="square" lIns="0" rIns="0" tIns="0" bIns="0" anchor="ctr">
            <a:spAutoFit/>
          </a:bodyPr>
          <a:lstStyle/>
          <a:p>
            <a:pPr algn="l">
              <a:spcAft>
                <a:spcPts val="0"/>
              </a:spcAft>
            </a:pPr>
            <a:r>
              <a:rPr sz="1100" b="1" i="0">
                <a:solidFill>
                  <a:srgbClr val="1F5FAE"/>
                </a:solidFill>
                <a:latin typeface="Calibri"/>
              </a:rPr>
              <a:t>ROLE LINK   </a:t>
            </a:r>
            <a:r>
              <a:rPr sz="1300" b="0" i="0">
                <a:solidFill>
                  <a:srgbClr val="52514E"/>
                </a:solidFill>
                <a:latin typeface="Calibri"/>
              </a:rPr>
              <a:t>Critically evaluating methods and clearly stating uncertainties</a:t>
            </a:r>
          </a:p>
        </p:txBody>
      </p:sp>
      <p:sp>
        <p:nvSpPr>
          <p:cNvPr id="7" name="TextBox 6"/>
          <p:cNvSpPr txBox="1"/>
          <p:nvPr/>
        </p:nvSpPr>
        <p:spPr>
          <a:xfrm>
            <a:off x="548640" y="6510528"/>
            <a:ext cx="6400800" cy="228600"/>
          </a:xfrm>
          <a:prstGeom prst="rect">
            <a:avLst/>
          </a:prstGeom>
          <a:noFill/>
        </p:spPr>
        <p:txBody>
          <a:bodyPr wrap="square" lIns="0" rIns="0" tIns="0" bIns="0" anchor="t">
            <a:spAutoFit/>
          </a:bodyPr>
          <a:lstStyle/>
          <a:p>
            <a:pPr algn="l">
              <a:spcAft>
                <a:spcPts val="0"/>
              </a:spcAft>
            </a:pPr>
            <a:r>
              <a:rPr sz="1000" b="0" i="0">
                <a:solidFill>
                  <a:srgbClr val="8A8984"/>
                </a:solidFill>
                <a:latin typeface="Calibri"/>
              </a:rPr>
              <a:t>Kunal Tembhare  ·  Computational biology and multi-omics ML</a:t>
            </a:r>
          </a:p>
        </p:txBody>
      </p:sp>
      <p:sp>
        <p:nvSpPr>
          <p:cNvPr id="8" name="TextBox 7"/>
          <p:cNvSpPr txBox="1"/>
          <p:nvPr/>
        </p:nvSpPr>
        <p:spPr>
          <a:xfrm>
            <a:off x="10268712" y="6510528"/>
            <a:ext cx="1371600" cy="228600"/>
          </a:xfrm>
          <a:prstGeom prst="rect">
            <a:avLst/>
          </a:prstGeom>
          <a:noFill/>
        </p:spPr>
        <p:txBody>
          <a:bodyPr wrap="square" lIns="0" rIns="0" tIns="0" bIns="0" anchor="t">
            <a:spAutoFit/>
          </a:bodyPr>
          <a:lstStyle/>
          <a:p>
            <a:pPr algn="r">
              <a:spcAft>
                <a:spcPts val="0"/>
              </a:spcAft>
            </a:pPr>
            <a:r>
              <a:rPr sz="1000" b="0" i="0">
                <a:solidFill>
                  <a:srgbClr val="8A8984"/>
                </a:solidFill>
                <a:latin typeface="Calibri"/>
              </a:rPr>
              <a:t>26 / 27</a:t>
            </a:r>
          </a:p>
        </p:txBody>
      </p:sp>
      <p:sp>
        <p:nvSpPr>
          <p:cNvPr id="9" name="Rectangle 8"/>
          <p:cNvSpPr/>
          <p:nvPr/>
        </p:nvSpPr>
        <p:spPr>
          <a:xfrm>
            <a:off x="548640" y="1691640"/>
            <a:ext cx="3557016" cy="361188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691640"/>
            <a:ext cx="3557016" cy="64008"/>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874519"/>
            <a:ext cx="3108960" cy="320040"/>
          </a:xfrm>
          <a:prstGeom prst="rect">
            <a:avLst/>
          </a:prstGeom>
          <a:noFill/>
        </p:spPr>
        <p:txBody>
          <a:bodyPr wrap="square" lIns="0" rIns="0" tIns="0" bIns="0" anchor="t">
            <a:spAutoFit/>
          </a:bodyPr>
          <a:lstStyle/>
          <a:p>
            <a:pPr algn="l">
              <a:spcAft>
                <a:spcPts val="0"/>
              </a:spcAft>
            </a:pPr>
            <a:r>
              <a:rPr sz="1700" b="1" i="0">
                <a:solidFill>
                  <a:srgbClr val="0E2A47"/>
                </a:solidFill>
                <a:latin typeface="Calibri"/>
              </a:rPr>
              <a:t>Working</a:t>
            </a:r>
          </a:p>
        </p:txBody>
      </p:sp>
      <p:sp>
        <p:nvSpPr>
          <p:cNvPr id="12" name="TextBox 11"/>
          <p:cNvSpPr txBox="1"/>
          <p:nvPr/>
        </p:nvSpPr>
        <p:spPr>
          <a:xfrm>
            <a:off x="777240" y="2331720"/>
            <a:ext cx="3108960" cy="2926080"/>
          </a:xfrm>
          <a:prstGeom prst="rect">
            <a:avLst/>
          </a:prstGeom>
          <a:noFill/>
        </p:spPr>
        <p:txBody>
          <a:bodyPr wrap="square" lIns="0" rIns="0" tIns="0" bIns="0" anchor="t">
            <a:spAutoFit/>
          </a:bodyPr>
          <a:lstStyle/>
          <a:p>
            <a:pPr algn="l" marL="201168" indent="-201168">
              <a:spcAft>
                <a:spcPts val="700"/>
              </a:spcAft>
              <a:buChar char="•"/>
            </a:pPr>
            <a:r>
              <a:rPr sz="1300" b="0" i="0">
                <a:solidFill>
                  <a:srgbClr val="14171C"/>
                </a:solidFill>
                <a:latin typeface="Calibri"/>
              </a:rPr>
              <a:t>Pipeline from single-cell counts to paired cell-type and pseudo-bulk tables, for pancreas and ROSMAP data.</a:t>
            </a:r>
          </a:p>
          <a:p>
            <a:pPr algn="l" marL="201168" indent="-201168">
              <a:spcAft>
                <a:spcPts val="700"/>
              </a:spcAft>
              <a:buChar char="•"/>
            </a:pPr>
            <a:r>
              <a:rPr sz="1300" b="0" i="0">
                <a:solidFill>
                  <a:srgbClr val="14171C"/>
                </a:solidFill>
                <a:latin typeface="Calibri"/>
              </a:rPr>
              <a:t>VAE and autoencoder variants train, with Optuna tuning and MLflow tracking.</a:t>
            </a:r>
          </a:p>
          <a:p>
            <a:pPr algn="l" marL="201168" indent="-201168">
              <a:spcAft>
                <a:spcPts val="700"/>
              </a:spcAft>
              <a:buChar char="•"/>
            </a:pPr>
            <a:r>
              <a:rPr sz="1300" b="0" i="0">
                <a:solidFill>
                  <a:srgbClr val="14171C"/>
                </a:solidFill>
                <a:latin typeface="Calibri"/>
              </a:rPr>
              <a:t>An autoencoder variant with a pseudo-bulk latent term ran without NaN in a short notebook test.</a:t>
            </a:r>
          </a:p>
        </p:txBody>
      </p:sp>
      <p:sp>
        <p:nvSpPr>
          <p:cNvPr id="13" name="Rectangle 12"/>
          <p:cNvSpPr/>
          <p:nvPr/>
        </p:nvSpPr>
        <p:spPr>
          <a:xfrm>
            <a:off x="4315968" y="1691640"/>
            <a:ext cx="3557016" cy="361188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15968" y="1691640"/>
            <a:ext cx="3557016" cy="64008"/>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44568" y="1874519"/>
            <a:ext cx="3108960" cy="320040"/>
          </a:xfrm>
          <a:prstGeom prst="rect">
            <a:avLst/>
          </a:prstGeom>
          <a:noFill/>
        </p:spPr>
        <p:txBody>
          <a:bodyPr wrap="square" lIns="0" rIns="0" tIns="0" bIns="0" anchor="t">
            <a:spAutoFit/>
          </a:bodyPr>
          <a:lstStyle/>
          <a:p>
            <a:pPr algn="l">
              <a:spcAft>
                <a:spcPts val="0"/>
              </a:spcAft>
            </a:pPr>
            <a:r>
              <a:rPr sz="1700" b="1" i="0">
                <a:solidFill>
                  <a:srgbClr val="0E2A47"/>
                </a:solidFill>
                <a:latin typeface="Calibri"/>
              </a:rPr>
              <a:t>Not yet in place</a:t>
            </a:r>
          </a:p>
        </p:txBody>
      </p:sp>
      <p:sp>
        <p:nvSpPr>
          <p:cNvPr id="16" name="TextBox 15"/>
          <p:cNvSpPr txBox="1"/>
          <p:nvPr/>
        </p:nvSpPr>
        <p:spPr>
          <a:xfrm>
            <a:off x="4544568" y="2331720"/>
            <a:ext cx="3108960" cy="2926080"/>
          </a:xfrm>
          <a:prstGeom prst="rect">
            <a:avLst/>
          </a:prstGeom>
          <a:noFill/>
        </p:spPr>
        <p:txBody>
          <a:bodyPr wrap="square" lIns="0" rIns="0" tIns="0" bIns="0" anchor="t">
            <a:spAutoFit/>
          </a:bodyPr>
          <a:lstStyle/>
          <a:p>
            <a:pPr algn="l" marL="201168" indent="-201168">
              <a:spcAft>
                <a:spcPts val="700"/>
              </a:spcAft>
              <a:buChar char="•"/>
            </a:pPr>
            <a:r>
              <a:rPr sz="1300" b="0" i="0">
                <a:solidFill>
                  <a:srgbClr val="14171C"/>
                </a:solidFill>
                <a:latin typeface="Calibri"/>
              </a:rPr>
              <a:t>No accuracy check against known cell proportions: no correlation or error metric in the repository.</a:t>
            </a:r>
          </a:p>
          <a:p>
            <a:pPr algn="l" marL="201168" indent="-201168">
              <a:spcAft>
                <a:spcPts val="700"/>
              </a:spcAft>
              <a:buChar char="•"/>
            </a:pPr>
            <a:r>
              <a:rPr sz="1300" b="0" i="0">
                <a:solidFill>
                  <a:srgbClr val="14171C"/>
                </a:solidFill>
                <a:latin typeface="Calibri"/>
              </a:rPr>
              <a:t>No inference script for new bulk samples: predict_model.py is empty.</a:t>
            </a:r>
          </a:p>
          <a:p>
            <a:pPr algn="l" marL="201168" indent="-201168">
              <a:spcAft>
                <a:spcPts val="700"/>
              </a:spcAft>
              <a:buChar char="•"/>
            </a:pPr>
            <a:r>
              <a:rPr sz="1300" b="0" i="0">
                <a:solidFill>
                  <a:srgbClr val="14171C"/>
                </a:solidFill>
                <a:latin typeface="Calibri"/>
              </a:rPr>
              <a:t>9 of 11 ROSMAP runs with a logged final loss ended in NaN, and current settings are small (10 epochs, 10 trials).</a:t>
            </a:r>
          </a:p>
        </p:txBody>
      </p:sp>
      <p:sp>
        <p:nvSpPr>
          <p:cNvPr id="17" name="Rectangle 16"/>
          <p:cNvSpPr/>
          <p:nvPr/>
        </p:nvSpPr>
        <p:spPr>
          <a:xfrm>
            <a:off x="8083296" y="1691640"/>
            <a:ext cx="3557016" cy="361188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83296" y="1691640"/>
            <a:ext cx="3557016" cy="64008"/>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311896" y="1874519"/>
            <a:ext cx="3108960" cy="320040"/>
          </a:xfrm>
          <a:prstGeom prst="rect">
            <a:avLst/>
          </a:prstGeom>
          <a:noFill/>
        </p:spPr>
        <p:txBody>
          <a:bodyPr wrap="square" lIns="0" rIns="0" tIns="0" bIns="0" anchor="t">
            <a:spAutoFit/>
          </a:bodyPr>
          <a:lstStyle/>
          <a:p>
            <a:pPr algn="l">
              <a:spcAft>
                <a:spcPts val="0"/>
              </a:spcAft>
            </a:pPr>
            <a:r>
              <a:rPr sz="1700" b="1" i="0">
                <a:solidFill>
                  <a:srgbClr val="0E2A47"/>
                </a:solidFill>
                <a:latin typeface="Calibri"/>
              </a:rPr>
              <a:t>Proposed next steps</a:t>
            </a:r>
          </a:p>
        </p:txBody>
      </p:sp>
      <p:sp>
        <p:nvSpPr>
          <p:cNvPr id="20" name="TextBox 19"/>
          <p:cNvSpPr txBox="1"/>
          <p:nvPr/>
        </p:nvSpPr>
        <p:spPr>
          <a:xfrm>
            <a:off x="8311896" y="2331720"/>
            <a:ext cx="3108960" cy="2926080"/>
          </a:xfrm>
          <a:prstGeom prst="rect">
            <a:avLst/>
          </a:prstGeom>
          <a:noFill/>
        </p:spPr>
        <p:txBody>
          <a:bodyPr wrap="square" lIns="0" rIns="0" tIns="0" bIns="0" anchor="t">
            <a:spAutoFit/>
          </a:bodyPr>
          <a:lstStyle/>
          <a:p>
            <a:pPr algn="l" marL="201168" indent="-201168">
              <a:spcAft>
                <a:spcPts val="700"/>
              </a:spcAft>
              <a:buChar char="•"/>
            </a:pPr>
            <a:r>
              <a:rPr sz="1300" b="0" i="0">
                <a:solidFill>
                  <a:srgbClr val="14171C"/>
                </a:solidFill>
                <a:latin typeface="Calibri"/>
              </a:rPr>
              <a:t>Hold out donors and score the recovered cell-type signal with correlation and RMSE.</a:t>
            </a:r>
          </a:p>
          <a:p>
            <a:pPr algn="l" marL="201168" indent="-201168">
              <a:spcAft>
                <a:spcPts val="700"/>
              </a:spcAft>
              <a:buChar char="•"/>
            </a:pPr>
            <a:r>
              <a:rPr sz="1300" b="0" i="0">
                <a:solidFill>
                  <a:srgbClr val="14171C"/>
                </a:solidFill>
                <a:latin typeface="Calibri"/>
              </a:rPr>
              <a:t>Compare with the MuSiC-style baseline used to build the simulation.</a:t>
            </a:r>
          </a:p>
          <a:p>
            <a:pPr algn="l" marL="201168" indent="-201168">
              <a:spcAft>
                <a:spcPts val="700"/>
              </a:spcAft>
              <a:buChar char="•"/>
            </a:pPr>
            <a:r>
              <a:rPr sz="1300" b="0" i="0">
                <a:solidFill>
                  <a:srgbClr val="14171C"/>
                </a:solidFill>
                <a:latin typeface="Calibri"/>
              </a:rPr>
              <a:t>Apply to real bulk cohorts, such as GSE50244 (89 pancreas samples) from the project references.</a:t>
            </a:r>
          </a:p>
          <a:p>
            <a:pPr algn="l" marL="201168" indent="-201168">
              <a:spcAft>
                <a:spcPts val="700"/>
              </a:spcAft>
              <a:buChar char="•"/>
            </a:pPr>
            <a:r>
              <a:rPr sz="1300" b="0" i="0">
                <a:solidFill>
                  <a:srgbClr val="14171C"/>
                </a:solidFill>
                <a:latin typeface="Calibri"/>
              </a:rPr>
              <a:t>Add an inference script, then longer training with wider tuning.</a:t>
            </a:r>
          </a:p>
        </p:txBody>
      </p:sp>
      <p:sp>
        <p:nvSpPr>
          <p:cNvPr id="21" name="Rectangle 20"/>
          <p:cNvSpPr/>
          <p:nvPr/>
        </p:nvSpPr>
        <p:spPr>
          <a:xfrm>
            <a:off x="548640" y="5440680"/>
            <a:ext cx="11091672" cy="548640"/>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48640" y="5440680"/>
            <a:ext cx="73152" cy="548640"/>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2959" y="5440680"/>
            <a:ext cx="10634472" cy="548640"/>
          </a:xfrm>
          <a:prstGeom prst="rect">
            <a:avLst/>
          </a:prstGeom>
          <a:noFill/>
        </p:spPr>
        <p:txBody>
          <a:bodyPr wrap="square" lIns="0" rIns="0" tIns="0" bIns="0" anchor="ctr">
            <a:spAutoFit/>
          </a:bodyPr>
          <a:lstStyle/>
          <a:p>
            <a:pPr algn="l">
              <a:spcAft>
                <a:spcPts val="0"/>
              </a:spcAft>
            </a:pPr>
            <a:r>
              <a:rPr sz="1400" b="1" i="0">
                <a:solidFill>
                  <a:srgbClr val="0E2A47"/>
                </a:solidFill>
                <a:latin typeface="Calibri"/>
              </a:rPr>
              <a:t>The pipeline and tracking are in place; the scientific claim, accurate cell-type recovery from bulk, still has to be demonstrated.</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48640" y="347472"/>
            <a:ext cx="8229600" cy="274320"/>
          </a:xfrm>
          <a:prstGeom prst="rect">
            <a:avLst/>
          </a:prstGeom>
          <a:noFill/>
        </p:spPr>
        <p:txBody>
          <a:bodyPr wrap="square" lIns="0" rIns="0" tIns="0" bIns="0" anchor="t">
            <a:spAutoFit/>
          </a:bodyPr>
          <a:lstStyle/>
          <a:p>
            <a:pPr algn="l">
              <a:spcAft>
                <a:spcPts val="0"/>
              </a:spcAft>
            </a:pPr>
            <a:r>
              <a:rPr sz="1200" b="1" i="0">
                <a:solidFill>
                  <a:srgbClr val="1F5FAE"/>
                </a:solidFill>
                <a:latin typeface="Calibri"/>
              </a:rPr>
              <a:t>SUMMARY</a:t>
            </a:r>
          </a:p>
        </p:txBody>
      </p:sp>
      <p:sp>
        <p:nvSpPr>
          <p:cNvPr id="3" name="TextBox 2"/>
          <p:cNvSpPr txBox="1"/>
          <p:nvPr/>
        </p:nvSpPr>
        <p:spPr>
          <a:xfrm>
            <a:off x="548640" y="621792"/>
            <a:ext cx="11091672" cy="914400"/>
          </a:xfrm>
          <a:prstGeom prst="rect">
            <a:avLst/>
          </a:prstGeom>
          <a:noFill/>
        </p:spPr>
        <p:txBody>
          <a:bodyPr wrap="square" lIns="0" rIns="0" tIns="0" bIns="0" anchor="t">
            <a:spAutoFit/>
          </a:bodyPr>
          <a:lstStyle/>
          <a:p>
            <a:pPr algn="l">
              <a:lnSpc>
                <a:spcPct val="95000"/>
              </a:lnSpc>
              <a:spcAft>
                <a:spcPts val="0"/>
              </a:spcAft>
            </a:pPr>
            <a:r>
              <a:rPr sz="2600" b="1" i="0">
                <a:solidFill>
                  <a:srgbClr val="0E2A47"/>
                </a:solidFill>
                <a:latin typeface="Calibri"/>
              </a:rPr>
              <a:t>Evidence for the role: integration, biomarker models, deep learning, NGS and reusable code</a:t>
            </a:r>
          </a:p>
        </p:txBody>
      </p:sp>
      <p:sp>
        <p:nvSpPr>
          <p:cNvPr id="4" name="TextBox 3"/>
          <p:cNvSpPr txBox="1"/>
          <p:nvPr/>
        </p:nvSpPr>
        <p:spPr>
          <a:xfrm>
            <a:off x="548640" y="6510528"/>
            <a:ext cx="6400800" cy="228600"/>
          </a:xfrm>
          <a:prstGeom prst="rect">
            <a:avLst/>
          </a:prstGeom>
          <a:noFill/>
        </p:spPr>
        <p:txBody>
          <a:bodyPr wrap="square" lIns="0" rIns="0" tIns="0" bIns="0" anchor="t">
            <a:spAutoFit/>
          </a:bodyPr>
          <a:lstStyle/>
          <a:p>
            <a:pPr algn="l">
              <a:spcAft>
                <a:spcPts val="0"/>
              </a:spcAft>
            </a:pPr>
            <a:r>
              <a:rPr sz="1000" b="0" i="0">
                <a:solidFill>
                  <a:srgbClr val="8A8984"/>
                </a:solidFill>
                <a:latin typeface="Calibri"/>
              </a:rPr>
              <a:t>Kunal Tembhare  ·  Computational biology and multi-omics ML</a:t>
            </a:r>
          </a:p>
        </p:txBody>
      </p:sp>
      <p:sp>
        <p:nvSpPr>
          <p:cNvPr id="5" name="TextBox 4"/>
          <p:cNvSpPr txBox="1"/>
          <p:nvPr/>
        </p:nvSpPr>
        <p:spPr>
          <a:xfrm>
            <a:off x="10268712" y="6510528"/>
            <a:ext cx="1371600" cy="228600"/>
          </a:xfrm>
          <a:prstGeom prst="rect">
            <a:avLst/>
          </a:prstGeom>
          <a:noFill/>
        </p:spPr>
        <p:txBody>
          <a:bodyPr wrap="square" lIns="0" rIns="0" tIns="0" bIns="0" anchor="t">
            <a:spAutoFit/>
          </a:bodyPr>
          <a:lstStyle/>
          <a:p>
            <a:pPr algn="r">
              <a:spcAft>
                <a:spcPts val="0"/>
              </a:spcAft>
            </a:pPr>
            <a:r>
              <a:rPr sz="1000" b="0" i="0">
                <a:solidFill>
                  <a:srgbClr val="8A8984"/>
                </a:solidFill>
                <a:latin typeface="Calibri"/>
              </a:rPr>
              <a:t>27 / 27</a:t>
            </a:r>
          </a:p>
        </p:txBody>
      </p:sp>
      <p:graphicFrame>
        <p:nvGraphicFramePr>
          <p:cNvPr id="6" name="Table 5"/>
          <p:cNvGraphicFramePr>
            <a:graphicFrameLocks noGrp="1"/>
          </p:cNvGraphicFramePr>
          <p:nvPr/>
        </p:nvGraphicFramePr>
        <p:xfrm>
          <a:off x="548640" y="1691640"/>
          <a:ext cx="11091672" cy="4553712"/>
        </p:xfrm>
        <a:graphic>
          <a:graphicData uri="http://schemas.openxmlformats.org/drawingml/2006/table">
            <a:tbl>
              <a:tblPr firstRow="0" bandRow="0">
                <a:tableStyleId>{5C22544A-7EE6-4342-B048-85BDC9FD1C3A}</a:tableStyleId>
              </a:tblPr>
              <a:tblGrid>
                <a:gridCol w="3383280"/>
                <a:gridCol w="5760720"/>
                <a:gridCol w="1947672"/>
              </a:tblGrid>
              <a:tr h="457200">
                <a:tc>
                  <a:txBody>
                    <a:bodyPr wrap="square"/>
                    <a:lstStyle/>
                    <a:p>
                      <a:r>
                        <a:rPr sz="1300" b="1">
                          <a:solidFill>
                            <a:srgbClr val="FFFFFF"/>
                          </a:solidFill>
                          <a:latin typeface="Calibri"/>
                        </a:rPr>
                        <a:t>Role expectation</a:t>
                      </a:r>
                    </a:p>
                  </a:txBody>
                  <a:tcPr anchor="ctr" marL="137160" marR="137160" marT="36576" marB="36576">
                    <a:solidFill>
                      <a:srgbClr val="0E2A47"/>
                    </a:solidFill>
                  </a:tcPr>
                </a:tc>
                <a:tc>
                  <a:txBody>
                    <a:bodyPr wrap="square"/>
                    <a:lstStyle/>
                    <a:p>
                      <a:r>
                        <a:rPr sz="1300" b="1">
                          <a:solidFill>
                            <a:srgbClr val="FFFFFF"/>
                          </a:solidFill>
                          <a:latin typeface="Calibri"/>
                        </a:rPr>
                        <a:t>Evidence in this work</a:t>
                      </a:r>
                    </a:p>
                  </a:txBody>
                  <a:tcPr anchor="ctr" marL="137160" marR="137160" marT="36576" marB="36576">
                    <a:solidFill>
                      <a:srgbClr val="0E2A47"/>
                    </a:solidFill>
                  </a:tcPr>
                </a:tc>
                <a:tc>
                  <a:txBody>
                    <a:bodyPr wrap="square"/>
                    <a:lstStyle/>
                    <a:p>
                      <a:r>
                        <a:rPr sz="1300" b="1">
                          <a:solidFill>
                            <a:srgbClr val="FFFFFF"/>
                          </a:solidFill>
                          <a:latin typeface="Calibri"/>
                        </a:rPr>
                        <a:t>Where</a:t>
                      </a:r>
                    </a:p>
                  </a:txBody>
                  <a:tcPr anchor="ctr" marL="137160" marR="137160" marT="36576" marB="36576">
                    <a:solidFill>
                      <a:srgbClr val="0E2A47"/>
                    </a:solidFill>
                  </a:tcPr>
                </a:tc>
              </a:tr>
              <a:tr h="585216">
                <a:tc>
                  <a:txBody>
                    <a:bodyPr wrap="square"/>
                    <a:lstStyle/>
                    <a:p>
                      <a:r>
                        <a:rPr sz="1400" b="1">
                          <a:solidFill>
                            <a:srgbClr val="0E2A47"/>
                          </a:solidFill>
                          <a:latin typeface="Calibri"/>
                        </a:rPr>
                        <a:t>Multi-omic integration frameworks</a:t>
                      </a:r>
                    </a:p>
                  </a:txBody>
                  <a:tcPr anchor="ctr" marL="137160" marR="137160" marT="36576" marB="36576">
                    <a:solidFill>
                      <a:srgbClr val="FFFFFF"/>
                    </a:solidFill>
                  </a:tcPr>
                </a:tc>
                <a:tc>
                  <a:txBody>
                    <a:bodyPr wrap="square"/>
                    <a:lstStyle/>
                    <a:p>
                      <a:r>
                        <a:rPr sz="1400" b="0">
                          <a:solidFill>
                            <a:srgbClr val="14171C"/>
                          </a:solidFill>
                          <a:latin typeface="Calibri"/>
                        </a:rPr>
                        <a:t>Stacked ensemble over four omics layers with PLS‑DA latent variables; accessibility joined with methylation and histone marks</a:t>
                      </a:r>
                    </a:p>
                  </a:txBody>
                  <a:tcPr anchor="ctr" marL="137160" marR="137160" marT="36576" marB="36576">
                    <a:solidFill>
                      <a:srgbClr val="FFFFFF"/>
                    </a:solidFill>
                  </a:tcPr>
                </a:tc>
                <a:tc>
                  <a:txBody>
                    <a:bodyPr wrap="square"/>
                    <a:lstStyle/>
                    <a:p>
                      <a:r>
                        <a:rPr sz="1400" b="0">
                          <a:solidFill>
                            <a:srgbClr val="14171C"/>
                          </a:solidFill>
                          <a:latin typeface="Calibri"/>
                        </a:rPr>
                        <a:t>Slides 7–9, 15</a:t>
                      </a:r>
                    </a:p>
                  </a:txBody>
                  <a:tcPr anchor="ctr" marL="137160" marR="137160" marT="36576" marB="36576">
                    <a:solidFill>
                      <a:srgbClr val="FFFFFF"/>
                    </a:solidFill>
                  </a:tcPr>
                </a:tc>
              </a:tr>
              <a:tr h="585216">
                <a:tc>
                  <a:txBody>
                    <a:bodyPr wrap="square"/>
                    <a:lstStyle/>
                    <a:p>
                      <a:r>
                        <a:rPr sz="1400" b="1">
                          <a:solidFill>
                            <a:srgbClr val="0E2A47"/>
                          </a:solidFill>
                          <a:latin typeface="Calibri"/>
                        </a:rPr>
                        <a:t>Predictive and prognostic biomarker models</a:t>
                      </a:r>
                    </a:p>
                  </a:txBody>
                  <a:tcPr anchor="ctr" marL="137160" marR="137160" marT="36576" marB="36576">
                    <a:solidFill>
                      <a:srgbClr val="F3F5F8"/>
                    </a:solidFill>
                  </a:tcPr>
                </a:tc>
                <a:tc>
                  <a:txBody>
                    <a:bodyPr wrap="square"/>
                    <a:lstStyle/>
                    <a:p>
                      <a:r>
                        <a:rPr sz="1400" b="0">
                          <a:solidFill>
                            <a:srgbClr val="14171C"/>
                          </a:solidFill>
                          <a:latin typeface="Calibri"/>
                        </a:rPr>
                        <a:t>Survival classifier with test AUC 0.89; biomarkers traced to hub genes and miRNA regulators</a:t>
                      </a:r>
                    </a:p>
                  </a:txBody>
                  <a:tcPr anchor="ctr" marL="137160" marR="137160" marT="36576" marB="36576">
                    <a:solidFill>
                      <a:srgbClr val="F3F5F8"/>
                    </a:solidFill>
                  </a:tcPr>
                </a:tc>
                <a:tc>
                  <a:txBody>
                    <a:bodyPr wrap="square"/>
                    <a:lstStyle/>
                    <a:p>
                      <a:r>
                        <a:rPr sz="1400" b="0">
                          <a:solidFill>
                            <a:srgbClr val="14171C"/>
                          </a:solidFill>
                          <a:latin typeface="Calibri"/>
                        </a:rPr>
                        <a:t>Slides 8, 10–11</a:t>
                      </a:r>
                    </a:p>
                  </a:txBody>
                  <a:tcPr anchor="ctr" marL="137160" marR="137160" marT="36576" marB="36576">
                    <a:solidFill>
                      <a:srgbClr val="F3F5F8"/>
                    </a:solidFill>
                  </a:tcPr>
                </a:tc>
              </a:tr>
              <a:tr h="585216">
                <a:tc>
                  <a:txBody>
                    <a:bodyPr wrap="square"/>
                    <a:lstStyle/>
                    <a:p>
                      <a:r>
                        <a:rPr sz="1400" b="1">
                          <a:solidFill>
                            <a:srgbClr val="0E2A47"/>
                          </a:solidFill>
                          <a:latin typeface="Calibri"/>
                        </a:rPr>
                        <a:t>Deep learning and generative models</a:t>
                      </a:r>
                    </a:p>
                  </a:txBody>
                  <a:tcPr anchor="ctr" marL="137160" marR="137160" marT="36576" marB="36576">
                    <a:solidFill>
                      <a:srgbClr val="FFFFFF"/>
                    </a:solidFill>
                  </a:tcPr>
                </a:tc>
                <a:tc>
                  <a:txBody>
                    <a:bodyPr wrap="square"/>
                    <a:lstStyle/>
                    <a:p>
                      <a:r>
                        <a:rPr sz="1400" b="0">
                          <a:solidFill>
                            <a:srgbClr val="14171C"/>
                          </a:solidFill>
                          <a:latin typeface="Calibri"/>
                        </a:rPr>
                        <a:t>VAE and autoencoder in PyTorch, tuned with Optuna; prototype status and open validation gap stated plainly</a:t>
                      </a:r>
                    </a:p>
                  </a:txBody>
                  <a:tcPr anchor="ctr" marL="137160" marR="137160" marT="36576" marB="36576">
                    <a:solidFill>
                      <a:srgbClr val="FFFFFF"/>
                    </a:solidFill>
                  </a:tcPr>
                </a:tc>
                <a:tc>
                  <a:txBody>
                    <a:bodyPr wrap="square"/>
                    <a:lstStyle/>
                    <a:p>
                      <a:r>
                        <a:rPr sz="1400" b="0">
                          <a:solidFill>
                            <a:srgbClr val="14171C"/>
                          </a:solidFill>
                          <a:latin typeface="Calibri"/>
                        </a:rPr>
                        <a:t>Slides 23, 25–26</a:t>
                      </a:r>
                    </a:p>
                  </a:txBody>
                  <a:tcPr anchor="ctr" marL="137160" marR="137160" marT="36576" marB="36576">
                    <a:solidFill>
                      <a:srgbClr val="FFFFFF"/>
                    </a:solidFill>
                  </a:tcPr>
                </a:tc>
              </a:tr>
              <a:tr h="585216">
                <a:tc>
                  <a:txBody>
                    <a:bodyPr wrap="square"/>
                    <a:lstStyle/>
                    <a:p>
                      <a:r>
                        <a:rPr sz="1400" b="1">
                          <a:solidFill>
                            <a:srgbClr val="0E2A47"/>
                          </a:solidFill>
                          <a:latin typeface="Calibri"/>
                        </a:rPr>
                        <a:t>Rigour, interpretability and validation</a:t>
                      </a:r>
                    </a:p>
                  </a:txBody>
                  <a:tcPr anchor="ctr" marL="137160" marR="137160" marT="36576" marB="36576">
                    <a:solidFill>
                      <a:srgbClr val="F3F5F8"/>
                    </a:solidFill>
                  </a:tcPr>
                </a:tc>
                <a:tc>
                  <a:txBody>
                    <a:bodyPr wrap="square"/>
                    <a:lstStyle/>
                    <a:p>
                      <a:r>
                        <a:rPr sz="1400" b="0">
                          <a:solidFill>
                            <a:srgbClr val="14171C"/>
                          </a:solidFill>
                          <a:latin typeface="Calibri"/>
                        </a:rPr>
                        <a:t>Hold-out test, 4-fold CV, 15 reshuffles and MCC; IDR, FDR thresholds and RT‑qPCR validation; limitations stated</a:t>
                      </a:r>
                    </a:p>
                  </a:txBody>
                  <a:tcPr anchor="ctr" marL="137160" marR="137160" marT="36576" marB="36576">
                    <a:solidFill>
                      <a:srgbClr val="F3F5F8"/>
                    </a:solidFill>
                  </a:tcPr>
                </a:tc>
                <a:tc>
                  <a:txBody>
                    <a:bodyPr wrap="square"/>
                    <a:lstStyle/>
                    <a:p>
                      <a:r>
                        <a:rPr sz="1400" b="0">
                          <a:solidFill>
                            <a:srgbClr val="14171C"/>
                          </a:solidFill>
                          <a:latin typeface="Calibri"/>
                        </a:rPr>
                        <a:t>Slides 9, 12, 15–18, 26</a:t>
                      </a:r>
                    </a:p>
                  </a:txBody>
                  <a:tcPr anchor="ctr" marL="137160" marR="137160" marT="36576" marB="36576">
                    <a:solidFill>
                      <a:srgbClr val="F3F5F8"/>
                    </a:solidFill>
                  </a:tcPr>
                </a:tc>
              </a:tr>
              <a:tr h="585216">
                <a:tc>
                  <a:txBody>
                    <a:bodyPr wrap="square"/>
                    <a:lstStyle/>
                    <a:p>
                      <a:r>
                        <a:rPr sz="1400" b="1">
                          <a:solidFill>
                            <a:srgbClr val="0E2A47"/>
                          </a:solidFill>
                          <a:latin typeface="Calibri"/>
                        </a:rPr>
                        <a:t>Reusable, reproducible code</a:t>
                      </a:r>
                    </a:p>
                  </a:txBody>
                  <a:tcPr anchor="ctr" marL="137160" marR="137160" marT="36576" marB="36576">
                    <a:solidFill>
                      <a:srgbClr val="FFFFFF"/>
                    </a:solidFill>
                  </a:tcPr>
                </a:tc>
                <a:tc>
                  <a:txBody>
                    <a:bodyPr wrap="square"/>
                    <a:lstStyle/>
                    <a:p>
                      <a:r>
                        <a:rPr sz="1400" b="0">
                          <a:solidFill>
                            <a:srgbClr val="14171C"/>
                          </a:solidFill>
                          <a:latin typeface="Calibri"/>
                        </a:rPr>
                        <a:t>ConnectOME on GitHub; DVC, MLflow and params-driven runs; chromatin pipeline scripted in Bash and Python</a:t>
                      </a:r>
                    </a:p>
                  </a:txBody>
                  <a:tcPr anchor="ctr" marL="137160" marR="137160" marT="36576" marB="36576">
                    <a:solidFill>
                      <a:srgbClr val="FFFFFF"/>
                    </a:solidFill>
                  </a:tcPr>
                </a:tc>
                <a:tc>
                  <a:txBody>
                    <a:bodyPr wrap="square"/>
                    <a:lstStyle/>
                    <a:p>
                      <a:r>
                        <a:rPr sz="1400" b="0">
                          <a:solidFill>
                            <a:srgbClr val="14171C"/>
                          </a:solidFill>
                          <a:latin typeface="Calibri"/>
                        </a:rPr>
                        <a:t>Slides 10, 15, 21, 24</a:t>
                      </a:r>
                    </a:p>
                  </a:txBody>
                  <a:tcPr anchor="ctr" marL="137160" marR="137160" marT="36576" marB="36576">
                    <a:solidFill>
                      <a:srgbClr val="FFFFFF"/>
                    </a:solidFill>
                  </a:tcPr>
                </a:tc>
              </a:tr>
              <a:tr h="585216">
                <a:tc>
                  <a:txBody>
                    <a:bodyPr wrap="square"/>
                    <a:lstStyle/>
                    <a:p>
                      <a:r>
                        <a:rPr sz="1400" b="1">
                          <a:solidFill>
                            <a:srgbClr val="0E2A47"/>
                          </a:solidFill>
                          <a:latin typeface="Calibri"/>
                        </a:rPr>
                        <a:t>NGS and epigenomic data types</a:t>
                      </a:r>
                    </a:p>
                  </a:txBody>
                  <a:tcPr anchor="ctr" marL="137160" marR="137160" marT="36576" marB="36576">
                    <a:solidFill>
                      <a:srgbClr val="F3F5F8"/>
                    </a:solidFill>
                  </a:tcPr>
                </a:tc>
                <a:tc>
                  <a:txBody>
                    <a:bodyPr wrap="square"/>
                    <a:lstStyle/>
                    <a:p>
                      <a:r>
                        <a:rPr sz="1400" b="0">
                          <a:solidFill>
                            <a:srgbClr val="14171C"/>
                          </a:solidFill>
                          <a:latin typeface="Calibri"/>
                        </a:rPr>
                        <a:t>Open-chromatin profiling from raw reads to peaks, differential sites and motifs; single-nucleus and single-cell RNA-seq in the deconvolution work</a:t>
                      </a:r>
                    </a:p>
                  </a:txBody>
                  <a:tcPr anchor="ctr" marL="137160" marR="137160" marT="36576" marB="36576">
                    <a:solidFill>
                      <a:srgbClr val="F3F5F8"/>
                    </a:solidFill>
                  </a:tcPr>
                </a:tc>
                <a:tc>
                  <a:txBody>
                    <a:bodyPr wrap="square"/>
                    <a:lstStyle/>
                    <a:p>
                      <a:r>
                        <a:rPr sz="1400" b="0">
                          <a:solidFill>
                            <a:srgbClr val="14171C"/>
                          </a:solidFill>
                          <a:latin typeface="Calibri"/>
                        </a:rPr>
                        <a:t>Slides 14–18, 20</a:t>
                      </a:r>
                    </a:p>
                  </a:txBody>
                  <a:tcPr anchor="ctr" marL="137160" marR="137160" marT="36576" marB="36576">
                    <a:solidFill>
                      <a:srgbClr val="F3F5F8"/>
                    </a:solidFill>
                  </a:tcPr>
                </a:tc>
              </a:tr>
              <a:tr h="585216">
                <a:tc>
                  <a:txBody>
                    <a:bodyPr wrap="square"/>
                    <a:lstStyle/>
                    <a:p>
                      <a:r>
                        <a:rPr sz="1400" b="1">
                          <a:solidFill>
                            <a:srgbClr val="0E2A47"/>
                          </a:solidFill>
                          <a:latin typeface="Calibri"/>
                        </a:rPr>
                        <a:t>Peer-reviewed publications</a:t>
                      </a:r>
                    </a:p>
                  </a:txBody>
                  <a:tcPr anchor="ctr" marL="137160" marR="137160" marT="36576" marB="36576">
                    <a:solidFill>
                      <a:srgbClr val="FFFFFF"/>
                    </a:solidFill>
                  </a:tcPr>
                </a:tc>
                <a:tc>
                  <a:txBody>
                    <a:bodyPr wrap="square"/>
                    <a:lstStyle/>
                    <a:p>
                      <a:r>
                        <a:rPr sz="1400" b="0">
                          <a:solidFill>
                            <a:srgbClr val="14171C"/>
                          </a:solidFill>
                          <a:latin typeface="Calibri"/>
                        </a:rPr>
                        <a:t>First author, Informatics in Medicine Unlocked 47 (2024) 101507. Co-author, The Plant Journal 119 (2024) 2063–2079</a:t>
                      </a:r>
                    </a:p>
                  </a:txBody>
                  <a:tcPr anchor="ctr" marL="137160" marR="137160" marT="36576" marB="36576">
                    <a:solidFill>
                      <a:srgbClr val="FFFFFF"/>
                    </a:solidFill>
                  </a:tcPr>
                </a:tc>
                <a:tc>
                  <a:txBody>
                    <a:bodyPr wrap="square"/>
                    <a:lstStyle/>
                    <a:p>
                      <a:r>
                        <a:rPr sz="1400" b="0">
                          <a:solidFill>
                            <a:srgbClr val="14171C"/>
                          </a:solidFill>
                          <a:latin typeface="Calibri"/>
                        </a:rPr>
                        <a:t>Slide 1</a:t>
                      </a:r>
                    </a:p>
                  </a:txBody>
                  <a:tcPr anchor="ctr" marL="137160" marR="137160" marT="36576" marB="36576">
                    <a:solidFill>
                      <a:srgbClr val="FFFFFF"/>
                    </a:solidFill>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