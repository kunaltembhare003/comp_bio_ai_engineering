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AUC</c:v>
                </c:pt>
              </c:strCache>
            </c:strRef>
          </c:tx>
          <c:dPt>
            <c:idx val="0"/>
            <c:spPr>
              <a:solidFill>
                <a:srgbClr val="B8B7B0"/>
              </a:solidFill>
            </c:spPr>
          </c:dPt>
          <c:dPt>
            <c:idx val="1"/>
            <c:spPr>
              <a:solidFill>
                <a:srgbClr val="B8B7B0"/>
              </a:solidFill>
            </c:spPr>
          </c:dPt>
          <c:dPt>
            <c:idx val="2"/>
            <c:spPr>
              <a:solidFill>
                <a:srgbClr val="B8B7B0"/>
              </a:solidFill>
            </c:spPr>
          </c:dPt>
          <c:dPt>
            <c:idx val="3"/>
            <c:spPr>
              <a:solidFill>
                <a:srgbClr val="2A78D6"/>
              </a:solidFill>
            </c:spPr>
          </c:dPt>
          <c:cat>
            <c:strRef>
              <c:f>Sheet1!$A$2:$A$5</c:f>
              <c:strCache>
                <c:ptCount val="4"/>
                <c:pt idx="0">
                  <c:v>Wang 2020 (deep learning)</c:v>
                </c:pt>
                <c:pt idx="1">
                  <c:v>Malik 2021 (deep learning)</c:v>
                </c:pt>
                <c:pt idx="2">
                  <c:v>Mitchel 2019 (SVM)</c:v>
                </c:pt>
                <c:pt idx="3">
                  <c:v>This work (SVM + PLS-DA)</c:v>
                </c:pt>
              </c:strCache>
            </c:strRef>
          </c:cat>
          <c:val>
            <c:numRef>
              <c:f>Sheet1!$B$2:$B$5</c:f>
              <c:numCache>
                <c:formatCode>General</c:formatCode>
                <c:ptCount val="4"/>
                <c:pt idx="0">
                  <c:v>0.93</c:v>
                </c:pt>
                <c:pt idx="1">
                  <c:v>0.98</c:v>
                </c:pt>
                <c:pt idx="2">
                  <c:v>0.87</c:v>
                </c:pt>
                <c:pt idx="3">
                  <c:v>0.89</c:v>
                </c:pt>
              </c:numCache>
            </c:numRef>
          </c:val>
        </c:ser>
        <c:dLbls>
          <c:numFmt formatCode="0.00" sourceLinked="0"/>
          <c:txPr>
            <a:bodyPr/>
            <a:lstStyle/>
            <a:p>
              <a:pPr>
                <a:defRPr sz="1300" b="1">
                  <a:solidFill>
                    <a:srgbClr val="1417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DAD9D2"/>
            </a:solidFill>
          </a:ln>
        </c:spPr>
        <c:txPr>
          <a:bodyPr/>
          <a:lstStyle/>
          <a:p>
            <a:pPr>
              <a:defRPr sz="1250">
                <a:solidFill>
                  <a:srgbClr val="14171C"/>
                </a:solidFill>
              </a:defRPr>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Accuracy</c:v>
                </c:pt>
              </c:strCache>
            </c:strRef>
          </c:tx>
          <c:dPt>
            <c:idx val="0"/>
            <c:spPr>
              <a:solidFill>
                <a:srgbClr val="B8B7B0"/>
              </a:solidFill>
            </c:spPr>
          </c:dPt>
          <c:dPt>
            <c:idx val="1"/>
            <c:spPr>
              <a:solidFill>
                <a:srgbClr val="B8B7B0"/>
              </a:solidFill>
            </c:spPr>
          </c:dPt>
          <c:dPt>
            <c:idx val="2"/>
            <c:spPr>
              <a:solidFill>
                <a:srgbClr val="B8B7B0"/>
              </a:solidFill>
            </c:spPr>
          </c:dPt>
          <c:dPt>
            <c:idx val="3"/>
            <c:spPr>
              <a:solidFill>
                <a:srgbClr val="2A78D6"/>
              </a:solidFill>
            </c:spPr>
          </c:dPt>
          <c:cat>
            <c:strRef>
              <c:f>Sheet1!$A$2:$A$5</c:f>
              <c:strCache>
                <c:ptCount val="4"/>
                <c:pt idx="0">
                  <c:v>Wang 2020 (deep learning)</c:v>
                </c:pt>
                <c:pt idx="1">
                  <c:v>Malik 2021 (deep learning)</c:v>
                </c:pt>
                <c:pt idx="2">
                  <c:v>Mitchel 2019 (SVM)</c:v>
                </c:pt>
                <c:pt idx="3">
                  <c:v>This work (SVM + PLS-DA)</c:v>
                </c:pt>
              </c:strCache>
            </c:strRef>
          </c:cat>
          <c:val>
            <c:numRef>
              <c:f>Sheet1!$B$2:$B$5</c:f>
              <c:numCache>
                <c:formatCode>General</c:formatCode>
                <c:ptCount val="4"/>
                <c:pt idx="0">
                  <c:v>0.79</c:v>
                </c:pt>
                <c:pt idx="1">
                  <c:v>0.94</c:v>
                </c:pt>
                <c:pt idx="2">
                  <c:v>0.85</c:v>
                </c:pt>
                <c:pt idx="3">
                  <c:v>0.83</c:v>
                </c:pt>
              </c:numCache>
            </c:numRef>
          </c:val>
        </c:ser>
        <c:dLbls>
          <c:numFmt formatCode="0.00" sourceLinked="0"/>
          <c:txPr>
            <a:bodyPr/>
            <a:lstStyle/>
            <a:p>
              <a:pPr>
                <a:defRPr sz="1300" b="1">
                  <a:solidFill>
                    <a:srgbClr val="1417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DAD9D2"/>
            </a:solidFill>
          </a:ln>
        </c:spPr>
        <c:txPr>
          <a:bodyPr/>
          <a:lstStyle/>
          <a:p>
            <a:pPr>
              <a:defRPr sz="1250">
                <a:solidFill>
                  <a:srgbClr val="14171C"/>
                </a:solidFill>
              </a:defRPr>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N22 (tolerant)</c:v>
                </c:pt>
              </c:strCache>
            </c:strRef>
          </c:tx>
          <c:spPr>
            <a:solidFill>
              <a:srgbClr val="2A78D6"/>
            </a:solidFill>
          </c:spPr>
          <c:cat>
            <c:strRef>
              <c:f>Sheet1!$A$2:$A$3</c:f>
              <c:strCache>
                <c:ptCount val="2"/>
                <c:pt idx="0">
                  <c:v>Control</c:v>
                </c:pt>
                <c:pt idx="1">
                  <c:v>Drought</c:v>
                </c:pt>
              </c:strCache>
            </c:strRef>
          </c:cat>
          <c:val>
            <c:numRef>
              <c:f>Sheet1!$B$2:$B$3</c:f>
              <c:numCache>
                <c:formatCode>General</c:formatCode>
                <c:ptCount val="2"/>
                <c:pt idx="0">
                  <c:v>4678</c:v>
                </c:pt>
                <c:pt idx="1">
                  <c:v>10076</c:v>
                </c:pt>
              </c:numCache>
            </c:numRef>
          </c:val>
        </c:ser>
        <c:ser>
          <c:idx val="1"/>
          <c:order val="1"/>
          <c:tx>
            <c:strRef>
              <c:f>Sheet1!$C$1</c:f>
              <c:strCache>
                <c:ptCount val="1"/>
                <c:pt idx="0">
                  <c:v>IR64 (sensitive)</c:v>
                </c:pt>
              </c:strCache>
            </c:strRef>
          </c:tx>
          <c:spPr>
            <a:solidFill>
              <a:srgbClr val="EB6834"/>
            </a:solidFill>
          </c:spPr>
          <c:cat>
            <c:strRef>
              <c:f>Sheet1!$A$2:$A$3</c:f>
              <c:strCache>
                <c:ptCount val="2"/>
                <c:pt idx="0">
                  <c:v>Control</c:v>
                </c:pt>
                <c:pt idx="1">
                  <c:v>Drought</c:v>
                </c:pt>
              </c:strCache>
            </c:strRef>
          </c:cat>
          <c:val>
            <c:numRef>
              <c:f>Sheet1!$C$2:$C$3</c:f>
              <c:numCache>
                <c:formatCode>General</c:formatCode>
                <c:ptCount val="2"/>
                <c:pt idx="0">
                  <c:v>1434</c:v>
                </c:pt>
                <c:pt idx="1">
                  <c:v>3670</c:v>
                </c:pt>
              </c:numCache>
            </c:numRef>
          </c:val>
        </c:ser>
        <c:dLbls>
          <c:numFmt formatCode="#,##0" sourceLinked="0"/>
          <c:txPr>
            <a:bodyPr/>
            <a:lstStyle/>
            <a:p>
              <a:pPr>
                <a:defRPr sz="1400" b="1">
                  <a:solidFill>
                    <a:srgbClr val="14171C"/>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none"/>
        <c:minorTickMark val="none"/>
        <c:tickLblPos val="nextTo"/>
        <c:spPr>
          <a:ln>
            <a:solidFill>
              <a:srgbClr val="DAD9D2"/>
            </a:solidFill>
          </a:ln>
        </c:spPr>
        <c:txPr>
          <a:bodyPr/>
          <a:lstStyle/>
          <a:p>
            <a:pPr>
              <a:defRPr sz="1400"/>
            </a:pPr>
          </a:p>
        </c:txPr>
        <c:crossAx val="-2113994440"/>
        <c:crosses val="autoZero"/>
        <c:auto val="1"/>
        <c:lblAlgn val="ctr"/>
        <c:lblOffset val="100"/>
        <c:noMultiLvlLbl val="0"/>
      </c:catAx>
      <c:valAx>
        <c:axId val="-2113994440"/>
        <c:scaling>
          <c:max val="11500.0"/>
          <c:min val="0.0"/>
        </c:scaling>
        <c:delete/>
        <c:axPos val="l"/>
        <c:majorTickMark val="out"/>
        <c:minorTickMark val="none"/>
        <c:tickLblPos val="nextTo"/>
        <c:crossAx val="-2068027336"/>
        <c:crosses val="autoZero"/>
      </c:valAx>
    </c:plotArea>
    <c:legend>
      <c:legendPos val="b"/>
      <c:overlay val="0"/>
      <c:txPr>
        <a:bodyPr/>
        <a:lstStyle/>
        <a:p>
          <a:pPr>
            <a:defRPr sz="1300"/>
          </a:pPr>
        </a:p>
      </c:txPr>
    </c:legend>
    <c:dispBlanksAs val="gap"/>
  </c:chart>
  <c:txPr>
    <a:bodyPr/>
    <a:lstStyle/>
    <a:p>
      <a:pPr>
        <a:defRPr sz="13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Thank you for the time. I'm Kunal Tembhare, and I'll walk you through four pieces of work, in order of maturity.</a:t>
            </a:r>
          </a:p>
          <a:p>
            <a:r>
              <a:t>[Point at the panels] Part 1 is a survival model for breast cancer, built on four kinds of omics data. I was first author on the published paper. Part 2 is a chromatin accessibility study in rice under drought. I'm a co-author, and I did the sequencing data analysis. Part 3 is a prototype that tries to recover cell types from bulk RNA-seq, using a variational autoencoder. Part 4 is a generative AI system: a multi-agent compliance assistant that uses retrieval, tools and tracing.</a:t>
            </a:r>
          </a:p>
          <a:p>
            <a:r>
              <a:t>For each one, I'll show what I built, how I checked it, and where its limits are. I'll be direct about what is proven and what isn't.</a:t>
            </a:r>
          </a:p>
          <a:p>
            <a:r>
              <a:t>The talk runs about forty minutes, and I've left time at the end for your questions. Everything maps back to the role description, and the last slide pulls that together.</a:t>
            </a:r>
          </a:p>
          <a:p/>
          <a:p>
            <a:r>
              <a:t>IF SHORT ON TIME (30 s): Four projects in order of maturity: a published survival model, a published rice chromatin study, a deconvolution prototype and a generative AI system. For each: what I built, how I checked it, where the limits are.</a:t>
            </a:r>
          </a:p>
          <a:p/>
          <a:p>
            <a:r>
              <a:t>FOR YOU: Adjust the greeting to the time of day. Say 'co-author' for Part 2. For Part 4, be exact about your own share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Before the detail, here is the map.</a:t>
            </a:r>
          </a:p>
          <a:p>
            <a:r>
              <a:t>[Point at the four cards] Four projects, at four levels of maturity. Parts 1 and 2 are published, in 2024. Part 3 is a research prototype, and I'll say so up front. Part 4 is an enterprise generative AI system.</a:t>
            </a:r>
          </a:p>
          <a:p>
            <a:r>
              <a:t>[Point at the chips] The role asks for six things: multi-omic integration, biomarker models, deep learning and generative models, generative AI and agents, NGS and epigenomics, and reproducible code.</a:t>
            </a:r>
          </a:p>
          <a:p>
            <a:r>
              <a:t>Part 1 covers multi-omic integration and biomarker models. Part 2 covers NGS and epigenomics. Part 3 covers deep learning on transcriptomics. Part 4 covers generative AI and agents. Reproducible code runs through all four.</a:t>
            </a:r>
          </a:p>
          <a:p>
            <a:r>
              <a:t>Each card shows the slide numbers where that part lives. The last slide, number 34, lines up each requirement against the evidence.</a:t>
            </a:r>
          </a:p>
          <a:p>
            <a:r>
              <a:t>Two things to expect from me. I will state limits as I go, and I will flag where I don't have numbers yet.</a:t>
            </a:r>
          </a:p>
          <a:p>
            <a:r>
              <a:t>Let's start with Part 1.</a:t>
            </a:r>
          </a:p>
          <a:p/>
          <a:p>
            <a:r>
              <a:t>IF SHORT ON TIME (30 s): Four projects: two published, one prototype, one enterprise system. Together they cover the six things the role asks for, and slide 34 maps each to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Part 1 is the multi-omics survival model, called ConnectOME.</a:t>
            </a:r>
          </a:p>
          <a:p>
            <a:r>
              <a:t>[Point at the numbers] Three numbers frame it: 302 patients, an AUC of 0.89, and eight hub genes.</a:t>
            </a:r>
          </a:p>
          <a:p>
            <a:r>
              <a:t>The question was this: can data from four molecular layers, gene expression, miRNA, DNA methylation and copy number, predict whether a breast cancer patient survives beyond five years? And can the model tell us which genes are behind the prediction?</a:t>
            </a:r>
          </a:p>
          <a:p>
            <a:r>
              <a:t>I was first author. My contributions were the software, the analysis, the data curation and the first draft. The paper is in Informatics in Medicine Unlocked, and the code is public on GitHub.</a:t>
            </a:r>
          </a:p>
          <a:p>
            <a:r>
              <a:t>I'll spend about eleven minutes here, because this is the most fully validated piece of work. I'll go through the problem, the data, the method, the framework, the results, and what the experiments taught us. Then the biology: hub genes, miRNAs, and a process called nonsense-mediated decay. I'll finish with the limits and what I'd do next.</a:t>
            </a:r>
          </a:p>
          <a:p/>
          <a:p>
            <a:r>
              <a:t>IF SHORT ON TIME (30 s): Part 1: a survival model on four omics layers. 302 patients, AUC 0.89, eight hub genes. First author, code on GitHub.</a:t>
            </a:r>
          </a:p>
          <a:p/>
          <a:p>
            <a:r>
              <a:t>FOR YOU: To stay on the 50-minute plan, use the 30-second version on dividers. That saves about 3 minutes across the four dividers.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Why is this hard?</a:t>
            </a:r>
          </a:p>
          <a:p>
            <a:r>
              <a:t>[Point at the three cards] First, few patients and many features. We have thousands of measurements per patient, but only 302 patients. With that ratio, overfitting is the default: a model memorises the training set and fails on new patients.</a:t>
            </a:r>
          </a:p>
          <a:p>
            <a:r>
              <a:t>Second, there is a tension between selecting features and keeping interpretation. If you pick a few genes with a simple filter, you lose how they work together. If you compress everything into latent variables, you keep the information, but it's hard to say what it means.</a:t>
            </a:r>
          </a:p>
          <a:p>
            <a:r>
              <a:t>Third, deep learning gives accuracy without insight. It can score well on survival prediction, but it's a black box and gives no actionable biomarkers.</a:t>
            </a:r>
          </a:p>
          <a:p>
            <a:r>
              <a:t>[Point at the navy panel] So the objective was specific: predict whether a patient survives beyond five years from four omics layers, and recover the biomarkers and the gene network behind the prediction.</a:t>
            </a:r>
          </a:p>
          <a:p>
            <a:r>
              <a:t>The approach combines simple filters with PLS-DA latent variables in a stacked ensemble, and then follows up with pathway, network and miRNA analysis.</a:t>
            </a:r>
          </a:p>
          <a:p/>
          <a:p>
            <a:r>
              <a:t>IF SHORT ON TIME (30 s): Few patients, many features, and a trade-off between selection and interpretation. Deep learning is accurate but opaque. So we predict five-year survival and recover the biomarkers and network behind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The cohort comes from TCGA, The Cancer Genome Atlas.</a:t>
            </a:r>
          </a:p>
          <a:p>
            <a:r>
              <a:t>[Point at the left side] We started with 1,026 women with ductal or lobular carcinoma and at least five years of survival information. Only 302 had all four omics layers plus clinical data, so those are our cohort. That is a big drop, and I'll come back to it as a limitation.</a:t>
            </a:r>
          </a:p>
          <a:p>
            <a:r>
              <a:t>The classes are imbalanced: 220 long survivors and 82 short, about 73 to 27. That matters for how we measure performance.</a:t>
            </a:r>
          </a:p>
          <a:p>
            <a:r>
              <a:t>We used 85 percent for training and tuning, with four-fold cross-validation, and kept 15 percent, 46 patients, as a held-out test set that the model never saw.</a:t>
            </a:r>
          </a:p>
          <a:p>
            <a:r>
              <a:t>[Point at the right side] The four layers look different statistically. Gene expression and miRNA are continuous. Methylation is a value between zero and one. Copy number is discrete: loss, neutral or gain.</a:t>
            </a:r>
          </a:p>
          <a:p>
            <a:r>
              <a:t>That is why scaling and modelling choices mattered, and why copy number later behaved differently from the other layers.</a:t>
            </a:r>
          </a:p>
          <a:p/>
          <a:p>
            <a:r>
              <a:t>IF SHORT ON TIME (30 s): TCGA breast cancer: 1,026 patients, 302 with all four layers. 220 long and 82 short survivors. 256 for training, 46 held out for testing. Four layers with different data types.</a:t>
            </a:r>
          </a:p>
          <a:p/>
          <a:p>
            <a:r>
              <a:t>FOR YOU: Know the funnel and split: 1,026 to 302; 220 and 82; 256 train and 46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slide is about judgement, not tooling.</a:t>
            </a:r>
          </a:p>
          <a:p>
            <a:r>
              <a:t>[Point at steps 1 to 4] First, cleaning: we removed features with missing values and kept protein-coding genes for expression and copy number. Second, scaling: we tried row-mean centering with Frobenius normalisation, and plain min-max scaling performed better, so we used that.</a:t>
            </a:r>
          </a:p>
          <a:p>
            <a:r>
              <a:t>Third, feature selection per layer. We ranked features with a t-test, chi-squared, mutual information and mRMR, and required them to hold up across all four cross-validation folds.</a:t>
            </a:r>
          </a:p>
          <a:p>
            <a:r>
              <a:t>Fourth, and this is the important one, we capped the number of features at the point where training and test performance started to diverge. That removed overfitting in the SVM models.</a:t>
            </a:r>
          </a:p>
          <a:p>
            <a:r>
              <a:t>[Point at the right panel] The best filter differed by layer: the t-test for gene expression, and mutual information for miRNA, methylation and copy number.</a:t>
            </a:r>
          </a:p>
          <a:p>
            <a:r>
              <a:t>And random forest kept overfitting, even with capped feature sets. The training-test gap in accuracy and AUC stayed large, and that shaped which model we chose.</a:t>
            </a:r>
          </a:p>
          <a:p>
            <a:r>
              <a:t>In short: simple filters, honestly validated, with a hard cap on how many features the model sees.</a:t>
            </a:r>
          </a:p>
          <a:p/>
          <a:p>
            <a:r>
              <a:t>IF SHORT ON TIME (30 s): We cleaned, scaled with min-max, ranked features per layer, and capped the feature count where training and test performance diverged. That fixed overfitting in the SVM, but not in random forest.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is the architecture, and it's the one diagram I'd ask you to remember.</a:t>
            </a:r>
          </a:p>
          <a:p>
            <a:r>
              <a:t>[Trace left to right] On the left, the four omics layers. Each layer goes down two branches.</a:t>
            </a:r>
          </a:p>
          <a:p>
            <a:r>
              <a:t>Branch A takes the top-ranked features and trains a support vector machine or a random forest, one model per layer.</a:t>
            </a:r>
          </a:p>
          <a:p>
            <a:r>
              <a:t>Branch B takes between five hundred and two thousand features per layer and trains a PLS-DA model, which compresses them into a few latent variables that track the survival label. The purpose of branch B is to recover information that a small feature set throws away.</a:t>
            </a:r>
          </a:p>
          <a:p>
            <a:r>
              <a:t>Both branches output predicted probabilities.</a:t>
            </a:r>
          </a:p>
          <a:p>
            <a:r>
              <a:t>[Point at the navy box] A meta-model, an SVM or a random forest, learns from those stacked probabilities and makes the final call: long or short survival.</a:t>
            </a:r>
          </a:p>
          <a:p>
            <a:r>
              <a:t>We tested three pipelines: SVM with PLS-DA, random forest with PLS-DA, and SVM with random forest. SVM with PLS-DA was the best.</a:t>
            </a:r>
          </a:p>
          <a:p>
            <a:r>
              <a:t>One footnote: copy number lowered SVM performance, so it is only used in the random forest pipeline.</a:t>
            </a:r>
          </a:p>
          <a:p/>
          <a:p>
            <a:r>
              <a:t>IF SHORT ON TIME (30 s): Each layer feeds two branches: a feature-selected SVM or random forest, and a PLS-DA model. A meta-model combines their probabilities. SVM with PLS-DA was the best of three pipelines.</a:t>
            </a:r>
          </a:p>
          <a:p/>
          <a:p>
            <a:r>
              <a:t>FOR YOU: Be ready to draw this from memory. It is Fig. 1 of the paper.</a:t>
            </a:r>
          </a:p>
          <a:p/>
          <a:p>
            <a:r>
              <a:t>LIKELY QUESTIONS</a:t>
            </a:r>
          </a:p>
          <a:p>
            <a:r>
              <a:t>What is stacking? Base models make predictions, and a second model learns from those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Now the result.</a:t>
            </a:r>
          </a:p>
          <a:p>
            <a:r>
              <a:t>[Point at the three tiles] The best model, SVM with PLS-DA, reached an AUC of 0.89 and an accuracy of 0.83 on the held-out test set of 46 patients the model had never seen. It used three layers: gene expression, miRNA and DNA methylation.</a:t>
            </a:r>
          </a:p>
          <a:p>
            <a:r>
              <a:t>[Point at the charts] Here it is against published models. The deep learning model from Wang is higher on AUC, 0.93, but lower on accuracy, 0.79. The one from Malik is higher on both, 0.98 and 0.94. The earlier SVM model from Mitchel has slightly higher accuracy, 0.85, and a lower AUC, 0.87.</a:t>
            </a:r>
          </a:p>
          <a:p>
            <a:r>
              <a:t>I want to be careful here: the cohorts and splits differ between studies, so this is context, not a head-to-head benchmark.</a:t>
            </a:r>
          </a:p>
          <a:p>
            <a:r>
              <a:t>What our model offers that the deep learning models don't is interpretability. It gives us biomarkers, hub genes and network context. That is the trade-off the paper argues for: a small cost in raw score for an explanation you can act on.</a:t>
            </a:r>
          </a:p>
          <a:p/>
          <a:p>
            <a:r>
              <a:t>IF SHORT ON TIME (30 s): AUC 0.89 and accuracy 0.83 on 46 unseen patients. Deep learning models report higher scores in places, but they give no biomarkers. Cohorts differ, so it is context, not a benchmark.</a:t>
            </a:r>
          </a:p>
          <a:p/>
          <a:p>
            <a:r>
              <a:t>FOR YOU: Say that deep learning scores higher before anyone asks. Source is Table 3 of the paper.</a:t>
            </a:r>
          </a:p>
          <a:p/>
          <a:p>
            <a:r>
              <a:t>LIKELY QUESTIONS</a:t>
            </a:r>
          </a:p>
          <a:p>
            <a:r>
              <a:t>Why not deep learning? It gives no actionable biomarkers; this model gives features, hub genes and network context.</a:t>
            </a:r>
          </a:p>
          <a:p>
            <a:r>
              <a:t>Is 46 patients enough? It is small. One patient is about two points of accuracy. The fifteen reshuffles help with stability. There is no external cohort.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slide is about why the best raw number wasn't the model we chose.</a:t>
            </a:r>
          </a:p>
          <a:p>
            <a:r>
              <a:t>[Top left] Random forest scored higher on some numbers, but it overfit. The gap between training and test accuracy and AUC was far larger than for the SVM, and its predicted probabilities on training data were inflated. We judged it less likely to generalise.</a:t>
            </a:r>
          </a:p>
          <a:p>
            <a:r>
              <a:t>[Top right] Adding the PLS-DA latent variables improved the SVM models built on one to three layers. We didn't see the same gain for random forest.</a:t>
            </a:r>
          </a:p>
          <a:p>
            <a:r>
              <a:t>[Bottom left] More layers wasn't always better. Gene expression plus miRNA was the best pair, and adding methylation gave the best trio. But copy number, which is discrete, sharply lowered SVM performance, so we dropped it from the SVM pipelines.</a:t>
            </a:r>
          </a:p>
          <a:p>
            <a:r>
              <a:t>[Bottom right] And we validated beyond a single split: four-fold cross-validation to tune, fifteen reshuffles of the full dataset to check stability, with no considerable drop in test accuracy, and MCC reported alongside accuracy because of the class imbalance.</a:t>
            </a:r>
          </a:p>
          <a:p>
            <a:r>
              <a:t>Finally, gene expression was the best single layer for SVM, and miRNA for random forest.</a:t>
            </a:r>
          </a:p>
          <a:p/>
          <a:p>
            <a:r>
              <a:t>IF SHORT ON TIME (30 s): Random forest overfit, so we didn't choose it. PLS-DA improved the SVM. Copy number hurt SVM and was dropped. We checked stability with cross-validation, fifteen reshuffles and MCC.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Once the model had chosen its features, the next question was: what do they mean?</a:t>
            </a:r>
          </a:p>
          <a:p>
            <a:r>
              <a:t>[Top row] We started with 845 gene-expression biomarkers. 768 had annotations, and enrichment gave us 244 functional terms, with cancer pathways standing out. To see how these genes connect, we built a network from STRING, a database of protein interactions: 768 genes, 4,221 interactions, four modules. Eight genes rank at the top on all three network measures: degree, betweenness and closeness. Those are our hub genes.</a:t>
            </a:r>
          </a:p>
          <a:p>
            <a:r>
              <a:t>[Middle row] For the miRNA layer, we matched 148 miRNA biomarkers to the genes with a standard prediction tool and a binding-energy cut-off of minus 25 or stronger. 244 of the 768 genes are predicted targets, and 82 miRNAs regulate 195 of the enriched ones. 24 targets sit in modules 1 and 3, including two hubs, HSPA8 and PIK3CA.</a:t>
            </a:r>
          </a:p>
          <a:p>
            <a:r>
              <a:t>[Green strip] Methylation is the third layer in the best model. We mapped its probes to genes and examined expression and methylation features together. The next slide shows the genes.</a:t>
            </a:r>
          </a:p>
          <a:p>
            <a:r>
              <a:t>[Hub genes] So we went from 845 genes to eight hubs, with all three layers tied together.</a:t>
            </a:r>
          </a:p>
          <a:p/>
          <a:p>
            <a:r>
              <a:t>IF SHORT ON TIME (30 s): We took 845 selected genes, built a protein network, and found four modules and eight hub genes. Then we linked the miRNA biomarkers to their target genes, and the methylation features to the same genes.</a:t>
            </a:r>
          </a:p>
          <a:p/>
          <a:p>
            <a:r>
              <a:t>FOR YOU: The methylation card has no counts on purpose. The paper's main text gives none; the expression and methylation analysis is in Supplementary Fig. S1, which is not in your folder. The hub list requires a gene to rank high on all three network measures, so it is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That analysis surfaced something specific.</a:t>
            </a:r>
          </a:p>
          <a:p>
            <a:r>
              <a:t>[Left diagram] Looking at modules 1 and 3, one process stood out: nonsense-mediated decay, the cell's quality-control system for faulty messenger RNAs. Three links point to it. UPF1, the key regulator of that pathway, came out as an enriched transcription factor in module 1. Our hub gene HSPA8 and the marker PELO are both linked to UPF1 in published work. And our hub gene PIK3CA is linked to APOBEC3F, which is reported to drive PIK3CA mutations. The lines on the slide come from that literature. Our analysis flagged the genes.</a:t>
            </a:r>
          </a:p>
          <a:p>
            <a:r>
              <a:t>[Right side] It matters because cancer cells can use this pathway to switch off tumour suppressors and to adapt to the immune environment, so it is a possible therapeutic angle. The paper reports that it wasn't apparent from single-omics analysis. Separately, the expression and methylation analysis highlighted genes with earlier prognostic reports: JAK1, DLX5, PTCH1 and ALDH1A3. That supports the pipeline.</a:t>
            </a:r>
          </a:p>
          <a:p>
            <a:r>
              <a:t>[Bottom box] To be clear, these are hypotheses. Knockout experiments would be needed to confirm them.</a:t>
            </a:r>
          </a:p>
          <a:p/>
          <a:p>
            <a:r>
              <a:t>IF SHORT ON TIME (30 s): Integration pointed to nonsense-mediated decay. The data flagged UPF1, and the literature links our hub genes to it. It is a hypothesis for the lab, not a result.</a:t>
            </a:r>
          </a:p>
          <a:p/>
          <a:p>
            <a:r>
              <a:t>LIKELY QUESTIONS</a:t>
            </a:r>
          </a:p>
          <a:p>
            <a:r>
              <a:t>How do you know single-omics analysis would have missed it? That is the paper's finding; the supporting analysis is in its Supplementary File IV, which is not in your folder.</a:t>
            </a:r>
          </a:p>
          <a:p>
            <a:r>
              <a:t>Are the hub genes validated? No. They are prioritised candidates; many match earlier prognostic reports, but nothing has been tested experimentally.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Here are the limits, and what I'd do next.</a:t>
            </a:r>
          </a:p>
          <a:p>
            <a:r>
              <a:t>[Read down the left] First, the survival classes come from a fixed five-year cutoff, which turns survival time into a yes-or-no label. Second, the rank-based filters assume normally distributed data. Third, only 302 of the 1,026 patients had all four layers, so we discarded most of the cohort. Fourth, there is one cohort and a 46-patient test set, so each patient moves accuracy by about two points. Fifth, the biomarkers are computational findings, not experimental ones.</a:t>
            </a:r>
          </a:p>
          <a:p>
            <a:r>
              <a:t>[Now the right] The next steps follow from each. Model time-to-event outcomes directly, for example with Cox models or survival forests, or use several survival intervals. Use distribution-aware ranking methods. Handle missing layers with latent-factor methods such as MOFA, so more patients can be used. Validate on an independent cohort such as METABRIC, and report confidence intervals. And prioritise biomarkers by network evidence, then test them with knockout experiments.</a:t>
            </a:r>
          </a:p>
          <a:p>
            <a:r>
              <a:t>These next steps are proposals. None of them has been done yet.</a:t>
            </a:r>
          </a:p>
          <a:p/>
          <a:p>
            <a:r>
              <a:t>IF SHORT ON TIME (30 s): Limits: a fixed five-year cutoff, a normality assumption, most patients dropped for missing layers, one cohort with a small test set, and no experimental validation. Next: time-to-event models, an independent cohort, knockouts.</a:t>
            </a:r>
          </a:p>
          <a:p/>
          <a:p>
            <a:r>
              <a:t>FOR YOU: The first three limits come from the paper's own discussion. The next steps are proposals, including MOFA and METABRIC.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Part 2 changes field, from clinical outcomes to plant epigenomics.</a:t>
            </a:r>
          </a:p>
          <a:p>
            <a:r>
              <a:t>[Point at the numbers] Three numbers: twenty-one to thirty-six thousand open-chromatin sites per sample, ninety-eight point six percent, and thirteen candidate genes.</a:t>
            </a:r>
          </a:p>
          <a:p>
            <a:r>
              <a:t>The question: why does a drought-tolerant rice cultivar, N22, switch on stress genes under drought when a sensitive one, IR64, does not? The approach is to map open chromatin, the regions of DNA that regulatory proteins can physically reach, and join that map to gene expression.</a:t>
            </a:r>
          </a:p>
          <a:p>
            <a:r>
              <a:t>I'm a co-author on the paper in The Plant Journal. My part was the sequencing data analysis, with the pipeline scripted in Bash and Python.</a:t>
            </a:r>
          </a:p>
          <a:p>
            <a:r>
              <a:t>One precise point: the assay is DNase-seq, which maps DNase hypersensitive sites. The analysis workflow follows the same pattern as ATAC-seq.</a:t>
            </a:r>
          </a:p>
          <a:p>
            <a:r>
              <a:t>I'll take about six minutes. The structure is: the design, the pipeline, the landscape of open sites, what changes under drought, and what sits inside those sites.</a:t>
            </a:r>
          </a:p>
          <a:p>
            <a:r>
              <a:t>This is the NGS side of the role: raw sequencing reads through to regulatory insight.</a:t>
            </a:r>
          </a:p>
          <a:p/>
          <a:p>
            <a:r>
              <a:t>IF SHORT ON TIME (30 s): Part 2: open chromatin in drought-stressed rice. A co-authored paper; I did the sequencing data analysis. The assay is DNase-seq, with the same workflow pattern as ATAC-seq.</a:t>
            </a:r>
          </a:p>
          <a:p/>
          <a:p>
            <a:r>
              <a:t>FOR YOU: Use the 30-second version here to stay on the plan. The Bash and Python detail comes from you, not from the paper, so describe your own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Two cultivars and two conditions, so four situations.</a:t>
            </a:r>
          </a:p>
          <a:p>
            <a:r>
              <a:t>[Point at the left cards] Why accessibility matters: whether a transcription factor can reach its target sequence depends on local chromatin structure. Open regions are where regulation happens.</a:t>
            </a:r>
          </a:p>
          <a:p>
            <a:r>
              <a:t>Why these two cultivars: IR64 is high-yielding but drought sensitive. N22 is deep-rooted and drought tolerant, and it is used as a donor in breeding. Under drought, chlorophyll fell about 29 percent in N22, against about 45 percent in IR64.</a:t>
            </a:r>
          </a:p>
          <a:p>
            <a:r>
              <a:t>[Point at the grid] The design: seedlings grown for 21 days, then six hours in 20 percent PEG 6000 to mimic drought, against controls. Two biological replicates for each situation, except IR64 under drought, which has one. That is a limit to keep in mind for the IR64 comparison.</a:t>
            </a:r>
          </a:p>
          <a:p>
            <a:r>
              <a:t>We digested nuclei briefly with DNase I, kept an undigested input control, and sequenced paired-end, between 101 and 147 million read pairs per sample.</a:t>
            </a:r>
          </a:p>
          <a:p>
            <a:r>
              <a:t>So the question is whether differences in open chromatin line up with differences in gene expression between the two.</a:t>
            </a:r>
          </a:p>
          <a:p/>
          <a:p>
            <a:r>
              <a:t>IF SHORT ON TIME (30 s): Two rice cultivars, one drought-sensitive and one tolerant, under control and drought. Two replicates each, except one for IR64 under drought. Paired-end DNase-seq with input controls.</a:t>
            </a:r>
          </a:p>
          <a:p/>
          <a:p>
            <a:r>
              <a:t>FOR YOU: IR64 under drought has one replicate. Say so before it is asked.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is the pipeline I worked on.</a:t>
            </a:r>
          </a:p>
          <a:p>
            <a:r>
              <a:t>[Walk the six boxes] One: read quality control and adapter trimming, with the NGS QC toolkit. Two: alignment to the Nipponbare rice genome, version 7, with BWA-MEM. Three: peak calling with MACS3 against the input control, with a q-value threshold of 1e-5, keeping sites with at least a one log2 fold change and under five percent false discovery rate. Four: IDR, the irreproducible discovery rate, keeps only peaks that reproduce across replicates. Five: csaw finds differential sites, between the two cultivars and between drought and control. Six: MEME-ChIP and STAMP discover the sequence motifs inside the gained sites.</a:t>
            </a:r>
          </a:p>
          <a:p>
            <a:r>
              <a:t>The steps were scripted in Bash and Python.</a:t>
            </a:r>
          </a:p>
          <a:p>
            <a:r>
              <a:t>[Point at the bottom row] Then we integrated the open sites with earlier datasets: DNA methylation from the same cultivars, five histone marks and polymerase II from a published rice leaf study, and RNA-seq expression from the same cultivars.</a:t>
            </a:r>
          </a:p>
          <a:p>
            <a:r>
              <a:t>It is the same pattern you would use for ATAC-seq.</a:t>
            </a:r>
          </a:p>
          <a:p/>
          <a:p>
            <a:r>
              <a:t>IF SHORT ON TIME (30 s): Six steps: QC, alignment, MACS3 peaks, IDR across replicates, csaw for differential sites, motif discovery. Scripted in Bash and Python, then joined to methylation, histone marks and expression.</a:t>
            </a:r>
          </a:p>
          <a:p/>
          <a:p>
            <a:r>
              <a:t>FOR YOU: The tools come from the paper's methods. The Bash and Python detail is yours; be ready to describe or show the scripts. Differential sites used csaw, not BEDTools.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What does the landscape of open chromatin look like?</a:t>
            </a:r>
          </a:p>
          <a:p>
            <a:r>
              <a:t>[Point at the chart] This chart shows sites that are specific to one sample. Under control, N22 has 4,678 specific sites, against 1,434 in IR64. Under drought, N22 has 10,076, against 3,670. That is about 3.3 times more at control and 2.8 times more under drought. So the tolerant cultivar has a much larger set of cultivar-specific open regions, particularly under drought.</a:t>
            </a:r>
          </a:p>
          <a:p>
            <a:r>
              <a:t>[Point at the tiles] Overall, each sample has between 21 and 36 thousand consensus open sites, and 14,959 are shared by all four samples. Between 20 and 24 percent of sites sit in promoters, with a further 14 to 18 percent at transcription start sites.</a:t>
            </a:r>
          </a:p>
          <a:p>
            <a:r>
              <a:t>And location matters. Genes with open sites at the start site or promoter were the most highly expressed, with a highly significant difference against all genes.</a:t>
            </a:r>
          </a:p>
          <a:p>
            <a:r>
              <a:t>So open chromatin here behaves as you would expect: it concentrates near the start of genes, and it goes with higher expression.</a:t>
            </a:r>
          </a:p>
          <a:p/>
          <a:p>
            <a:r>
              <a:t>IF SHORT ON TIME (30 s): N22 has 3.3 times more specific open sites at control and 2.8 times more under drought. Sites concentrate at promoters and start sites, and genes with them are the most highly expressed.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Now the core result. We asked which sites change in response to drought, and in which direction.</a:t>
            </a:r>
          </a:p>
          <a:p>
            <a:r>
              <a:t>[Point at the two tiles] In the tolerant cultivar, N22, 272 of 276 drought-responsive sites gained accessibility: 98.6 percent. In the sensitive cultivar, IR64, 41 of 54 did: 75.9 percent. N22 also had about five times more drought-responsive sites, 276 against 54, and only seven were shared.</a:t>
            </a:r>
          </a:p>
          <a:p>
            <a:r>
              <a:t>[Point at the right-hand rows] Then the link to expression. In N22 under drought, 44 genes with gained promoter sites and 12 with gained start-site sites were differentially expressed, and every one was up-regulated. In IR64 it was five and two.</a:t>
            </a:r>
          </a:p>
          <a:p>
            <a:r>
              <a:t>Sixty percent of the gained sites in N22 sit in promoters, against 34 percent in IR64. And between the cultivars at control, 70 percent of the genes with a gained promoter site were higher in N22.</a:t>
            </a:r>
          </a:p>
          <a:p>
            <a:r>
              <a:t>So gained accessibility in the tolerant cultivar tracks the up-regulation of drought-related genes. This is an association, not proof of cause.</a:t>
            </a:r>
          </a:p>
          <a:p/>
          <a:p>
            <a:r>
              <a:t>IF SHORT ON TIME (30 s): In tolerant N22, 272 of 276 drought-responsive sites gained accessibility, against 41 of 54 in IR64. Genes with gained promoter or start-site sites were up-regulated. It is an association.</a:t>
            </a:r>
          </a:p>
          <a:p/>
          <a:p>
            <a:r>
              <a:t>FOR YOU: Say 'association' out loud. RT-qPCR confirms expression, not function.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What sits inside those gained sites?</a:t>
            </a:r>
          </a:p>
          <a:p>
            <a:r>
              <a:t>[Left column] The chromatin state. Methylation inside open sites is lower than in the flanks, most clearly in the CHH context. Under drought, N22 sites carry about 4.4 methylated cytosines per kilobase in the CG context and 2.5 in CHG, against 12.7 and 7.2 in IR64. And activating histone marks outnumber repressive ones.</a:t>
            </a:r>
          </a:p>
          <a:p>
            <a:r>
              <a:t>[Middle column] The motifs. ABRE, the element for abscisic acid, and ARF, for auxin, were the most enriched in the gained sites. Those are known drought-response signals, which gives biological sense to the result.</a:t>
            </a:r>
          </a:p>
          <a:p>
            <a:r>
              <a:t>[Right column] The candidates. Thirty candidate genes, in drought QTLs, transcription factors or stress genes, had open sites at the promoter or start site. Thirteen gained accessibility in N22 under drought, and all thirteen were up-regulated when we checked by RT-qPCR. Examples include MYB and zinc-finger transcription factors, and stress genes.</a:t>
            </a:r>
          </a:p>
          <a:p>
            <a:r>
              <a:t>So the data narrowed thousands of sites to thirteen genes and a few motifs that can be tested. These are candidates, not proven causes.</a:t>
            </a:r>
          </a:p>
          <a:p/>
          <a:p>
            <a:r>
              <a:t>IF SHORT ON TIME (30 s): Gained sites have low methylation and activating marks, carry ABRE and ARF motifs, and led to thirteen candidate genes that were all up-regulated by RT-qPCR. They are candidates to 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Part 3 is different in kind, and I'll say so at the start: it is a research prototype.</a:t>
            </a:r>
          </a:p>
          <a:p>
            <a:r>
              <a:t>[Point at the numbers] About 172 thousand nuclei in 24 samples, 202 tracked training runs, and four cell types.</a:t>
            </a:r>
          </a:p>
          <a:p>
            <a:r>
              <a:t>The problem: a bulk RNA-seq sample averages over every cell in it. If we could recover the cell-type structure inside bulk data, we could study cell-type-specific expression in samples that were never sequenced cell by cell.</a:t>
            </a:r>
          </a:p>
          <a:p>
            <a:r>
              <a:t>My approach was to take single-cell data, where the cell types are known, and simulate matched bulk data from it, so that we have training pairs with a known answer. Then train a variational autoencoder, and track every experiment.</a:t>
            </a:r>
          </a:p>
          <a:p>
            <a:r>
              <a:t>What is built: the simulation, the model and the experiment tracking. What is not yet done: validation against known cell proportions.</a:t>
            </a:r>
          </a:p>
          <a:p>
            <a:r>
              <a:t>I'll take about eight minutes, and I'll show the engineering, the debugging and the honest status.</a:t>
            </a:r>
          </a:p>
          <a:p>
            <a:r>
              <a:t>I'll be clear throughout about what is demonstrated and what is not.</a:t>
            </a:r>
          </a:p>
          <a:p/>
          <a:p>
            <a:r>
              <a:t>IF SHORT ON TIME (30 s): Part 3: a research prototype for recovering cell types from bulk RNA-seq. The simulation, model and tracking are built. Validation against known proportions is not yet done.</a:t>
            </a:r>
          </a:p>
          <a:p/>
          <a:p>
            <a:r>
              <a:t>FOR YOU: Use the 30-second version here to stay on the plan. Say 'prototype' in your first sentence.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Start with the problem.</a:t>
            </a:r>
          </a:p>
          <a:p>
            <a:r>
              <a:t>[Left cards] A bulk transcriptome averages over every cell in a sample. Deconvolution estimates the cell-type composition, and the cell-type-specific expression, hidden inside it.</a:t>
            </a:r>
          </a:p>
          <a:p>
            <a:r>
              <a:t>The idea: single-cell data show what each cell type contributes. If we convolve them, we get matched cell-type and pseudo-bulk data to train a model on.</a:t>
            </a:r>
          </a:p>
          <a:p>
            <a:r>
              <a:t>The model is a variational autoencoder. It compresses four cell-type expression values for each gene into one latent value, and decodes them back.</a:t>
            </a:r>
          </a:p>
          <a:p>
            <a:r>
              <a:t>[Right cards] Two datasets. The current one is ROSMAP, single-nucleus RNA-seq from brain: about 172,700 nuclei, 28,781 genes and 24 samples. The model uses four of nine annotated cell types: excitatory and inhibitory neurons, astrocytes and oligodendrocytes.</a:t>
            </a:r>
          </a:p>
          <a:p>
            <a:r>
              <a:t>The earlier one was pancreatic islets, GSE81608: 1,600 cells from 18 donors, 12 normal and 6 with type 2 diabetes, with alpha, beta, delta and PP cells.</a:t>
            </a:r>
          </a:p>
          <a:p>
            <a:r>
              <a:t>The project started on the pancreas data and moved to ROSMAP.</a:t>
            </a:r>
          </a:p>
          <a:p>
            <a:r>
              <a:t>The cell types are labelled in the metadata, and that labelling is what makes the simulation possible.</a:t>
            </a:r>
          </a:p>
          <a:p/>
          <a:p>
            <a:r>
              <a:t>IF SHORT ON TIME (30 s): Bulk RNA-seq averages over cell types. Single-cell data can be convolved into matched cell-type and bulk training pairs. A VAE learns from them. Data: ROSMAP brain, earlier pancreas islets.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is the end-to-end architecture, left to right.</a:t>
            </a:r>
          </a:p>
          <a:p>
            <a:r>
              <a:t>[Box 1] Raw data: the ROSMAP count matrix with gene and cell metadata.</a:t>
            </a:r>
          </a:p>
          <a:p>
            <a:r>
              <a:t>[Box 2] Preprocessing, in notebooks, using Scanpy: genes seen in fewer than five cells are dropped, the data are split into 24 sample files, counts are converted to CPM, and low-expression genes are filtered.</a:t>
            </a:r>
          </a:p>
          <a:p>
            <a:r>
              <a:t>[Box 3] Simulation: a class called Deconv computes, for each sample, gene abundance, cell size and cell-type proportions, and writes paired single-cell and pseudo-bulk tables.</a:t>
            </a:r>
          </a:p>
          <a:p>
            <a:r>
              <a:t>[Box 4] Training: a PyTorch VAE or autoencoder, tuned with Optuna over ten trials, then retrained with the best parameters.</a:t>
            </a:r>
          </a:p>
          <a:p>
            <a:r>
              <a:t>[Box 5] Tracking: MLflow logs parameters, final loss, the model and a loss figure for every run.</a:t>
            </a:r>
          </a:p>
          <a:p>
            <a:r>
              <a:t>[Bottom layers] Underneath: DVC versions the data, 27 gigabytes in 125 files. A single params file holds every hyperparameter and switch. And the compute is JupyterLab on a Slurm cluster, with Hugging Face Accelerate handling devices.</a:t>
            </a:r>
          </a:p>
          <a:p>
            <a:r>
              <a:t>The paths on each box show where the code lives.</a:t>
            </a:r>
          </a:p>
          <a:p/>
          <a:p>
            <a:r>
              <a:t>IF SHORT ON TIME (30 s): Raw ROSMAP data, Scanpy preprocessing, a simulation class that writes paired tables, a tuned PyTorch model, and MLflow tracking. DVC, a params file and a Slurm cluster sit underneath.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How do single-cell data become training pairs? We use the model from the MuSiC paper, by Wang and colleagues, Nature Communications 2019.</a:t>
            </a:r>
          </a:p>
          <a:p>
            <a:r>
              <a:t>[Walk the four boxes] Step one: counts for each subject, with a cell-type label on every cell.</a:t>
            </a:r>
          </a:p>
          <a:p>
            <a:r>
              <a:t>Step two: theta is a gene's share of a cell type's RNA, the paper's equation one. S is cell size, the average total RNA per cell of that type.</a:t>
            </a:r>
          </a:p>
          <a:p>
            <a:r>
              <a:t>Step three: S times theta gives a genes-by-four table for each sample. That is our model input, and in MuSiC it is the design matrix.</a:t>
            </a:r>
          </a:p>
          <a:p>
            <a:r>
              <a:t>Step four: weight the cell types by their proportions, p, and sum. That is the pseudo-bulk, the paper's equation three.</a:t>
            </a:r>
          </a:p>
          <a:p>
            <a:r>
              <a:t>[Left card] The paper's point is that bulk is the sum over cell types of proportion times size times abundance. MuSiC runs it in reverse, to estimate proportions from real bulk. We run it forward, to simulate bulk.</a:t>
            </a:r>
          </a:p>
          <a:p>
            <a:r>
              <a:t>[Right card] In our pipeline, theta and S come from each sample. One set of proportions, from a linear regression on a reference matrix and rescaled to sum to one, is applied to every sample.</a:t>
            </a:r>
          </a:p>
          <a:p/>
          <a:p>
            <a:r>
              <a:t>IF SHORT ON TIME (30 s): We use MuSiC's model, not its estimator. S times theta gives the cell-type table; weighting by proportions p and summing gives pseudo-bulk. MuSiC estimates p from real bulk; we run the relationship forward to simulate bulk.</a:t>
            </a:r>
          </a:p>
          <a:p/>
          <a:p>
            <a:r>
              <a:t>FOR YOU: Say 'MuSiC's model, not its estimator'. MuSiC defines p as the proportion of cells and estimates it by weighted non-negative least squares; here p comes from an ordinary linear regression rescaled to sum to one, and one set of p serves every sample, so the pseudo-bulk differs between samples only through theta and S. Say that before it is asked. Check before presenting: in DeConv_function_ROSMAP.py, cell_size divides a cell type's total RNA by all cells in the sample, while the paper divides by the cells of that type. Also, the repository note cites a different DOI from the paper; the paper is Wang et al., Nature Communications 10:380 (2019), doi 10.1038/s41467-018-08023-x. The paper builds artificial bulk by summing the counts of all cells in a subject, so true proportions are known, and scores methods with Pearson correlation, RMSD and mAD.</a:t>
            </a:r>
          </a:p>
          <a:p/>
          <a:p>
            <a:r>
              <a:t>LIKELY QUESTIONS</a:t>
            </a:r>
          </a:p>
          <a:p>
            <a:r>
              <a:t>Is this MuSiC? It uses MuSiC's model of how bulk arises from cell types, to build training data. It does not use MuSiC's estimator, which is weighted non-negative least squares on real bulk.</a:t>
            </a:r>
          </a:p>
          <a:p>
            <a:r>
              <a:t>Do the proportions vary between samples? No. One set of proportions is applied to every sample, so the pseudo-bulk varies through gene abundance and cell size only. Varying p is a clear next step.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The model is deliberately small.</a:t>
            </a:r>
          </a:p>
          <a:p>
            <a:r>
              <a:t>[Walk the diagram] The input is four cell-type values for one gene. The encoder uses linear layers with batch normalisation and ReLU, with dropout on every second layer. The latent layer has a mean and a log-variance, one dimension, and we sample from it with the reparameterisation trick. The decoder mirrors the encoder and outputs four reconstructed values.</a:t>
            </a:r>
          </a:p>
          <a:p>
            <a:r>
              <a:t>[Bottom cards] The loss in the main script is mean squared error for reconstruction plus a KL term against a prior from the batch distribution. The latest step is an autoencoder variant that returns the latent value and adds a mean squared error term against the pseudo-bulk signal.</a:t>
            </a:r>
          </a:p>
          <a:p>
            <a:r>
              <a:t>One batch is one gene across all 24 samples. Tuning uses Optuna, ten trials, over layer layouts, dropout, learning rate, weight decay and gradient clipping, with AdamW.</a:t>
            </a:r>
          </a:p>
          <a:p>
            <a:r>
              <a:t>[Banner] We also tried an encoder-only transformer. The VAE treats each gene separately, so it cannot use how genes interact. Self-attention lets every gene look at every other gene.</a:t>
            </a:r>
          </a:p>
          <a:p/>
          <a:p>
            <a:r>
              <a:t>IF SHORT ON TIME (30 s): A small VAE with a one-dimensional latent, trained one gene at a time across samples, tuned with Optuna. A newer variant ties the latent to pseudo-bulk. We also tried a transformer encoder to capture gene interactions.</a:t>
            </a:r>
          </a:p>
          <a:p/>
          <a:p>
            <a:r>
              <a:t>FOR YOU: The transformer attempt is not in the repository, so the slide gives the idea only. Be ready to say how genes were encoded, how large the model was, and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The engineering side is the part I'm most confident about.</a:t>
            </a:r>
          </a:p>
          <a:p>
            <a:r>
              <a:t>[Walk the four boxes] DVC versions the data and models, 27 gigabytes in 125 files, with a remote store and two pipeline stages. A single params file holds the hyperparameters and switches: batch layout, scaling, clipping and search ranges, so any run can be repeated. Training uses PyTorch 2.3 with Optuna and Hugging Face Accelerate, in JupyterLab sessions on a Slurm cluster. MLflow logs the parameters, the final loss, the model and a loss figure for every run.</a:t>
            </a:r>
          </a:p>
          <a:p>
            <a:r>
              <a:t>[Point at the tiles] The result: 202 tracked training runs across nine MLflow experiments, 27 gigabytes of versioned data, and 37 commits in the project repository.</a:t>
            </a:r>
          </a:p>
          <a:p>
            <a:r>
              <a:t>[Bottom line] The repository also has Sphinx docs, a Makefile and tox, and pinned requirements.</a:t>
            </a:r>
          </a:p>
          <a:p>
            <a:r>
              <a:t>Why this matters: this project had many runs that misbehaved. Because every run is parameterised and logged, I could see exactly which settings produced which result, and that is what made the debugging on the next slide possible.</a:t>
            </a:r>
          </a:p>
          <a:p/>
          <a:p>
            <a:r>
              <a:t>IF SHORT ON TIME (30 s): Every experiment is parameterised in one file, versioned with DVC and logged to MLflow: 202 runs, nine experiments, 27 GB of versioned data.</a:t>
            </a:r>
          </a:p>
          <a:p/>
          <a:p>
            <a:r>
              <a:t>FOR YOU: Know these gaps. The pipeline stages in dvc.yaml declare no dependencies or outputs, and dvc.lock still records an older pancreas pipeline. The data and runs are versioned; the pipeline definition needs tidying.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Most of the history of this project is about getting training to behave.</a:t>
            </a:r>
          </a:p>
          <a:p>
            <a:r>
              <a:t>[Point at the plot] This is a real logged run. The loss sits near zero, then spikes to about three times ten to the twelve at epoch seven, and then recovers. That kind of instability was typical.</a:t>
            </a:r>
          </a:p>
          <a:p>
            <a:r>
              <a:t>[Point at the box] In the tracked ROSMAP runs, nine of the eleven that logged a final loss ended in NaN. The latest autoencoder variant ran without NaN in a short notebook test.</a:t>
            </a:r>
          </a:p>
          <a:p>
            <a:r>
              <a:t>[Right side, in order] What I changed, step by step. First, gradient-norm clipping. Second, min-max scaling of the inputs. Third, scaling by batch distribution, and computing the KL term from the whole pseudo-bulk distribution. Fourth, a guard for NaN loss when all inputs are zero. Fifth, converting counts to CPM, and making one batch one gene across all samples. Sixth, replacing the KL term with a mean squared error objective, with pseudo-bulk as the known latent factor.</a:t>
            </a:r>
          </a:p>
          <a:p>
            <a:r>
              <a:t>Each fix targeted scale or numerical stability. My reading is that with raw counts spanning many orders of magnitude, scaling and normalisation have to come before architecture.</a:t>
            </a:r>
          </a:p>
          <a:p/>
          <a:p>
            <a:r>
              <a:t>IF SHORT ON TIME (30 s): Training was unstable: a real run spiked to about 3e12, and nine of eleven ROSMAP runs ended in NaN. Six changes in order, each targeting scale or numerical stability. The latest variant ran without NaN in a short test.</a:t>
            </a:r>
          </a:p>
          <a:p/>
          <a:p>
            <a:r>
              <a:t>FOR YOU: Be open about this slide. The nine of eleven count comes from the final_loss metric in the ROSMAP MLflow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Here is the honest status.</a:t>
            </a:r>
          </a:p>
          <a:p>
            <a:r>
              <a:t>[Left column, working] The pipeline from single-cell counts to paired cell-type and pseudo-bulk tables works for both the pancreas and ROSMAP data. The VAE and autoencoder variants train, with Optuna tuning and MLflow tracking. And one autoencoder variant with a pseudo-bulk latent term ran without NaN in a short test.</a:t>
            </a:r>
          </a:p>
          <a:p>
            <a:r>
              <a:t>[Middle column, not yet] There is no accuracy check against known cell proportions: the repository has no correlation or error metric. There is no inference script yet for new bulk samples. And nine of eleven ROSMAP runs ended in NaN, with small current settings: ten epochs and ten trials.</a:t>
            </a:r>
          </a:p>
          <a:p>
            <a:r>
              <a:t>[Right column, next steps] Hold out donors and score the recovered signal with correlation and RMSE. Compare with the MuSiC-style baseline used to build the simulation. Apply it to real bulk cohorts, such as GSE50244, which has 89 pancreas samples. Develop the transformer attempt further, so that genes can inform each other. Add an inference script, then longer training with wider tuning.</a:t>
            </a:r>
          </a:p>
          <a:p>
            <a:r>
              <a:t>[Banner] The pipeline and tracking are in place. The scientific claim, accurate cell-type recovery from bulk, still has to be demonstrated.</a:t>
            </a:r>
          </a:p>
          <a:p/>
          <a:p>
            <a:r>
              <a:t>IF SHORT ON TIME (30 s): Built: simulation, models, tracking. Missing: any accuracy check against known proportions, and an inference script. Next: hold out donors, score with correlation and RMSE, compare with MuSiC, apply to real bulk data.</a:t>
            </a:r>
          </a:p>
          <a:p/>
          <a:p>
            <a:r>
              <a:t>FOR YOU: The next steps are proposals. The empty predict_model.py and the absence of any correlation or error metric are the evidence for the 'not yet' column.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Part 4 moves from biology to generative AI.</a:t>
            </a:r>
          </a:p>
          <a:p>
            <a:r>
              <a:t>[Point at the counts] Three specialist assessment agents, four utility agents, and four kinds of MLflow signal.</a:t>
            </a:r>
          </a:p>
          <a:p>
            <a:r>
              <a:t>I designed and developed a multi-agent system for compliance reviews. These are knowledge-intensive workflows: the answer depends on evidence spread across documents and enterprise sources, and on careful reasoning over it. The approach combines large-language-model reasoning with retrieval, enterprise data and specialised tools.</a:t>
            </a:r>
          </a:p>
          <a:p>
            <a:r>
              <a:t>The domain is compliance, not biomedicine, and I will say plainly that it is a different domain. What transfers is the engineering: retrieval pipelines, agent orchestration, tool access, tracing and delivery.</a:t>
            </a:r>
          </a:p>
          <a:p>
            <a:r>
              <a:t>Because this is an agentic system, I will also show the Sentinel agent, which runs on a schedule rather than from a request.</a:t>
            </a:r>
          </a:p>
          <a:p>
            <a:r>
              <a:t>I'll cover the scope, the architecture, the retrieval pipeline, how the agents are orchestrated, the tools they use, and how it is observed and delivered. About nine minutes.</a:t>
            </a:r>
          </a:p>
          <a:p>
            <a:r>
              <a:t>The system answers requests through a chat interface, and it also runs checks on a schedule.</a:t>
            </a:r>
          </a:p>
          <a:p/>
          <a:p>
            <a:r>
              <a:t>IF SHORT ON TIME (30 s): Part 4: a multi-agent compliance system I designed and developed, combining LLM reasoning, retrieval, enterprise data and tools. The domain is compliance, not biomedicine; the engineering transfers.</a:t>
            </a:r>
          </a:p>
          <a:p/>
          <a:p>
            <a:r>
              <a:t>FOR YOU: Use the 30-second version here to stay on the plan. Be exact about your own share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What problem does this solve?</a:t>
            </a:r>
          </a:p>
          <a:p>
            <a:r>
              <a:t>[Left cards] Compliance assessments draw on evidence spread across documents and enterprise sources such as SharePoint and GitHub. The solution gathers that evidence and reasons over it.</a:t>
            </a:r>
          </a:p>
          <a:p>
            <a:r>
              <a:t>The approach is LLM reasoning combined with retrieval, enterprise data and specialised tools, organised as cooperating agents.</a:t>
            </a:r>
          </a:p>
          <a:p>
            <a:r>
              <a:t>The output: specialised agents handle document retrieval, ECCN and cryptography checks, risk assessment and final compliance evaluation, returning validated structured output. ECCN is the Export Control Classification Number, the export-control category assigned to an item.</a:t>
            </a:r>
          </a:p>
          <a:p>
            <a:r>
              <a:t>[Right list] Four things were built, and the slide numbers show where each is covered. RAG pipelines, from ingestion to validated structured output. A LangGraph multi-agent system, with a router, an orchestrator and specialist agents. MCP tools, which give agents access to SharePoint and GitHub. And MLflow tracing with CI/CD, which covers observability, security scanning and code quality.</a:t>
            </a:r>
          </a:p>
          <a:p>
            <a:r>
              <a:t>I'll go through them in that order.</a:t>
            </a:r>
          </a:p>
          <a:p>
            <a:r>
              <a:t>This is the project that speaks most directly to the generative AI and agentic part of the role description.</a:t>
            </a:r>
          </a:p>
          <a:p/>
          <a:p>
            <a:r>
              <a:t>IF SHORT ON TIME (30 s): Compliance assessments need evidence from many sources. The system combines LLM reasoning, retrieval and tools as cooperating agents, and returns validated structured output. Four parts: RAG, LangGraph agents, MCP tools, MLflow and CI/CD.</a:t>
            </a:r>
          </a:p>
          <a:p/>
          <a:p>
            <a:r>
              <a:t>FOR YOU: Your summary names agents for document retrieval, ECCN and cryptography checks, risk assessment and final compliance evaluation. The diagram shows document loading as a utility agent and risk, ECCN and test strategy as specialists. Decide where the final evaluation sits.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Let me walk the architecture from top to bottom.</a:t>
            </a:r>
          </a:p>
          <a:p>
            <a:r>
              <a:t>[Top row] A React web app, hosted with AWS Amplify, S3 and CloudFront, calls a streaming chat endpoint through API Gateway, which authenticates users with Cognito. Behind it is a FastAPI backend.</a:t>
            </a:r>
          </a:p>
          <a:p>
            <a:r>
              <a:t>[LangGraph band] The backend runs a LangGraph graph. A router is the entry point. An orchestrator uses an LLM to route the request. The risk, ECCN and test-strategy assessment nodes run in parallel using Send. And a Sentinel node runs on a schedule rather than from a chat request.</a:t>
            </a:r>
          </a:p>
          <a:p>
            <a:r>
              <a:t>[Agents] The specialist agents sit below those nodes. They use utility agents to load documents and URLs, verify templates and check completeness.</a:t>
            </a:r>
          </a:p>
          <a:p>
            <a:r>
              <a:t>[Tools] The specialist agents are also served over A2A, the agent-to-agent protocol, and an MCP server exposes tools for SharePoint and GitHub.</a:t>
            </a:r>
          </a:p>
          <a:p>
            <a:r>
              <a:t>[Right column] Amazon Bedrock provides the models through a single get-LLM factory. The platform is EKS for hosting, Cognito for tokens, Secrets Manager for keys, CloudWatch for logs and EventBridge for schedules. MLflow records experiments, prompts, API calls and errors.</a:t>
            </a:r>
          </a:p>
          <a:p/>
          <a:p>
            <a:r>
              <a:t>IF SHORT ON TIME (30 s): A React app calls a streaming API behind API Gateway and Cognito. A FastAPI backend runs a LangGraph graph of parallel specialist agents, with utility agents, an MCP server and A2A servers. Bedrock supplies the models, on AWS.</a:t>
            </a:r>
          </a:p>
          <a:p/>
          <a:p>
            <a:r>
              <a:t>FOR YOU: This slide takes the longest in the 50-minute plan. The slide is a clean redraw of your diagram: internal file names, ports and context names are left out. Confirm you may present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The retrieval pipeline has nine stages. The useful way to see them is in two phases.</a:t>
            </a:r>
          </a:p>
          <a:p>
            <a:r>
              <a:t>[Top row, index time] Before any question arrives, we prepare the knowledge. One, ingest documents from enterprise sources. Two, process them: parse and clean, keeping structure and metadata. Three, chunk them into passages sized for retrieval. Four, embed the passages as vectors. Five, index those vectors for approximate nearest-neighbour search, ANN, which finds similar vectors quickly across a large collection.</a:t>
            </a:r>
          </a:p>
          <a:p>
            <a:r>
              <a:t>[Bottom row, query time] When a request arrives: six, semantic search retrieves candidate passages. Seven, a second model re-ranks the candidates by relevance. Eight, the LLM generates an answer from the retrieved evidence. Nine, the output is validated against a schema before anything downstream uses it.</a:t>
            </a:r>
          </a:p>
          <a:p>
            <a:r>
              <a:t>[Callout] Why these stages: ANN search keeps retrieval fast at scale. Re-ranking sharpens the shortlist the LLM sees. And validation means the next step receives checked, structured output.</a:t>
            </a:r>
          </a:p>
          <a:p>
            <a:r>
              <a:t>I am describing the stages here, and I can go into the specific components if you'd like.</a:t>
            </a:r>
          </a:p>
          <a:p/>
          <a:p>
            <a:r>
              <a:t>IF SHORT ON TIME (30 s): Nine stages in two phases. At index time: ingest, process, chunk, embed, index. At query time: retrieve, re-rank, generate, validate. ANN search for speed, re-ranking for precision, a schema for checked output.</a:t>
            </a:r>
          </a:p>
          <a:p/>
          <a:p>
            <a:r>
              <a:t>FOR YOU: The diagram does not show the vector store, embedding model, chunking or re-ranker, so the slide describes the stages generically. Collect those choices, and any evaluation numbers, before the talk.</a:t>
            </a:r>
          </a:p>
          <a:p/>
          <a:p>
            <a:r>
              <a:t>LIKELY QUESTIONS</a:t>
            </a:r>
          </a:p>
          <a:p>
            <a:r>
              <a:t>How do you know the answers are right? Say what you measured. If there is no formal evaluation, say what you did instead and what you would add, such as a labelled set or agreement with expert reviewers.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is the orchestration.</a:t>
            </a:r>
          </a:p>
          <a:p>
            <a:r>
              <a:t>[Left to right] A request enters at the router, which passes it to the orchestrator. The orchestrator uses an LLM to decide where it goes. For an assessment, it uses Send, a LangGraph feature that dispatches nodes in parallel. Three nodes run: risk assessment, ECCN assessment and test strategy. Each node calls its specialist agent.</a:t>
            </a:r>
          </a:p>
          <a:p>
            <a:r>
              <a:t>[Right column] The specialists use four utility agents: a document loader, a URL loader, template verification and a completeness check. Running specialists in parallel saves time, and each has one job and its own tools, which makes failures easier to trace.</a:t>
            </a:r>
          </a:p>
          <a:p>
            <a:r>
              <a:t>[Bottom left] The Sentinel node is different. It is triggered on a schedule by EventBridge rather than by a chat request, and it ends the run when it finishes.</a:t>
            </a:r>
          </a:p>
          <a:p>
            <a:r>
              <a:t>[Bottom right] And every node and agent gets its model from one shared get-LLM factory, backed by Amazon Bedrock, so model configuration lives in one place.</a:t>
            </a:r>
          </a:p>
          <a:p>
            <a:r>
              <a:t>This is the part of the system that corresponds to the agent types the role description lists, including the sentinel type.</a:t>
            </a:r>
          </a:p>
          <a:p/>
          <a:p>
            <a:r>
              <a:t>IF SHORT ON TIME (30 s): A router and an LLM orchestrator fan out, in parallel, to risk, ECCN and test-strategy nodes that call specialist agents with utility agents. A Sentinel node runs on a schedule. One factory supplies every model.</a:t>
            </a:r>
          </a:p>
          <a:p/>
          <a:p>
            <a:r>
              <a:t>FOR YOU: Be ready to say what Sentinel checks, and where the final compliance evaluation sits.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Agents are only as useful as the evidence they can reach. MCP, the Model Context Protocol, gives them one standard way to call tools.</a:t>
            </a:r>
          </a:p>
          <a:p>
            <a:r>
              <a:t>[Diagram] The agents ask for evidence when an assessment needs it. They call the MCP server, which exposes tools over standard input-output or HTTP. The server reaches SharePoint, for documents and records, and GitHub, for repositories and code evidence. What comes back goes to the calling agent as evidence.</a:t>
            </a:r>
          </a:p>
          <a:p>
            <a:r>
              <a:t>[Cards] Three points. First, tool-based retrieval: each source sits behind one standard interface, so the agent code doesn't change when a source does. Second, evidence collection: what the tools return becomes the evidence behind the assessment. Third, secrets and hosting: API keys are held in AWS Secrets Manager, and the MCP server runs as pods on Amazon EKS beside the API.</a:t>
            </a:r>
          </a:p>
          <a:p>
            <a:r>
              <a:t>In practice, this separates what the agents reason about from where the data lives, and that is what makes the tool layer reusable.</a:t>
            </a:r>
          </a:p>
          <a:p/>
          <a:p>
            <a:r>
              <a:t>IF SHORT ON TIME (30 s): An MCP server gives agents one standard interface to SharePoint and GitHub. Results return to the agent as evidence. Keys are in Secrets Manager and the server runs on EKS.</a:t>
            </a:r>
          </a:p>
          <a:p/>
          <a:p>
            <a:r>
              <a:t>FOR YOU: Reconcile before presenting: the diagram marks the URL loader agent as not supporting SharePoint, while your summary says MCP tools give SharePoint access. Explain that SharePoint access goes through the MCP tools.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Last topic: how the system is observed and delivered.</a:t>
            </a:r>
          </a:p>
          <a:p>
            <a:r>
              <a:t>[Left side] MLflow records four kinds of signal. Experiment tracking: runs, parameters, metrics and artifacts. Prompt tracking: templates, versions and the LLM's responses. API call counts: per agent, per model and in total. And error tracking: exceptions, retries and failure logs. CloudWatch centralises the agent and API logs alongside them.</a:t>
            </a:r>
          </a:p>
          <a:p>
            <a:r>
              <a:t>With a system built on LLM calls, this observability matters, because you need to see what each agent was asked and what it answered. The call counts also give usage per agent and per model, which is the basis for cost control.</a:t>
            </a:r>
          </a:p>
          <a:p>
            <a:r>
              <a:t>[Right side] On delivery, the practices were CI/CD for the AI application, security scanning, and code-quality practices, all to support reliable deployment. The security design includes Cognito OAuth2 and JWT tokens validated at the API, API keys held in Secrets Manager, and workloads hosted on Amazon EKS.</a:t>
            </a:r>
          </a:p>
          <a:p>
            <a:r>
              <a:t>Together, these let you trace a result back to the prompts and calls behind it.</a:t>
            </a:r>
          </a:p>
          <a:p>
            <a:r>
              <a:t>That completes the four projects.</a:t>
            </a:r>
          </a:p>
          <a:p/>
          <a:p>
            <a:r>
              <a:t>IF SHORT ON TIME (30 s): MLflow tracks experiments, prompts, API calls and errors; CloudWatch holds the logs. CI/CD, security scanning and code-quality practices support deployment. Cognito, Secrets Manager and EKS provide the security design.</a:t>
            </a:r>
          </a:p>
          <a:p/>
          <a:p>
            <a:r>
              <a:t>FOR YOU: Name the CI/CD, security-scanning and code-quality tools you used. They were not in the material provided.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 15 s)</a:t>
            </a:r>
          </a:p>
          <a:p>
            <a:r>
              <a:t>This table maps what the role asks for to the evidence.</a:t>
            </a:r>
          </a:p>
          <a:p>
            <a:r>
              <a:t>[Read down the left column and point to the evidence] Multi-omic integration frameworks: the stacked ensemble with PLS-DA latent variables, and accessibility joined with methylation and histone marks. Predictive and prognostic biomarker models: a survival classifier with an AUC of 0.89, and biomarkers traced to hub genes and miRNA regulators. Deep learning and generative models: the VAE and autoencoder in PyTorch, tuned with Optuna, with the prototype status and the validation gap stated plainly. Generative AI and agentic systems: the LangGraph multi-agent system with RAG, MCP tools, a scheduled Sentinel agent and MLflow tracing.</a:t>
            </a:r>
          </a:p>
          <a:p>
            <a:r>
              <a:t>Rigour: hold-out testing, cross-validation, reshuffles, MCC, IDR, FDR thresholds and RT-qPCR validation. Reusable code: ConnectOME on GitHub, DVC and MLflow runs, and CI/CD with security scanning. NGS and epigenomics: open-chromatin profiling from raw reads to motifs. And two peer-reviewed publications.</a:t>
            </a:r>
          </a:p>
          <a:p>
            <a:r>
              <a:t>The gaps I would name are clinical-trial data and causal inference.</a:t>
            </a:r>
          </a:p>
          <a:p>
            <a:r>
              <a:t>I'm happy to go deeper on any of the four.</a:t>
            </a:r>
          </a:p>
          <a:p/>
          <a:p>
            <a:r>
              <a:t>IF SHORT ON TIME (30 s): Each role requirement has evidence in at least one project: integration and biomarkers in Part 1, NGS in Part 2, deep learning in Part 3, generative AI and agents in Part 4. The gaps are clinical-trial data and causal inference.</a:t>
            </a:r>
          </a:p>
          <a:p/>
          <a:p>
            <a:r>
              <a:t>FOR YOU: Keep this slide up for the discussion. Open the discussion with: which of the four would you like to go deeper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822960"/>
            <a:ext cx="630936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COMPUTATIONAL BIOLOGY AND AI  ·  SELECTED WORK</a:t>
            </a:r>
          </a:p>
        </p:txBody>
      </p:sp>
      <p:sp>
        <p:nvSpPr>
          <p:cNvPr id="3" name="TextBox 2"/>
          <p:cNvSpPr txBox="1"/>
          <p:nvPr/>
        </p:nvSpPr>
        <p:spPr>
          <a:xfrm>
            <a:off x="731520" y="1280160"/>
            <a:ext cx="6309360" cy="2103120"/>
          </a:xfrm>
          <a:prstGeom prst="rect">
            <a:avLst/>
          </a:prstGeom>
          <a:noFill/>
        </p:spPr>
        <p:txBody>
          <a:bodyPr wrap="square" lIns="0" rIns="0" tIns="0" bIns="0" anchor="t">
            <a:spAutoFit/>
          </a:bodyPr>
          <a:lstStyle/>
          <a:p>
            <a:pPr algn="l">
              <a:lnSpc>
                <a:spcPct val="95000"/>
              </a:lnSpc>
              <a:spcAft>
                <a:spcPts val="0"/>
              </a:spcAft>
            </a:pPr>
            <a:r>
              <a:rPr sz="3600" b="1" i="0">
                <a:solidFill>
                  <a:srgbClr val="FFFFFF"/>
                </a:solidFill>
                <a:latin typeface="Calibri"/>
              </a:rPr>
              <a:t>Multi-omics, chromatin, deconvolution and agentic AI</a:t>
            </a:r>
          </a:p>
        </p:txBody>
      </p:sp>
      <p:sp>
        <p:nvSpPr>
          <p:cNvPr id="4" name="TextBox 3"/>
          <p:cNvSpPr txBox="1"/>
          <p:nvPr/>
        </p:nvSpPr>
        <p:spPr>
          <a:xfrm>
            <a:off x="731520" y="3383280"/>
            <a:ext cx="6217920" cy="82296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Work of Kunal Tembhare, presented against the Senior Data Scientist, Computational Biology role</a:t>
            </a:r>
          </a:p>
        </p:txBody>
      </p:sp>
      <p:sp>
        <p:nvSpPr>
          <p:cNvPr id="5" name="Rectangle 4"/>
          <p:cNvSpPr/>
          <p:nvPr/>
        </p:nvSpPr>
        <p:spPr>
          <a:xfrm>
            <a:off x="731520" y="434340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26280"/>
            <a:ext cx="6309360" cy="2194560"/>
          </a:xfrm>
          <a:prstGeom prst="rect">
            <a:avLst/>
          </a:prstGeom>
          <a:noFill/>
        </p:spPr>
        <p:txBody>
          <a:bodyPr wrap="square" lIns="0" rIns="0" tIns="0" bIns="0" anchor="t">
            <a:spAutoFit/>
          </a:bodyPr>
          <a:lstStyle/>
          <a:p>
            <a:pPr algn="l">
              <a:spcAft>
                <a:spcPts val="600"/>
              </a:spcAft>
            </a:pPr>
            <a:r>
              <a:rPr sz="1250" b="1" i="0">
                <a:solidFill>
                  <a:srgbClr val="A9C7F0"/>
                </a:solidFill>
                <a:latin typeface="Calibri"/>
              </a:rPr>
              <a:t>Part 1   </a:t>
            </a:r>
            <a:r>
              <a:rPr sz="1300" b="0" i="0">
                <a:solidFill>
                  <a:srgbClr val="D5DEEA"/>
                </a:solidFill>
                <a:latin typeface="Calibri"/>
              </a:rPr>
              <a:t>ConnectOME: multi-ensemble machine learning for breast cancer survival (Informatics in Medicine Unlocked 47, 2024). First author.</a:t>
            </a:r>
          </a:p>
          <a:p>
            <a:pPr algn="l">
              <a:spcAft>
                <a:spcPts val="600"/>
              </a:spcAft>
            </a:pPr>
            <a:r>
              <a:rPr sz="1250" b="1" i="0">
                <a:solidFill>
                  <a:srgbClr val="A9C7F0"/>
                </a:solidFill>
                <a:latin typeface="Calibri"/>
              </a:rPr>
              <a:t>Part 2   </a:t>
            </a:r>
            <a:r>
              <a:rPr sz="1300" b="0" i="0">
                <a:solidFill>
                  <a:srgbClr val="D5DEEA"/>
                </a:solidFill>
                <a:latin typeface="Calibri"/>
              </a:rPr>
              <a:t>Chromatin accessibility in drought-stressed rice (The Plant Journal 119, 2024). Co‑author.</a:t>
            </a:r>
          </a:p>
          <a:p>
            <a:pPr algn="l">
              <a:spcAft>
                <a:spcPts val="600"/>
              </a:spcAft>
            </a:pPr>
            <a:r>
              <a:rPr sz="1250" b="1" i="0">
                <a:solidFill>
                  <a:srgbClr val="A9C7F0"/>
                </a:solidFill>
                <a:latin typeface="Calibri"/>
              </a:rPr>
              <a:t>Part 3   </a:t>
            </a:r>
            <a:r>
              <a:rPr sz="1300" b="0" i="0">
                <a:solidFill>
                  <a:srgbClr val="D5DEEA"/>
                </a:solidFill>
                <a:latin typeface="Calibri"/>
              </a:rPr>
              <a:t>Deconvolution of bulk RNA-seq with a variational autoencoder. Research prototype.</a:t>
            </a:r>
          </a:p>
          <a:p>
            <a:pPr algn="l">
              <a:spcAft>
                <a:spcPts val="600"/>
              </a:spcAft>
            </a:pPr>
            <a:r>
              <a:rPr sz="1250" b="1" i="0">
                <a:solidFill>
                  <a:srgbClr val="A9C7F0"/>
                </a:solidFill>
                <a:latin typeface="Calibri"/>
              </a:rPr>
              <a:t>Part 4   </a:t>
            </a:r>
            <a:r>
              <a:rPr sz="1300" b="0" i="0">
                <a:solidFill>
                  <a:srgbClr val="D5DEEA"/>
                </a:solidFill>
                <a:latin typeface="Calibri"/>
              </a:rPr>
              <a:t>Generative AI and a LangGraph multi-agent compliance system. Enterprise project.</a:t>
            </a:r>
          </a:p>
        </p:txBody>
      </p:sp>
      <p:sp>
        <p:nvSpPr>
          <p:cNvPr id="7" name="Rectangle 6"/>
          <p:cNvSpPr/>
          <p:nvPr/>
        </p:nvSpPr>
        <p:spPr>
          <a:xfrm>
            <a:off x="7315200" y="91440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06984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1</a:t>
            </a:r>
          </a:p>
        </p:txBody>
      </p:sp>
      <p:sp>
        <p:nvSpPr>
          <p:cNvPr id="9" name="TextBox 8"/>
          <p:cNvSpPr txBox="1"/>
          <p:nvPr/>
        </p:nvSpPr>
        <p:spPr>
          <a:xfrm>
            <a:off x="7498079" y="132588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Multi-omics survival model</a:t>
            </a:r>
          </a:p>
        </p:txBody>
      </p:sp>
      <p:sp>
        <p:nvSpPr>
          <p:cNvPr id="10" name="Oval 9"/>
          <p:cNvSpPr/>
          <p:nvPr/>
        </p:nvSpPr>
        <p:spPr>
          <a:xfrm>
            <a:off x="7498079" y="201168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827263" y="201168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156448" y="2011680"/>
            <a:ext cx="237744" cy="23774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85632" y="2011680"/>
            <a:ext cx="237744" cy="237744"/>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242316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Four omics layers predict breast cancer survival</a:t>
            </a:r>
          </a:p>
        </p:txBody>
      </p:sp>
      <p:sp>
        <p:nvSpPr>
          <p:cNvPr id="15" name="Rectangle 14"/>
          <p:cNvSpPr/>
          <p:nvPr/>
        </p:nvSpPr>
        <p:spPr>
          <a:xfrm>
            <a:off x="9537192" y="91440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20072" y="106984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2</a:t>
            </a:r>
          </a:p>
        </p:txBody>
      </p:sp>
      <p:sp>
        <p:nvSpPr>
          <p:cNvPr id="17" name="TextBox 16"/>
          <p:cNvSpPr txBox="1"/>
          <p:nvPr/>
        </p:nvSpPr>
        <p:spPr>
          <a:xfrm>
            <a:off x="9720072" y="132588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Open chromatin in rice</a:t>
            </a:r>
          </a:p>
        </p:txBody>
      </p:sp>
      <p:sp>
        <p:nvSpPr>
          <p:cNvPr id="18" name="Oval 17"/>
          <p:cNvSpPr/>
          <p:nvPr/>
        </p:nvSpPr>
        <p:spPr>
          <a:xfrm>
            <a:off x="9720072" y="201168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49255" y="201168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2" y="242316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Sensitive and tolerant cultivars, control and drought</a:t>
            </a:r>
          </a:p>
        </p:txBody>
      </p:sp>
      <p:sp>
        <p:nvSpPr>
          <p:cNvPr id="21" name="Rectangle 20"/>
          <p:cNvSpPr/>
          <p:nvPr/>
        </p:nvSpPr>
        <p:spPr>
          <a:xfrm>
            <a:off x="7315200" y="361188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376732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3</a:t>
            </a:r>
          </a:p>
        </p:txBody>
      </p:sp>
      <p:sp>
        <p:nvSpPr>
          <p:cNvPr id="23" name="TextBox 22"/>
          <p:cNvSpPr txBox="1"/>
          <p:nvPr/>
        </p:nvSpPr>
        <p:spPr>
          <a:xfrm>
            <a:off x="7498079" y="402336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Cell-type deconvolution</a:t>
            </a:r>
          </a:p>
        </p:txBody>
      </p:sp>
      <p:sp>
        <p:nvSpPr>
          <p:cNvPr id="24" name="Oval 23"/>
          <p:cNvSpPr/>
          <p:nvPr/>
        </p:nvSpPr>
        <p:spPr>
          <a:xfrm>
            <a:off x="7498079"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99831"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101583"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03336"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8741664" y="4809744"/>
            <a:ext cx="201168" cy="0"/>
          </a:xfrm>
          <a:prstGeom prst="line">
            <a:avLst/>
          </a:prstGeom>
          <a:ln w="19050">
            <a:solidFill>
              <a:srgbClr val="D5D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979408" y="4709160"/>
            <a:ext cx="201168" cy="2011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79" y="512064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A VAE learns cell-type structure from simulated bulk RNA-seq</a:t>
            </a:r>
          </a:p>
        </p:txBody>
      </p:sp>
      <p:sp>
        <p:nvSpPr>
          <p:cNvPr id="31" name="Rectangle 30"/>
          <p:cNvSpPr/>
          <p:nvPr/>
        </p:nvSpPr>
        <p:spPr>
          <a:xfrm>
            <a:off x="9537192" y="361188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0072" y="376732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4</a:t>
            </a:r>
          </a:p>
        </p:txBody>
      </p:sp>
      <p:sp>
        <p:nvSpPr>
          <p:cNvPr id="33" name="TextBox 32"/>
          <p:cNvSpPr txBox="1"/>
          <p:nvPr/>
        </p:nvSpPr>
        <p:spPr>
          <a:xfrm>
            <a:off x="9720072" y="402336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Generative AI and agents</a:t>
            </a:r>
          </a:p>
        </p:txBody>
      </p:sp>
      <p:sp>
        <p:nvSpPr>
          <p:cNvPr id="34" name="Oval 33"/>
          <p:cNvSpPr/>
          <p:nvPr/>
        </p:nvSpPr>
        <p:spPr>
          <a:xfrm>
            <a:off x="9720072" y="4709160"/>
            <a:ext cx="237744" cy="2377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9994392" y="4828032"/>
            <a:ext cx="320040" cy="0"/>
          </a:xfrm>
          <a:prstGeom prst="line">
            <a:avLst/>
          </a:prstGeom>
          <a:ln w="19050">
            <a:solidFill>
              <a:srgbClr val="D5D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0360152" y="4727448"/>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661904" y="4727448"/>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963656" y="4727448"/>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20072" y="512064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LangGraph agents, RAG and MCP tools for compliance reviews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OVERVIEW</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Four projects cover multi-omic modeling, NGS, deep learning and agentic AI</a:t>
            </a:r>
          </a:p>
        </p:txBody>
      </p:sp>
      <p:sp>
        <p:nvSpPr>
          <p:cNvPr id="4" name="TextBox 3"/>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5" name="TextBox 4"/>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 / 34</a:t>
            </a:r>
          </a:p>
        </p:txBody>
      </p:sp>
      <p:sp>
        <p:nvSpPr>
          <p:cNvPr id="6" name="Rectangle 5"/>
          <p:cNvSpPr/>
          <p:nvPr/>
        </p:nvSpPr>
        <p:spPr>
          <a:xfrm>
            <a:off x="548640"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1</a:t>
            </a:r>
          </a:p>
        </p:txBody>
      </p:sp>
      <p:sp>
        <p:nvSpPr>
          <p:cNvPr id="9" name="TextBox 8"/>
          <p:cNvSpPr txBox="1"/>
          <p:nvPr/>
        </p:nvSpPr>
        <p:spPr>
          <a:xfrm>
            <a:off x="731520"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Multi-omics survival model</a:t>
            </a:r>
          </a:p>
        </p:txBody>
      </p:sp>
      <p:sp>
        <p:nvSpPr>
          <p:cNvPr id="10" name="Rounded Rectangle 9"/>
          <p:cNvSpPr/>
          <p:nvPr/>
        </p:nvSpPr>
        <p:spPr>
          <a:xfrm>
            <a:off x="731520"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First author  ·  published 2024</a:t>
            </a:r>
          </a:p>
        </p:txBody>
      </p:sp>
      <p:sp>
        <p:nvSpPr>
          <p:cNvPr id="11" name="TextBox 10"/>
          <p:cNvSpPr txBox="1"/>
          <p:nvPr/>
        </p:nvSpPr>
        <p:spPr>
          <a:xfrm>
            <a:off x="731520"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Stacked ensemble over four omics layers</a:t>
            </a:r>
          </a:p>
          <a:p>
            <a:pPr algn="l" marL="201168" indent="-201168">
              <a:spcAft>
                <a:spcPts val="400"/>
              </a:spcAft>
              <a:buChar char="•"/>
            </a:pPr>
            <a:r>
              <a:rPr sz="1200" b="0" i="0">
                <a:solidFill>
                  <a:srgbClr val="14171C"/>
                </a:solidFill>
                <a:latin typeface="Calibri"/>
              </a:rPr>
              <a:t>Five-year survival model, test AUC 0.89</a:t>
            </a:r>
          </a:p>
          <a:p>
            <a:pPr algn="l" marL="201168" indent="-201168">
              <a:spcAft>
                <a:spcPts val="400"/>
              </a:spcAft>
              <a:buChar char="•"/>
            </a:pPr>
            <a:r>
              <a:rPr sz="1200" b="0" i="0">
                <a:solidFill>
                  <a:srgbClr val="14171C"/>
                </a:solidFill>
                <a:latin typeface="Calibri"/>
              </a:rPr>
              <a:t>Biomarkers traced to hub genes and miRNAs</a:t>
            </a:r>
          </a:p>
        </p:txBody>
      </p:sp>
      <p:sp>
        <p:nvSpPr>
          <p:cNvPr id="12" name="TextBox 11"/>
          <p:cNvSpPr txBox="1"/>
          <p:nvPr/>
        </p:nvSpPr>
        <p:spPr>
          <a:xfrm>
            <a:off x="731520"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4–12</a:t>
            </a:r>
          </a:p>
        </p:txBody>
      </p:sp>
      <p:sp>
        <p:nvSpPr>
          <p:cNvPr id="13" name="Rectangle 12"/>
          <p:cNvSpPr/>
          <p:nvPr/>
        </p:nvSpPr>
        <p:spPr>
          <a:xfrm>
            <a:off x="3362248"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2248"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5128"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2</a:t>
            </a:r>
          </a:p>
        </p:txBody>
      </p:sp>
      <p:sp>
        <p:nvSpPr>
          <p:cNvPr id="16" name="TextBox 15"/>
          <p:cNvSpPr txBox="1"/>
          <p:nvPr/>
        </p:nvSpPr>
        <p:spPr>
          <a:xfrm>
            <a:off x="3545128"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Chromatin accessibility</a:t>
            </a:r>
          </a:p>
        </p:txBody>
      </p:sp>
      <p:sp>
        <p:nvSpPr>
          <p:cNvPr id="17" name="Rounded Rectangle 16"/>
          <p:cNvSpPr/>
          <p:nvPr/>
        </p:nvSpPr>
        <p:spPr>
          <a:xfrm>
            <a:off x="3545128"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Co-author  ·  published 2024</a:t>
            </a:r>
          </a:p>
        </p:txBody>
      </p:sp>
      <p:sp>
        <p:nvSpPr>
          <p:cNvPr id="18" name="TextBox 17"/>
          <p:cNvSpPr txBox="1"/>
          <p:nvPr/>
        </p:nvSpPr>
        <p:spPr>
          <a:xfrm>
            <a:off x="3545128"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DNase-seq analysis of drought response in rice</a:t>
            </a:r>
          </a:p>
          <a:p>
            <a:pPr algn="l" marL="201168" indent="-201168">
              <a:spcAft>
                <a:spcPts val="400"/>
              </a:spcAft>
              <a:buChar char="•"/>
            </a:pPr>
            <a:r>
              <a:rPr sz="1200" b="0" i="0">
                <a:solidFill>
                  <a:srgbClr val="14171C"/>
                </a:solidFill>
                <a:latin typeface="Calibri"/>
              </a:rPr>
              <a:t>Bash and Python pipeline, reads to motifs</a:t>
            </a:r>
          </a:p>
          <a:p>
            <a:pPr algn="l" marL="201168" indent="-201168">
              <a:spcAft>
                <a:spcPts val="400"/>
              </a:spcAft>
              <a:buChar char="•"/>
            </a:pPr>
            <a:r>
              <a:rPr sz="1200" b="0" i="0">
                <a:solidFill>
                  <a:srgbClr val="14171C"/>
                </a:solidFill>
                <a:latin typeface="Calibri"/>
              </a:rPr>
              <a:t>Accessibility joined with methylation and expression</a:t>
            </a:r>
          </a:p>
        </p:txBody>
      </p:sp>
      <p:sp>
        <p:nvSpPr>
          <p:cNvPr id="19" name="TextBox 18"/>
          <p:cNvSpPr txBox="1"/>
          <p:nvPr/>
        </p:nvSpPr>
        <p:spPr>
          <a:xfrm>
            <a:off x="3545128"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14–18</a:t>
            </a:r>
          </a:p>
        </p:txBody>
      </p:sp>
      <p:sp>
        <p:nvSpPr>
          <p:cNvPr id="20" name="Rectangle 19"/>
          <p:cNvSpPr/>
          <p:nvPr/>
        </p:nvSpPr>
        <p:spPr>
          <a:xfrm>
            <a:off x="6175857"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5857"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8737"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3</a:t>
            </a:r>
          </a:p>
        </p:txBody>
      </p:sp>
      <p:sp>
        <p:nvSpPr>
          <p:cNvPr id="23" name="TextBox 22"/>
          <p:cNvSpPr txBox="1"/>
          <p:nvPr/>
        </p:nvSpPr>
        <p:spPr>
          <a:xfrm>
            <a:off x="6358737"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Cell-type deconvolution</a:t>
            </a:r>
          </a:p>
        </p:txBody>
      </p:sp>
      <p:sp>
        <p:nvSpPr>
          <p:cNvPr id="24" name="Rounded Rectangle 23"/>
          <p:cNvSpPr/>
          <p:nvPr/>
        </p:nvSpPr>
        <p:spPr>
          <a:xfrm>
            <a:off x="6358737"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Research prototype</a:t>
            </a:r>
          </a:p>
        </p:txBody>
      </p:sp>
      <p:sp>
        <p:nvSpPr>
          <p:cNvPr id="25" name="TextBox 24"/>
          <p:cNvSpPr txBox="1"/>
          <p:nvPr/>
        </p:nvSpPr>
        <p:spPr>
          <a:xfrm>
            <a:off x="6358737"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VAE for cell-type structure in bulk RNA-seq</a:t>
            </a:r>
          </a:p>
          <a:p>
            <a:pPr algn="l" marL="201168" indent="-201168">
              <a:spcAft>
                <a:spcPts val="400"/>
              </a:spcAft>
              <a:buChar char="•"/>
            </a:pPr>
            <a:r>
              <a:rPr sz="1200" b="0" i="0">
                <a:solidFill>
                  <a:srgbClr val="14171C"/>
                </a:solidFill>
                <a:latin typeface="Calibri"/>
              </a:rPr>
              <a:t>Single-cell data simulated into training pairs</a:t>
            </a:r>
          </a:p>
          <a:p>
            <a:pPr algn="l" marL="201168" indent="-201168">
              <a:spcAft>
                <a:spcPts val="400"/>
              </a:spcAft>
              <a:buChar char="•"/>
            </a:pPr>
            <a:r>
              <a:rPr sz="1200" b="0" i="0">
                <a:solidFill>
                  <a:srgbClr val="14171C"/>
                </a:solidFill>
                <a:latin typeface="Calibri"/>
              </a:rPr>
              <a:t>PyTorch, Optuna, DVC, MLflow; validation pending</a:t>
            </a:r>
          </a:p>
        </p:txBody>
      </p:sp>
      <p:sp>
        <p:nvSpPr>
          <p:cNvPr id="26" name="TextBox 25"/>
          <p:cNvSpPr txBox="1"/>
          <p:nvPr/>
        </p:nvSpPr>
        <p:spPr>
          <a:xfrm>
            <a:off x="6358737"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20–26</a:t>
            </a:r>
          </a:p>
        </p:txBody>
      </p:sp>
      <p:sp>
        <p:nvSpPr>
          <p:cNvPr id="27" name="Rectangle 26"/>
          <p:cNvSpPr/>
          <p:nvPr/>
        </p:nvSpPr>
        <p:spPr>
          <a:xfrm>
            <a:off x="8989466"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89466"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72346"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4</a:t>
            </a:r>
          </a:p>
        </p:txBody>
      </p:sp>
      <p:sp>
        <p:nvSpPr>
          <p:cNvPr id="30" name="TextBox 29"/>
          <p:cNvSpPr txBox="1"/>
          <p:nvPr/>
        </p:nvSpPr>
        <p:spPr>
          <a:xfrm>
            <a:off x="9172346"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Generative AI and agents</a:t>
            </a:r>
          </a:p>
        </p:txBody>
      </p:sp>
      <p:sp>
        <p:nvSpPr>
          <p:cNvPr id="31" name="Rounded Rectangle 30"/>
          <p:cNvSpPr/>
          <p:nvPr/>
        </p:nvSpPr>
        <p:spPr>
          <a:xfrm>
            <a:off x="9172346"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Designed and built  ·  enterprise</a:t>
            </a:r>
          </a:p>
        </p:txBody>
      </p:sp>
      <p:sp>
        <p:nvSpPr>
          <p:cNvPr id="32" name="TextBox 31"/>
          <p:cNvSpPr txBox="1"/>
          <p:nvPr/>
        </p:nvSpPr>
        <p:spPr>
          <a:xfrm>
            <a:off x="9172346"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LangGraph multi-agent compliance system</a:t>
            </a:r>
          </a:p>
          <a:p>
            <a:pPr algn="l" marL="201168" indent="-201168">
              <a:spcAft>
                <a:spcPts val="400"/>
              </a:spcAft>
              <a:buChar char="•"/>
            </a:pPr>
            <a:r>
              <a:rPr sz="1200" b="0" i="0">
                <a:solidFill>
                  <a:srgbClr val="14171C"/>
                </a:solidFill>
                <a:latin typeface="Calibri"/>
              </a:rPr>
              <a:t>RAG pipeline from ingestion to validated output</a:t>
            </a:r>
          </a:p>
          <a:p>
            <a:pPr algn="l" marL="201168" indent="-201168">
              <a:spcAft>
                <a:spcPts val="400"/>
              </a:spcAft>
              <a:buChar char="•"/>
            </a:pPr>
            <a:r>
              <a:rPr sz="1200" b="0" i="0">
                <a:solidFill>
                  <a:srgbClr val="14171C"/>
                </a:solidFill>
                <a:latin typeface="Calibri"/>
              </a:rPr>
              <a:t>MCP tools for SharePoint and GitHub; MLflow tracing</a:t>
            </a:r>
          </a:p>
        </p:txBody>
      </p:sp>
      <p:sp>
        <p:nvSpPr>
          <p:cNvPr id="33" name="TextBox 32"/>
          <p:cNvSpPr txBox="1"/>
          <p:nvPr/>
        </p:nvSpPr>
        <p:spPr>
          <a:xfrm>
            <a:off x="9172346"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28–33</a:t>
            </a:r>
          </a:p>
        </p:txBody>
      </p:sp>
      <p:sp>
        <p:nvSpPr>
          <p:cNvPr id="34" name="TextBox 33"/>
          <p:cNvSpPr txBox="1"/>
          <p:nvPr/>
        </p:nvSpPr>
        <p:spPr>
          <a:xfrm>
            <a:off x="548640" y="5047488"/>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THE ROLE ASKS FOR</a:t>
            </a:r>
          </a:p>
        </p:txBody>
      </p:sp>
      <p:sp>
        <p:nvSpPr>
          <p:cNvPr id="35" name="Rounded Rectangle 34"/>
          <p:cNvSpPr/>
          <p:nvPr/>
        </p:nvSpPr>
        <p:spPr>
          <a:xfrm>
            <a:off x="548640"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Multi-omic integration</a:t>
            </a:r>
          </a:p>
        </p:txBody>
      </p:sp>
      <p:sp>
        <p:nvSpPr>
          <p:cNvPr id="36" name="Rounded Rectangle 35"/>
          <p:cNvSpPr/>
          <p:nvPr/>
        </p:nvSpPr>
        <p:spPr>
          <a:xfrm>
            <a:off x="2415844"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Biomarker models</a:t>
            </a:r>
          </a:p>
        </p:txBody>
      </p:sp>
      <p:sp>
        <p:nvSpPr>
          <p:cNvPr id="37" name="Rounded Rectangle 36"/>
          <p:cNvSpPr/>
          <p:nvPr/>
        </p:nvSpPr>
        <p:spPr>
          <a:xfrm>
            <a:off x="4283049"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Deep learning and generative models</a:t>
            </a:r>
          </a:p>
        </p:txBody>
      </p:sp>
      <p:sp>
        <p:nvSpPr>
          <p:cNvPr id="38" name="Rounded Rectangle 37"/>
          <p:cNvSpPr/>
          <p:nvPr/>
        </p:nvSpPr>
        <p:spPr>
          <a:xfrm>
            <a:off x="6150254"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Generative AI and agents</a:t>
            </a:r>
          </a:p>
        </p:txBody>
      </p:sp>
      <p:sp>
        <p:nvSpPr>
          <p:cNvPr id="39" name="Rounded Rectangle 38"/>
          <p:cNvSpPr/>
          <p:nvPr/>
        </p:nvSpPr>
        <p:spPr>
          <a:xfrm>
            <a:off x="8017459"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NGS and epigenomics</a:t>
            </a:r>
          </a:p>
        </p:txBody>
      </p:sp>
      <p:sp>
        <p:nvSpPr>
          <p:cNvPr id="40" name="Rounded Rectangle 39"/>
          <p:cNvSpPr/>
          <p:nvPr/>
        </p:nvSpPr>
        <p:spPr>
          <a:xfrm>
            <a:off x="9884663"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Reproducible code</a:t>
            </a:r>
          </a:p>
        </p:txBody>
      </p:sp>
      <p:sp>
        <p:nvSpPr>
          <p:cNvPr id="41" name="TextBox 40"/>
          <p:cNvSpPr txBox="1"/>
          <p:nvPr/>
        </p:nvSpPr>
        <p:spPr>
          <a:xfrm>
            <a:off x="548640" y="5943600"/>
            <a:ext cx="11091672"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Evidence by requirement, with slide references: slide 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1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Multi-omics machine learning for breast cancer survival</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First-author work on ConnectOME: a stacked ensemble that integrates four omics layers and traces its features back to biology.</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302</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TCGA patients with all four omics layers</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0.89</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test AUC for five-year survival</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8</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hub genes behind the prediction</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 / 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PROBLEM</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Single-omics models miss interdependence, and high-dimensional data invites overfitting</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clinical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4 / 34</a:t>
            </a:r>
          </a:p>
        </p:txBody>
      </p:sp>
      <p:sp>
        <p:nvSpPr>
          <p:cNvPr id="9" name="Rectangle 8"/>
          <p:cNvSpPr/>
          <p:nvPr/>
        </p:nvSpPr>
        <p:spPr>
          <a:xfrm>
            <a:off x="548640" y="16916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288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Few patients, many features</a:t>
            </a:r>
          </a:p>
        </p:txBody>
      </p:sp>
      <p:sp>
        <p:nvSpPr>
          <p:cNvPr id="12" name="TextBox 11"/>
          <p:cNvSpPr txBox="1"/>
          <p:nvPr/>
        </p:nvSpPr>
        <p:spPr>
          <a:xfrm>
            <a:off x="822959" y="2194560"/>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Thousands of features per modality against 302 patients. The curse of dimensionality makes overfitting the default outcome.</a:t>
            </a:r>
          </a:p>
        </p:txBody>
      </p:sp>
      <p:sp>
        <p:nvSpPr>
          <p:cNvPr id="13" name="Rectangle 12"/>
          <p:cNvSpPr/>
          <p:nvPr/>
        </p:nvSpPr>
        <p:spPr>
          <a:xfrm>
            <a:off x="548640" y="30632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004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Selection versus interpretation</a:t>
            </a:r>
          </a:p>
        </p:txBody>
      </p:sp>
      <p:sp>
        <p:nvSpPr>
          <p:cNvPr id="16" name="TextBox 15"/>
          <p:cNvSpPr txBox="1"/>
          <p:nvPr/>
        </p:nvSpPr>
        <p:spPr>
          <a:xfrm>
            <a:off x="822959" y="3566160"/>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Feature selection drops the gene-network context. Latent variables keep the information but are hard to interpret.</a:t>
            </a:r>
          </a:p>
        </p:txBody>
      </p:sp>
      <p:sp>
        <p:nvSpPr>
          <p:cNvPr id="17" name="Rectangle 16"/>
          <p:cNvSpPr/>
          <p:nvPr/>
        </p:nvSpPr>
        <p:spPr>
          <a:xfrm>
            <a:off x="548640" y="44348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720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Accuracy without insight</a:t>
            </a:r>
          </a:p>
        </p:txBody>
      </p:sp>
      <p:sp>
        <p:nvSpPr>
          <p:cNvPr id="20" name="TextBox 19"/>
          <p:cNvSpPr txBox="1"/>
          <p:nvPr/>
        </p:nvSpPr>
        <p:spPr>
          <a:xfrm>
            <a:off x="822959" y="4937759"/>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Deep learning scores well on survival prediction but acts as a black box and yields no actionable biomarkers.</a:t>
            </a:r>
          </a:p>
        </p:txBody>
      </p:sp>
      <p:sp>
        <p:nvSpPr>
          <p:cNvPr id="21" name="Rectangle 20"/>
          <p:cNvSpPr/>
          <p:nvPr/>
        </p:nvSpPr>
        <p:spPr>
          <a:xfrm>
            <a:off x="6858000" y="1691640"/>
            <a:ext cx="4782312" cy="3977639"/>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1874519"/>
            <a:ext cx="4297680" cy="27432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OBJECTIVE</a:t>
            </a:r>
          </a:p>
        </p:txBody>
      </p:sp>
      <p:sp>
        <p:nvSpPr>
          <p:cNvPr id="23" name="TextBox 22"/>
          <p:cNvSpPr txBox="1"/>
          <p:nvPr/>
        </p:nvSpPr>
        <p:spPr>
          <a:xfrm>
            <a:off x="7132320" y="2148840"/>
            <a:ext cx="4297680" cy="1188720"/>
          </a:xfrm>
          <a:prstGeom prst="rect">
            <a:avLst/>
          </a:prstGeom>
          <a:noFill/>
        </p:spPr>
        <p:txBody>
          <a:bodyPr wrap="square" lIns="0" rIns="0" tIns="0" bIns="0" anchor="t">
            <a:spAutoFit/>
          </a:bodyPr>
          <a:lstStyle/>
          <a:p>
            <a:pPr algn="l">
              <a:spcAft>
                <a:spcPts val="0"/>
              </a:spcAft>
            </a:pPr>
            <a:r>
              <a:rPr sz="1700" b="1" i="0">
                <a:solidFill>
                  <a:srgbClr val="FFFFFF"/>
                </a:solidFill>
                <a:latin typeface="Calibri"/>
              </a:rPr>
              <a:t>Predict whether a breast cancer patient survives beyond five years from four omics layers, and recover the biomarkers and gene network behind the prediction.</a:t>
            </a:r>
          </a:p>
        </p:txBody>
      </p:sp>
      <p:sp>
        <p:nvSpPr>
          <p:cNvPr id="24" name="TextBox 23"/>
          <p:cNvSpPr txBox="1"/>
          <p:nvPr/>
        </p:nvSpPr>
        <p:spPr>
          <a:xfrm>
            <a:off x="7132320" y="3474720"/>
            <a:ext cx="4297680" cy="27432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APPROACH</a:t>
            </a:r>
          </a:p>
        </p:txBody>
      </p:sp>
      <p:sp>
        <p:nvSpPr>
          <p:cNvPr id="25" name="TextBox 24"/>
          <p:cNvSpPr txBox="1"/>
          <p:nvPr/>
        </p:nvSpPr>
        <p:spPr>
          <a:xfrm>
            <a:off x="7132320" y="3794760"/>
            <a:ext cx="4297680" cy="1737360"/>
          </a:xfrm>
          <a:prstGeom prst="rect">
            <a:avLst/>
          </a:prstGeom>
          <a:noFill/>
        </p:spPr>
        <p:txBody>
          <a:bodyPr wrap="square" lIns="0" rIns="0" tIns="0" bIns="0" anchor="t">
            <a:spAutoFit/>
          </a:bodyPr>
          <a:lstStyle/>
          <a:p>
            <a:pPr algn="l" marL="201168" indent="-201168">
              <a:spcAft>
                <a:spcPts val="400"/>
              </a:spcAft>
              <a:buChar char="•"/>
            </a:pPr>
            <a:r>
              <a:rPr sz="1400" b="0" i="0">
                <a:solidFill>
                  <a:srgbClr val="D5DEEA"/>
                </a:solidFill>
                <a:latin typeface="Calibri"/>
              </a:rPr>
              <a:t>Univariate and multivariate feature engineering per modality</a:t>
            </a:r>
          </a:p>
          <a:p>
            <a:pPr algn="l" marL="201168" indent="-201168">
              <a:spcAft>
                <a:spcPts val="400"/>
              </a:spcAft>
              <a:buChar char="•"/>
            </a:pPr>
            <a:r>
              <a:rPr sz="1400" b="0" i="0">
                <a:solidFill>
                  <a:srgbClr val="D5DEEA"/>
                </a:solidFill>
                <a:latin typeface="Calibri"/>
              </a:rPr>
              <a:t>SVM and random forest base models, plus PLS-DA latent variables</a:t>
            </a:r>
          </a:p>
          <a:p>
            <a:pPr algn="l" marL="201168" indent="-201168">
              <a:spcAft>
                <a:spcPts val="400"/>
              </a:spcAft>
              <a:buChar char="•"/>
            </a:pPr>
            <a:r>
              <a:rPr sz="1400" b="0" i="0">
                <a:solidFill>
                  <a:srgbClr val="D5DEEA"/>
                </a:solidFill>
                <a:latin typeface="Calibri"/>
              </a:rPr>
              <a:t>A stacked meta-model for integration</a:t>
            </a:r>
          </a:p>
          <a:p>
            <a:pPr algn="l" marL="201168" indent="-201168">
              <a:spcAft>
                <a:spcPts val="400"/>
              </a:spcAft>
              <a:buChar char="•"/>
            </a:pPr>
            <a:r>
              <a:rPr sz="1400" b="0" i="0">
                <a:solidFill>
                  <a:srgbClr val="D5DEEA"/>
                </a:solidFill>
                <a:latin typeface="Calibri"/>
              </a:rPr>
              <a:t>Pathway, network and miRNA analysis of the selected features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302 TCGA breast cancer patients had all four omics layers and at least five years of follow-up</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Real-world biomarker data: QC, preprocessing and integration across modalities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5 / 34</a:t>
            </a:r>
          </a:p>
        </p:txBody>
      </p:sp>
      <p:sp>
        <p:nvSpPr>
          <p:cNvPr id="9" name="TextBox 8"/>
          <p:cNvSpPr txBox="1"/>
          <p:nvPr/>
        </p:nvSpPr>
        <p:spPr>
          <a:xfrm>
            <a:off x="548640" y="164592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COHORT</a:t>
            </a:r>
          </a:p>
        </p:txBody>
      </p:sp>
      <p:sp>
        <p:nvSpPr>
          <p:cNvPr id="10" name="TextBox 9"/>
          <p:cNvSpPr txBox="1"/>
          <p:nvPr/>
        </p:nvSpPr>
        <p:spPr>
          <a:xfrm>
            <a:off x="548640" y="1920240"/>
            <a:ext cx="1737360" cy="73152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1,026</a:t>
            </a:r>
          </a:p>
        </p:txBody>
      </p:sp>
      <p:sp>
        <p:nvSpPr>
          <p:cNvPr id="11" name="TextBox 10"/>
          <p:cNvSpPr txBox="1"/>
          <p:nvPr/>
        </p:nvSpPr>
        <p:spPr>
          <a:xfrm>
            <a:off x="2377440" y="1920240"/>
            <a:ext cx="3931920" cy="731520"/>
          </a:xfrm>
          <a:prstGeom prst="rect">
            <a:avLst/>
          </a:prstGeom>
          <a:noFill/>
        </p:spPr>
        <p:txBody>
          <a:bodyPr wrap="square" lIns="0" rIns="0" tIns="0" bIns="0" anchor="ctr">
            <a:spAutoFit/>
          </a:bodyPr>
          <a:lstStyle/>
          <a:p>
            <a:pPr algn="l">
              <a:spcAft>
                <a:spcPts val="0"/>
              </a:spcAft>
            </a:pPr>
            <a:r>
              <a:rPr sz="1350" b="0" i="0">
                <a:solidFill>
                  <a:srgbClr val="14171C"/>
                </a:solidFill>
                <a:latin typeface="Calibri"/>
              </a:rPr>
              <a:t>female ductal and lobular carcinoma patients in TCGA, with survival status for at least five years</a:t>
            </a:r>
          </a:p>
        </p:txBody>
      </p:sp>
      <p:cxnSp>
        <p:nvCxnSpPr>
          <p:cNvPr id="12" name="Connector 11"/>
          <p:cNvCxnSpPr/>
          <p:nvPr/>
        </p:nvCxnSpPr>
        <p:spPr>
          <a:xfrm>
            <a:off x="1371600" y="2697480"/>
            <a:ext cx="0" cy="22860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2971800"/>
            <a:ext cx="1737360" cy="73152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302</a:t>
            </a:r>
          </a:p>
        </p:txBody>
      </p:sp>
      <p:sp>
        <p:nvSpPr>
          <p:cNvPr id="14" name="TextBox 13"/>
          <p:cNvSpPr txBox="1"/>
          <p:nvPr/>
        </p:nvSpPr>
        <p:spPr>
          <a:xfrm>
            <a:off x="2377440" y="2971800"/>
            <a:ext cx="3931920" cy="731520"/>
          </a:xfrm>
          <a:prstGeom prst="rect">
            <a:avLst/>
          </a:prstGeom>
          <a:noFill/>
        </p:spPr>
        <p:txBody>
          <a:bodyPr wrap="square" lIns="0" rIns="0" tIns="0" bIns="0" anchor="ctr">
            <a:spAutoFit/>
          </a:bodyPr>
          <a:lstStyle/>
          <a:p>
            <a:pPr algn="l">
              <a:spcAft>
                <a:spcPts val="0"/>
              </a:spcAft>
            </a:pPr>
            <a:r>
              <a:rPr sz="1350" b="0" i="0">
                <a:solidFill>
                  <a:srgbClr val="14171C"/>
                </a:solidFill>
                <a:latin typeface="Calibri"/>
              </a:rPr>
              <a:t>patients with all four omics layers and clinical data available</a:t>
            </a:r>
          </a:p>
        </p:txBody>
      </p:sp>
      <p:sp>
        <p:nvSpPr>
          <p:cNvPr id="15" name="TextBox 14"/>
          <p:cNvSpPr txBox="1"/>
          <p:nvPr/>
        </p:nvSpPr>
        <p:spPr>
          <a:xfrm>
            <a:off x="548640" y="3886200"/>
            <a:ext cx="576072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Survival classes: 73% long, 27% short (imbalanced)</a:t>
            </a:r>
          </a:p>
        </p:txBody>
      </p:sp>
      <p:sp>
        <p:nvSpPr>
          <p:cNvPr id="16" name="Rectangle 15"/>
          <p:cNvSpPr/>
          <p:nvPr/>
        </p:nvSpPr>
        <p:spPr>
          <a:xfrm>
            <a:off x="548640" y="4206240"/>
            <a:ext cx="4197096" cy="4572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45736" y="4206240"/>
            <a:ext cx="1563624" cy="457200"/>
          </a:xfrm>
          <a:prstGeom prst="rect">
            <a:avLst/>
          </a:prstGeom>
          <a:solidFill>
            <a:srgbClr val="A9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206240"/>
            <a:ext cx="4197096"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220 long survival</a:t>
            </a:r>
          </a:p>
        </p:txBody>
      </p:sp>
      <p:sp>
        <p:nvSpPr>
          <p:cNvPr id="19" name="TextBox 18"/>
          <p:cNvSpPr txBox="1"/>
          <p:nvPr/>
        </p:nvSpPr>
        <p:spPr>
          <a:xfrm>
            <a:off x="4745736" y="4206240"/>
            <a:ext cx="1563624" cy="457200"/>
          </a:xfrm>
          <a:prstGeom prst="rect">
            <a:avLst/>
          </a:prstGeom>
          <a:noFill/>
        </p:spPr>
        <p:txBody>
          <a:bodyPr wrap="square" lIns="0" rIns="0" tIns="0" bIns="0" anchor="ctr">
            <a:spAutoFit/>
          </a:bodyPr>
          <a:lstStyle/>
          <a:p>
            <a:pPr algn="ctr">
              <a:spcAft>
                <a:spcPts val="0"/>
              </a:spcAft>
            </a:pPr>
            <a:r>
              <a:rPr sz="1400" b="1" i="0">
                <a:solidFill>
                  <a:srgbClr val="0E2A47"/>
                </a:solidFill>
                <a:latin typeface="Calibri"/>
              </a:rPr>
              <a:t>82 short</a:t>
            </a:r>
          </a:p>
        </p:txBody>
      </p:sp>
      <p:sp>
        <p:nvSpPr>
          <p:cNvPr id="20" name="TextBox 19"/>
          <p:cNvSpPr txBox="1"/>
          <p:nvPr/>
        </p:nvSpPr>
        <p:spPr>
          <a:xfrm>
            <a:off x="548640" y="4892040"/>
            <a:ext cx="576072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Split: 85% training (4-fold CV) and 15% held-out test</a:t>
            </a:r>
          </a:p>
        </p:txBody>
      </p:sp>
      <p:sp>
        <p:nvSpPr>
          <p:cNvPr id="21" name="Rectangle 20"/>
          <p:cNvSpPr/>
          <p:nvPr/>
        </p:nvSpPr>
        <p:spPr>
          <a:xfrm>
            <a:off x="548640" y="5212080"/>
            <a:ext cx="4882896" cy="4572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31536" y="5212080"/>
            <a:ext cx="877824" cy="457200"/>
          </a:xfrm>
          <a:prstGeom prst="rect">
            <a:avLst/>
          </a:prstGeom>
          <a:solidFill>
            <a:srgbClr val="A9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212080"/>
            <a:ext cx="4882896"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256 training</a:t>
            </a:r>
          </a:p>
        </p:txBody>
      </p:sp>
      <p:sp>
        <p:nvSpPr>
          <p:cNvPr id="24" name="TextBox 23"/>
          <p:cNvSpPr txBox="1"/>
          <p:nvPr/>
        </p:nvSpPr>
        <p:spPr>
          <a:xfrm>
            <a:off x="5431536" y="5212080"/>
            <a:ext cx="877824" cy="457200"/>
          </a:xfrm>
          <a:prstGeom prst="rect">
            <a:avLst/>
          </a:prstGeom>
          <a:noFill/>
        </p:spPr>
        <p:txBody>
          <a:bodyPr wrap="square" lIns="0" rIns="0" tIns="0" bIns="0" anchor="ctr">
            <a:spAutoFit/>
          </a:bodyPr>
          <a:lstStyle/>
          <a:p>
            <a:pPr algn="ctr">
              <a:spcAft>
                <a:spcPts val="0"/>
              </a:spcAft>
            </a:pPr>
            <a:r>
              <a:rPr sz="1400" b="1" i="0">
                <a:solidFill>
                  <a:srgbClr val="0E2A47"/>
                </a:solidFill>
                <a:latin typeface="Calibri"/>
              </a:rPr>
              <a:t>46 test</a:t>
            </a:r>
          </a:p>
        </p:txBody>
      </p:sp>
      <p:sp>
        <p:nvSpPr>
          <p:cNvPr id="25" name="TextBox 24"/>
          <p:cNvSpPr txBox="1"/>
          <p:nvPr/>
        </p:nvSpPr>
        <p:spPr>
          <a:xfrm>
            <a:off x="6675120" y="1645920"/>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FOUR OMICS LAYERS</a:t>
            </a:r>
          </a:p>
        </p:txBody>
      </p:sp>
      <p:sp>
        <p:nvSpPr>
          <p:cNvPr id="26" name="Rectangle 25"/>
          <p:cNvSpPr/>
          <p:nvPr/>
        </p:nvSpPr>
        <p:spPr>
          <a:xfrm>
            <a:off x="6675120" y="192024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920240"/>
            <a:ext cx="109728"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202996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Gene expression</a:t>
            </a:r>
          </a:p>
        </p:txBody>
      </p:sp>
      <p:sp>
        <p:nvSpPr>
          <p:cNvPr id="29" name="TextBox 28"/>
          <p:cNvSpPr txBox="1"/>
          <p:nvPr/>
        </p:nvSpPr>
        <p:spPr>
          <a:xfrm>
            <a:off x="6995160" y="235000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FPKM values, continuous.</a:t>
            </a:r>
          </a:p>
        </p:txBody>
      </p:sp>
      <p:sp>
        <p:nvSpPr>
          <p:cNvPr id="30" name="Rectangle 29"/>
          <p:cNvSpPr/>
          <p:nvPr/>
        </p:nvSpPr>
        <p:spPr>
          <a:xfrm>
            <a:off x="6675120" y="292608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2926080"/>
            <a:ext cx="109728"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03580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miRNA expression</a:t>
            </a:r>
          </a:p>
        </p:txBody>
      </p:sp>
      <p:sp>
        <p:nvSpPr>
          <p:cNvPr id="33" name="TextBox 32"/>
          <p:cNvSpPr txBox="1"/>
          <p:nvPr/>
        </p:nvSpPr>
        <p:spPr>
          <a:xfrm>
            <a:off x="6995160" y="335584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RPKM values, continuous.</a:t>
            </a:r>
          </a:p>
        </p:txBody>
      </p:sp>
      <p:sp>
        <p:nvSpPr>
          <p:cNvPr id="34" name="Rectangle 33"/>
          <p:cNvSpPr/>
          <p:nvPr/>
        </p:nvSpPr>
        <p:spPr>
          <a:xfrm>
            <a:off x="6675120" y="393192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75120" y="3931920"/>
            <a:ext cx="109728"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404164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DNA methylation</a:t>
            </a:r>
          </a:p>
        </p:txBody>
      </p:sp>
      <p:sp>
        <p:nvSpPr>
          <p:cNvPr id="37" name="TextBox 36"/>
          <p:cNvSpPr txBox="1"/>
          <p:nvPr/>
        </p:nvSpPr>
        <p:spPr>
          <a:xfrm>
            <a:off x="6995160" y="436168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Beta values scaled between 0 and 1.</a:t>
            </a:r>
          </a:p>
        </p:txBody>
      </p:sp>
      <p:sp>
        <p:nvSpPr>
          <p:cNvPr id="38" name="Rectangle 37"/>
          <p:cNvSpPr/>
          <p:nvPr/>
        </p:nvSpPr>
        <p:spPr>
          <a:xfrm>
            <a:off x="6675120" y="493776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675120" y="4937760"/>
            <a:ext cx="109728" cy="914400"/>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95160" y="504748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Copy number variation</a:t>
            </a:r>
          </a:p>
        </p:txBody>
      </p:sp>
      <p:sp>
        <p:nvSpPr>
          <p:cNvPr id="41" name="TextBox 40"/>
          <p:cNvSpPr txBox="1"/>
          <p:nvPr/>
        </p:nvSpPr>
        <p:spPr>
          <a:xfrm>
            <a:off x="6995160" y="536752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GISTIC2 discrete calls: loss, neutral or gain.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METHOD</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Feature selection was tuned to stop overfitting, not only to maximise training score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Feature engineering and control of overfitting on high-dimensional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6 / 34</a:t>
            </a:r>
          </a:p>
        </p:txBody>
      </p:sp>
      <p:sp>
        <p:nvSpPr>
          <p:cNvPr id="9" name="Oval 8"/>
          <p:cNvSpPr/>
          <p:nvPr/>
        </p:nvSpPr>
        <p:spPr>
          <a:xfrm>
            <a:off x="548640" y="1737360"/>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1</a:t>
            </a:r>
          </a:p>
        </p:txBody>
      </p:sp>
      <p:sp>
        <p:nvSpPr>
          <p:cNvPr id="10" name="TextBox 9"/>
          <p:cNvSpPr txBox="1"/>
          <p:nvPr/>
        </p:nvSpPr>
        <p:spPr>
          <a:xfrm>
            <a:off x="1234440" y="1691640"/>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Clean</a:t>
            </a:r>
          </a:p>
        </p:txBody>
      </p:sp>
      <p:sp>
        <p:nvSpPr>
          <p:cNvPr id="11" name="TextBox 10"/>
          <p:cNvSpPr txBox="1"/>
          <p:nvPr/>
        </p:nvSpPr>
        <p:spPr>
          <a:xfrm>
            <a:off x="1234440" y="2020824"/>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Remove features with missing values. Keep protein-coding genes for expression and copy number.</a:t>
            </a:r>
          </a:p>
        </p:txBody>
      </p:sp>
      <p:sp>
        <p:nvSpPr>
          <p:cNvPr id="12" name="Oval 11"/>
          <p:cNvSpPr/>
          <p:nvPr/>
        </p:nvSpPr>
        <p:spPr>
          <a:xfrm>
            <a:off x="548640" y="2816352"/>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2</a:t>
            </a:r>
          </a:p>
        </p:txBody>
      </p:sp>
      <p:sp>
        <p:nvSpPr>
          <p:cNvPr id="13" name="TextBox 12"/>
          <p:cNvSpPr txBox="1"/>
          <p:nvPr/>
        </p:nvSpPr>
        <p:spPr>
          <a:xfrm>
            <a:off x="1234440" y="2770632"/>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Scale</a:t>
            </a:r>
          </a:p>
        </p:txBody>
      </p:sp>
      <p:sp>
        <p:nvSpPr>
          <p:cNvPr id="14" name="TextBox 13"/>
          <p:cNvSpPr txBox="1"/>
          <p:nvPr/>
        </p:nvSpPr>
        <p:spPr>
          <a:xfrm>
            <a:off x="1234440" y="3099816"/>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MinMaxScaler outperformed row-mean centering with Frobenius normalisation, so it was used.</a:t>
            </a:r>
          </a:p>
        </p:txBody>
      </p:sp>
      <p:sp>
        <p:nvSpPr>
          <p:cNvPr id="15" name="Oval 14"/>
          <p:cNvSpPr/>
          <p:nvPr/>
        </p:nvSpPr>
        <p:spPr>
          <a:xfrm>
            <a:off x="548640" y="3895344"/>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3</a:t>
            </a:r>
          </a:p>
        </p:txBody>
      </p:sp>
      <p:sp>
        <p:nvSpPr>
          <p:cNvPr id="16" name="TextBox 15"/>
          <p:cNvSpPr txBox="1"/>
          <p:nvPr/>
        </p:nvSpPr>
        <p:spPr>
          <a:xfrm>
            <a:off x="1234440" y="3849624"/>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Select per modality</a:t>
            </a:r>
          </a:p>
        </p:txBody>
      </p:sp>
      <p:sp>
        <p:nvSpPr>
          <p:cNvPr id="17" name="TextBox 16"/>
          <p:cNvSpPr txBox="1"/>
          <p:nvPr/>
        </p:nvSpPr>
        <p:spPr>
          <a:xfrm>
            <a:off x="1234440" y="4178808"/>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Rank features with t-test, χ², mutual information and mRMR. Continuous data were discretised for χ² and MI. Features had to hold across all four CV folds.</a:t>
            </a:r>
          </a:p>
        </p:txBody>
      </p:sp>
      <p:sp>
        <p:nvSpPr>
          <p:cNvPr id="18" name="Oval 17"/>
          <p:cNvSpPr/>
          <p:nvPr/>
        </p:nvSpPr>
        <p:spPr>
          <a:xfrm>
            <a:off x="548640" y="4974336"/>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4</a:t>
            </a:r>
          </a:p>
        </p:txBody>
      </p:sp>
      <p:sp>
        <p:nvSpPr>
          <p:cNvPr id="19" name="TextBox 18"/>
          <p:cNvSpPr txBox="1"/>
          <p:nvPr/>
        </p:nvSpPr>
        <p:spPr>
          <a:xfrm>
            <a:off x="1234440" y="4928616"/>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Cap the feature count</a:t>
            </a:r>
          </a:p>
        </p:txBody>
      </p:sp>
      <p:sp>
        <p:nvSpPr>
          <p:cNvPr id="20" name="TextBox 19"/>
          <p:cNvSpPr txBox="1"/>
          <p:nvPr/>
        </p:nvSpPr>
        <p:spPr>
          <a:xfrm>
            <a:off x="1234440" y="5257800"/>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Feature-set size was limited where training and test curves began to diverge. This removed overfitting in the SVM models.</a:t>
            </a:r>
          </a:p>
        </p:txBody>
      </p:sp>
      <p:sp>
        <p:nvSpPr>
          <p:cNvPr id="21" name="TextBox 20"/>
          <p:cNvSpPr txBox="1"/>
          <p:nvPr/>
        </p:nvSpPr>
        <p:spPr>
          <a:xfrm>
            <a:off x="7406640" y="1645920"/>
            <a:ext cx="420624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BEST FILTER METHOD PER MODALITY</a:t>
            </a:r>
          </a:p>
        </p:txBody>
      </p:sp>
      <p:sp>
        <p:nvSpPr>
          <p:cNvPr id="22" name="Oval 21"/>
          <p:cNvSpPr/>
          <p:nvPr/>
        </p:nvSpPr>
        <p:spPr>
          <a:xfrm>
            <a:off x="7406640" y="2039112"/>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1965960"/>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Gene expression   </a:t>
            </a:r>
            <a:r>
              <a:rPr sz="1400" b="0" i="0">
                <a:solidFill>
                  <a:srgbClr val="52514E"/>
                </a:solidFill>
                <a:latin typeface="Calibri"/>
              </a:rPr>
              <a:t>t-test</a:t>
            </a:r>
          </a:p>
        </p:txBody>
      </p:sp>
      <p:sp>
        <p:nvSpPr>
          <p:cNvPr id="24" name="Oval 23"/>
          <p:cNvSpPr/>
          <p:nvPr/>
        </p:nvSpPr>
        <p:spPr>
          <a:xfrm>
            <a:off x="7406640" y="251460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2441448"/>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miRNA expression   </a:t>
            </a:r>
            <a:r>
              <a:rPr sz="1400" b="0" i="0">
                <a:solidFill>
                  <a:srgbClr val="52514E"/>
                </a:solidFill>
                <a:latin typeface="Calibri"/>
              </a:rPr>
              <a:t>mutual information</a:t>
            </a:r>
          </a:p>
        </p:txBody>
      </p:sp>
      <p:sp>
        <p:nvSpPr>
          <p:cNvPr id="26" name="Oval 25"/>
          <p:cNvSpPr/>
          <p:nvPr/>
        </p:nvSpPr>
        <p:spPr>
          <a:xfrm>
            <a:off x="7406640" y="2990088"/>
            <a:ext cx="237744" cy="23774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2916936"/>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DNA methylation   </a:t>
            </a:r>
            <a:r>
              <a:rPr sz="1400" b="0" i="0">
                <a:solidFill>
                  <a:srgbClr val="52514E"/>
                </a:solidFill>
                <a:latin typeface="Calibri"/>
              </a:rPr>
              <a:t>mutual information</a:t>
            </a:r>
          </a:p>
        </p:txBody>
      </p:sp>
      <p:sp>
        <p:nvSpPr>
          <p:cNvPr id="28" name="Oval 27"/>
          <p:cNvSpPr/>
          <p:nvPr/>
        </p:nvSpPr>
        <p:spPr>
          <a:xfrm>
            <a:off x="7406640" y="3465576"/>
            <a:ext cx="237744" cy="237744"/>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3392424"/>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Copy number   </a:t>
            </a:r>
            <a:r>
              <a:rPr sz="1400" b="0" i="0">
                <a:solidFill>
                  <a:srgbClr val="52514E"/>
                </a:solidFill>
                <a:latin typeface="Calibri"/>
              </a:rPr>
              <a:t>mutual information</a:t>
            </a:r>
          </a:p>
        </p:txBody>
      </p:sp>
      <p:sp>
        <p:nvSpPr>
          <p:cNvPr id="30" name="Rectangle 29"/>
          <p:cNvSpPr/>
          <p:nvPr/>
        </p:nvSpPr>
        <p:spPr>
          <a:xfrm>
            <a:off x="7406640" y="4069080"/>
            <a:ext cx="4233672" cy="1234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06640" y="406908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4206240"/>
            <a:ext cx="3840480" cy="1005840"/>
          </a:xfrm>
          <a:prstGeom prst="rect">
            <a:avLst/>
          </a:prstGeom>
          <a:noFill/>
        </p:spPr>
        <p:txBody>
          <a:bodyPr wrap="square" lIns="0" rIns="0" tIns="0" bIns="0" anchor="t">
            <a:spAutoFit/>
          </a:bodyPr>
          <a:lstStyle/>
          <a:p>
            <a:pPr algn="l">
              <a:spcAft>
                <a:spcPts val="0"/>
              </a:spcAft>
            </a:pPr>
            <a:r>
              <a:rPr sz="1400" b="1" i="0">
                <a:solidFill>
                  <a:srgbClr val="0E2A47"/>
                </a:solidFill>
                <a:latin typeface="Calibri"/>
              </a:rPr>
              <a:t>Random forest kept overfitting </a:t>
            </a:r>
            <a:r>
              <a:rPr sz="1400" b="0" i="0">
                <a:solidFill>
                  <a:srgbClr val="14171C"/>
                </a:solidFill>
                <a:latin typeface="Calibri"/>
              </a:rPr>
              <a:t>even with capped feature sets: the train-test gap in accuracy and AUC stayed large. This shaped the final model choice.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FRAMEWORK</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three-level stacked ensemble fuses the modalities while keeping features interpretable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Multi-omic integration framework combining latent-variable and ensemble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7 / 34</a:t>
            </a:r>
          </a:p>
        </p:txBody>
      </p:sp>
      <p:sp>
        <p:nvSpPr>
          <p:cNvPr id="9" name="Rectangle 8"/>
          <p:cNvSpPr/>
          <p:nvPr/>
        </p:nvSpPr>
        <p:spPr>
          <a:xfrm>
            <a:off x="548640" y="1783080"/>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109728" cy="5669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783080"/>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Gene expression</a:t>
            </a:r>
          </a:p>
        </p:txBody>
      </p:sp>
      <p:cxnSp>
        <p:nvCxnSpPr>
          <p:cNvPr id="12" name="Connector 11"/>
          <p:cNvCxnSpPr/>
          <p:nvPr/>
        </p:nvCxnSpPr>
        <p:spPr>
          <a:xfrm>
            <a:off x="3017520" y="2066543"/>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48640" y="2487168"/>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487168"/>
            <a:ext cx="109728" cy="56692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2487168"/>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miRNA expression</a:t>
            </a:r>
          </a:p>
        </p:txBody>
      </p:sp>
      <p:cxnSp>
        <p:nvCxnSpPr>
          <p:cNvPr id="16" name="Connector 15"/>
          <p:cNvCxnSpPr/>
          <p:nvPr/>
        </p:nvCxnSpPr>
        <p:spPr>
          <a:xfrm>
            <a:off x="3017520" y="2770632"/>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3191256"/>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91256"/>
            <a:ext cx="109728" cy="56692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191256"/>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DNA methylation</a:t>
            </a:r>
          </a:p>
        </p:txBody>
      </p:sp>
      <p:cxnSp>
        <p:nvCxnSpPr>
          <p:cNvPr id="20" name="Connector 19"/>
          <p:cNvCxnSpPr/>
          <p:nvPr/>
        </p:nvCxnSpPr>
        <p:spPr>
          <a:xfrm>
            <a:off x="3017520" y="3474720"/>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48640" y="3895344"/>
            <a:ext cx="2468880" cy="566928"/>
          </a:xfrm>
          <a:prstGeom prst="rect">
            <a:avLst/>
          </a:prstGeom>
          <a:solidFill>
            <a:srgbClr val="FFFFFF"/>
          </a:solidFill>
          <a:ln w="9525">
            <a:solidFill>
              <a:srgbClr val="DAD9D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95344"/>
            <a:ext cx="109728"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3895344"/>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Copy number*</a:t>
            </a:r>
          </a:p>
        </p:txBody>
      </p:sp>
      <p:cxnSp>
        <p:nvCxnSpPr>
          <p:cNvPr id="24" name="Connector 23"/>
          <p:cNvCxnSpPr/>
          <p:nvPr/>
        </p:nvCxnSpPr>
        <p:spPr>
          <a:xfrm>
            <a:off x="3017520" y="4178807"/>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91840" y="2066543"/>
            <a:ext cx="0" cy="2112265"/>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572000"/>
            <a:ext cx="2743200" cy="41148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*Used only in RF + PLS-DA: it lowered SVM performance.</a:t>
            </a:r>
          </a:p>
        </p:txBody>
      </p:sp>
      <p:sp>
        <p:nvSpPr>
          <p:cNvPr id="27" name="Rectangle 26"/>
          <p:cNvSpPr/>
          <p:nvPr/>
        </p:nvSpPr>
        <p:spPr>
          <a:xfrm>
            <a:off x="3840480" y="1783080"/>
            <a:ext cx="338328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0" y="1874519"/>
            <a:ext cx="30175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A · Univariate branch</a:t>
            </a:r>
          </a:p>
        </p:txBody>
      </p:sp>
      <p:sp>
        <p:nvSpPr>
          <p:cNvPr id="29" name="TextBox 28"/>
          <p:cNvSpPr txBox="1"/>
          <p:nvPr/>
        </p:nvSpPr>
        <p:spPr>
          <a:xfrm>
            <a:off x="4023360" y="2212848"/>
            <a:ext cx="3017520" cy="9601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Top-ranked features per modality feed one SVM (Platt-scaled) or random forest per modality.</a:t>
            </a:r>
          </a:p>
        </p:txBody>
      </p:sp>
      <p:sp>
        <p:nvSpPr>
          <p:cNvPr id="30" name="Rectangle 29"/>
          <p:cNvSpPr/>
          <p:nvPr/>
        </p:nvSpPr>
        <p:spPr>
          <a:xfrm>
            <a:off x="3840480" y="3429000"/>
            <a:ext cx="338328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0" y="3520440"/>
            <a:ext cx="30175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B · Latent-variable branch</a:t>
            </a:r>
          </a:p>
        </p:txBody>
      </p:sp>
      <p:sp>
        <p:nvSpPr>
          <p:cNvPr id="32" name="TextBox 31"/>
          <p:cNvSpPr txBox="1"/>
          <p:nvPr/>
        </p:nvSpPr>
        <p:spPr>
          <a:xfrm>
            <a:off x="4023360" y="3858768"/>
            <a:ext cx="3017520" cy="9601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500–2,000 features per modality feed one PLS-DA model, recovering information that small feature sets lose.</a:t>
            </a:r>
          </a:p>
        </p:txBody>
      </p:sp>
      <p:cxnSp>
        <p:nvCxnSpPr>
          <p:cNvPr id="33" name="Connector 32"/>
          <p:cNvCxnSpPr/>
          <p:nvPr/>
        </p:nvCxnSpPr>
        <p:spPr>
          <a:xfrm>
            <a:off x="3291840" y="2491740"/>
            <a:ext cx="548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291840" y="4137660"/>
            <a:ext cx="548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772400" y="2743200"/>
            <a:ext cx="2103120" cy="15544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9560" y="2834640"/>
            <a:ext cx="1828800" cy="1371600"/>
          </a:xfrm>
          <a:prstGeom prst="rect">
            <a:avLst/>
          </a:prstGeom>
          <a:noFill/>
        </p:spPr>
        <p:txBody>
          <a:bodyPr wrap="square" lIns="0" rIns="0" tIns="0" bIns="0" anchor="ctr">
            <a:spAutoFit/>
          </a:bodyPr>
          <a:lstStyle/>
          <a:p>
            <a:pPr algn="l">
              <a:spcAft>
                <a:spcPts val="400"/>
              </a:spcAft>
            </a:pPr>
            <a:r>
              <a:rPr sz="1600" b="1" i="0">
                <a:solidFill>
                  <a:srgbClr val="FFFFFF"/>
                </a:solidFill>
                <a:latin typeface="Calibri"/>
              </a:rPr>
              <a:t>Meta-model</a:t>
            </a:r>
          </a:p>
          <a:p>
            <a:pPr algn="l">
              <a:spcAft>
                <a:spcPts val="400"/>
              </a:spcAft>
            </a:pPr>
            <a:r>
              <a:rPr sz="1300" b="0" i="0">
                <a:solidFill>
                  <a:srgbClr val="D5DEEA"/>
                </a:solidFill>
                <a:latin typeface="Calibri"/>
              </a:rPr>
              <a:t>SVM or RF trained on the stacked predicted probabilities from A and B</a:t>
            </a:r>
          </a:p>
        </p:txBody>
      </p:sp>
      <p:cxnSp>
        <p:nvCxnSpPr>
          <p:cNvPr id="37" name="Connector 36"/>
          <p:cNvCxnSpPr/>
          <p:nvPr/>
        </p:nvCxnSpPr>
        <p:spPr>
          <a:xfrm>
            <a:off x="7223760" y="2491740"/>
            <a:ext cx="548640" cy="5715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223760" y="4023360"/>
            <a:ext cx="548640" cy="1143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875520" y="3520440"/>
            <a:ext cx="36576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0241280" y="3017520"/>
            <a:ext cx="1399032" cy="1005840"/>
          </a:xfrm>
          <a:prstGeom prst="rect">
            <a:avLst/>
          </a:prstGeom>
          <a:solidFill>
            <a:srgbClr val="EEF2F7"/>
          </a:solidFill>
          <a:ln w="15875">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Long vs short survival</a:t>
            </a:r>
          </a:p>
        </p:txBody>
      </p:sp>
      <p:sp>
        <p:nvSpPr>
          <p:cNvPr id="41" name="TextBox 40"/>
          <p:cNvSpPr txBox="1"/>
          <p:nvPr/>
        </p:nvSpPr>
        <p:spPr>
          <a:xfrm>
            <a:off x="548640" y="516636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THREE PIPELINES COMPARED</a:t>
            </a:r>
          </a:p>
        </p:txBody>
      </p:sp>
      <p:sp>
        <p:nvSpPr>
          <p:cNvPr id="42" name="Rectangle 41"/>
          <p:cNvSpPr/>
          <p:nvPr/>
        </p:nvSpPr>
        <p:spPr>
          <a:xfrm>
            <a:off x="548640" y="5440680"/>
            <a:ext cx="3931920"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FFFFFF"/>
                </a:solidFill>
                <a:latin typeface="Calibri"/>
              </a:rPr>
              <a:t>SVM + PLS-DA   best, test AUC 0.89</a:t>
            </a:r>
          </a:p>
        </p:txBody>
      </p:sp>
      <p:sp>
        <p:nvSpPr>
          <p:cNvPr id="43" name="Rectangle 42"/>
          <p:cNvSpPr/>
          <p:nvPr/>
        </p:nvSpPr>
        <p:spPr>
          <a:xfrm>
            <a:off x="4663440" y="5440680"/>
            <a:ext cx="3520440" cy="53035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0">
                <a:solidFill>
                  <a:srgbClr val="14171C"/>
                </a:solidFill>
                <a:latin typeface="Calibri"/>
              </a:rPr>
              <a:t>RF + PLS-DA   RF overfitting persists</a:t>
            </a:r>
          </a:p>
        </p:txBody>
      </p:sp>
      <p:sp>
        <p:nvSpPr>
          <p:cNvPr id="44" name="Rectangle 43"/>
          <p:cNvSpPr/>
          <p:nvPr/>
        </p:nvSpPr>
        <p:spPr>
          <a:xfrm>
            <a:off x="8366760" y="5440680"/>
            <a:ext cx="3273552" cy="53035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0">
                <a:solidFill>
                  <a:srgbClr val="14171C"/>
                </a:solidFill>
                <a:latin typeface="Calibri"/>
              </a:rPr>
              <a:t>SVM + RF   RF overfitting persists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RESULTS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SVM + PLS-DA reached AUC 0.89 on 46 unseen patients, competitive with prior work and interpretable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Predictive and prognostic biomarker models for survival endpoints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8 / 34</a:t>
            </a:r>
          </a:p>
        </p:txBody>
      </p:sp>
      <p:sp>
        <p:nvSpPr>
          <p:cNvPr id="9" name="Rectangle 8"/>
          <p:cNvSpPr/>
          <p:nvPr/>
        </p:nvSpPr>
        <p:spPr>
          <a:xfrm>
            <a:off x="548640" y="16916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6916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0.89</a:t>
            </a:r>
          </a:p>
        </p:txBody>
      </p:sp>
      <p:sp>
        <p:nvSpPr>
          <p:cNvPr id="12" name="TextBox 11"/>
          <p:cNvSpPr txBox="1"/>
          <p:nvPr/>
        </p:nvSpPr>
        <p:spPr>
          <a:xfrm>
            <a:off x="2057400" y="18745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AUC</a:t>
            </a:r>
          </a:p>
          <a:p>
            <a:pPr algn="l">
              <a:spcAft>
                <a:spcPts val="200"/>
              </a:spcAft>
            </a:pPr>
            <a:r>
              <a:rPr sz="1250" b="0" i="0">
                <a:solidFill>
                  <a:srgbClr val="52514E"/>
                </a:solidFill>
                <a:latin typeface="Calibri"/>
              </a:rPr>
              <a:t>on the held-out test set of 46 unseen patients</a:t>
            </a:r>
          </a:p>
        </p:txBody>
      </p:sp>
      <p:sp>
        <p:nvSpPr>
          <p:cNvPr id="13" name="Rectangle 12"/>
          <p:cNvSpPr/>
          <p:nvPr/>
        </p:nvSpPr>
        <p:spPr>
          <a:xfrm>
            <a:off x="548640" y="30632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0632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0.83</a:t>
            </a:r>
          </a:p>
        </p:txBody>
      </p:sp>
      <p:sp>
        <p:nvSpPr>
          <p:cNvPr id="16" name="TextBox 15"/>
          <p:cNvSpPr txBox="1"/>
          <p:nvPr/>
        </p:nvSpPr>
        <p:spPr>
          <a:xfrm>
            <a:off x="2057400" y="32461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Accuracy</a:t>
            </a:r>
          </a:p>
          <a:p>
            <a:pPr algn="l">
              <a:spcAft>
                <a:spcPts val="200"/>
              </a:spcAft>
            </a:pPr>
            <a:r>
              <a:rPr sz="1250" b="0" i="0">
                <a:solidFill>
                  <a:srgbClr val="52514E"/>
                </a:solidFill>
                <a:latin typeface="Calibri"/>
              </a:rPr>
              <a:t>on the same test set</a:t>
            </a:r>
          </a:p>
        </p:txBody>
      </p:sp>
      <p:sp>
        <p:nvSpPr>
          <p:cNvPr id="17" name="Rectangle 16"/>
          <p:cNvSpPr/>
          <p:nvPr/>
        </p:nvSpPr>
        <p:spPr>
          <a:xfrm>
            <a:off x="548640" y="44348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4348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3</a:t>
            </a:r>
          </a:p>
        </p:txBody>
      </p:sp>
      <p:sp>
        <p:nvSpPr>
          <p:cNvPr id="20" name="TextBox 19"/>
          <p:cNvSpPr txBox="1"/>
          <p:nvPr/>
        </p:nvSpPr>
        <p:spPr>
          <a:xfrm>
            <a:off x="2057400" y="46177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Omics layers</a:t>
            </a:r>
          </a:p>
          <a:p>
            <a:pPr algn="l">
              <a:spcAft>
                <a:spcPts val="200"/>
              </a:spcAft>
            </a:pPr>
            <a:r>
              <a:rPr sz="1250" b="0" i="0">
                <a:solidFill>
                  <a:srgbClr val="52514E"/>
                </a:solidFill>
                <a:latin typeface="Calibri"/>
              </a:rPr>
              <a:t>in the best model: gene expression, miRNA expression, DNA methylation</a:t>
            </a:r>
          </a:p>
        </p:txBody>
      </p:sp>
      <p:sp>
        <p:nvSpPr>
          <p:cNvPr id="21" name="TextBox 20"/>
          <p:cNvSpPr txBox="1"/>
          <p:nvPr/>
        </p:nvSpPr>
        <p:spPr>
          <a:xfrm>
            <a:off x="4572000" y="1691640"/>
            <a:ext cx="70408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Comparison with published breast cancer survival models</a:t>
            </a:r>
          </a:p>
        </p:txBody>
      </p:sp>
      <p:sp>
        <p:nvSpPr>
          <p:cNvPr id="22" name="TextBox 21"/>
          <p:cNvSpPr txBox="1"/>
          <p:nvPr/>
        </p:nvSpPr>
        <p:spPr>
          <a:xfrm>
            <a:off x="4572000" y="2011680"/>
            <a:ext cx="2743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AUC</a:t>
            </a:r>
          </a:p>
        </p:txBody>
      </p:sp>
      <p:graphicFrame>
        <p:nvGraphicFramePr>
          <p:cNvPr id="23" name="Chart 22"/>
          <p:cNvGraphicFramePr>
            <a:graphicFrameLocks noGrp="1"/>
          </p:cNvGraphicFramePr>
          <p:nvPr/>
        </p:nvGraphicFramePr>
        <p:xfrm>
          <a:off x="4572000" y="2212848"/>
          <a:ext cx="7068312" cy="1508760"/>
        </p:xfrm>
        <a:graphic>
          <a:graphicData uri="http://schemas.openxmlformats.org/drawingml/2006/chart">
            <c:chart xmlns:c="http://schemas.openxmlformats.org/drawingml/2006/chart" r:id="rId2"/>
          </a:graphicData>
        </a:graphic>
      </p:graphicFrame>
      <p:sp>
        <p:nvSpPr>
          <p:cNvPr id="24" name="TextBox 23"/>
          <p:cNvSpPr txBox="1"/>
          <p:nvPr/>
        </p:nvSpPr>
        <p:spPr>
          <a:xfrm>
            <a:off x="4572000" y="3749039"/>
            <a:ext cx="2743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ACCURACY</a:t>
            </a:r>
          </a:p>
        </p:txBody>
      </p:sp>
      <p:graphicFrame>
        <p:nvGraphicFramePr>
          <p:cNvPr id="25" name="Chart 24"/>
          <p:cNvGraphicFramePr>
            <a:graphicFrameLocks noGrp="1"/>
          </p:cNvGraphicFramePr>
          <p:nvPr/>
        </p:nvGraphicFramePr>
        <p:xfrm>
          <a:off x="4572000" y="3950207"/>
          <a:ext cx="7068312" cy="1508760"/>
        </p:xfrm>
        <a:graphic>
          <a:graphicData uri="http://schemas.openxmlformats.org/drawingml/2006/chart">
            <c:chart xmlns:c="http://schemas.openxmlformats.org/drawingml/2006/chart" r:id="rId3"/>
          </a:graphicData>
        </a:graphic>
      </p:graphicFrame>
      <p:sp>
        <p:nvSpPr>
          <p:cNvPr id="26" name="TextBox 25"/>
          <p:cNvSpPr txBox="1"/>
          <p:nvPr/>
        </p:nvSpPr>
        <p:spPr>
          <a:xfrm>
            <a:off x="4572000" y="5577840"/>
            <a:ext cx="7040880" cy="411480"/>
          </a:xfrm>
          <a:prstGeom prst="rect">
            <a:avLst/>
          </a:prstGeom>
          <a:noFill/>
        </p:spPr>
        <p:txBody>
          <a:bodyPr wrap="square" lIns="0" rIns="0" tIns="0" bIns="0" anchor="t">
            <a:spAutoFit/>
          </a:bodyPr>
          <a:lstStyle/>
          <a:p>
            <a:pPr algn="l">
              <a:spcAft>
                <a:spcPts val="0"/>
              </a:spcAft>
            </a:pPr>
            <a:r>
              <a:rPr sz="1150" b="0" i="0">
                <a:solidFill>
                  <a:srgbClr val="52514E"/>
                </a:solidFill>
                <a:latin typeface="Calibri"/>
              </a:rPr>
              <a:t>Deep learning scores higher on accuracy but yields no actionable biomarkers. Source: Table 3 of the paper; cohorts and splits differ across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MODEL SELECTION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Model selection followed generalisation, not raw scores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Understanding model assumptions, limitations and validation</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9 / 34</a:t>
            </a:r>
          </a:p>
        </p:txBody>
      </p:sp>
      <p:sp>
        <p:nvSpPr>
          <p:cNvPr id="9" name="Rectangle 8"/>
          <p:cNvSpPr/>
          <p:nvPr/>
        </p:nvSpPr>
        <p:spPr>
          <a:xfrm>
            <a:off x="548640" y="169164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Random forest scored higher but overfit</a:t>
            </a:r>
          </a:p>
        </p:txBody>
      </p:sp>
      <p:sp>
        <p:nvSpPr>
          <p:cNvPr id="12" name="TextBox 11"/>
          <p:cNvSpPr txBox="1"/>
          <p:nvPr/>
        </p:nvSpPr>
        <p:spPr>
          <a:xfrm>
            <a:off x="822959" y="231343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Train and test accuracy and AUC diverged far more for RF than for SVM, and predicted probabilities on training data were inflated. RF was judged less likely to generalise.</a:t>
            </a:r>
          </a:p>
        </p:txBody>
      </p:sp>
      <p:sp>
        <p:nvSpPr>
          <p:cNvPr id="13" name="Rectangle 12"/>
          <p:cNvSpPr/>
          <p:nvPr/>
        </p:nvSpPr>
        <p:spPr>
          <a:xfrm>
            <a:off x="6190488" y="169164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169164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PLS-DA latent variables improved the SVM</a:t>
            </a:r>
          </a:p>
        </p:txBody>
      </p:sp>
      <p:sp>
        <p:nvSpPr>
          <p:cNvPr id="16" name="TextBox 15"/>
          <p:cNvSpPr txBox="1"/>
          <p:nvPr/>
        </p:nvSpPr>
        <p:spPr>
          <a:xfrm>
            <a:off x="6464807" y="231343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SVM meta-models on one to three modalities improved once their PLS-DA models were added. The same gain did not appear for RF.</a:t>
            </a:r>
          </a:p>
        </p:txBody>
      </p:sp>
      <p:sp>
        <p:nvSpPr>
          <p:cNvPr id="17" name="Rectangle 16"/>
          <p:cNvSpPr/>
          <p:nvPr/>
        </p:nvSpPr>
        <p:spPr>
          <a:xfrm>
            <a:off x="548640" y="370332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0332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86791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More modalities was not always better</a:t>
            </a:r>
          </a:p>
        </p:txBody>
      </p:sp>
      <p:sp>
        <p:nvSpPr>
          <p:cNvPr id="20" name="TextBox 19"/>
          <p:cNvSpPr txBox="1"/>
          <p:nvPr/>
        </p:nvSpPr>
        <p:spPr>
          <a:xfrm>
            <a:off x="822959" y="432511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Gene plus miRNA expression was the best pair; adding methylation gave the best trio. Discrete copy number sharply lowered SVM performance, so it was dropped from SVM pipelines.</a:t>
            </a:r>
          </a:p>
        </p:txBody>
      </p:sp>
      <p:sp>
        <p:nvSpPr>
          <p:cNvPr id="21" name="Rectangle 20"/>
          <p:cNvSpPr/>
          <p:nvPr/>
        </p:nvSpPr>
        <p:spPr>
          <a:xfrm>
            <a:off x="6190488" y="370332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0488" y="370332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386791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Validated beyond a single split</a:t>
            </a:r>
          </a:p>
        </p:txBody>
      </p:sp>
      <p:sp>
        <p:nvSpPr>
          <p:cNvPr id="24" name="TextBox 23"/>
          <p:cNvSpPr txBox="1"/>
          <p:nvPr/>
        </p:nvSpPr>
        <p:spPr>
          <a:xfrm>
            <a:off x="6464807" y="432511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4-fold CV tuned hyperparameters, and 15 reshuffles of the full dataset showed no considerable test-accuracy drop. MCC was reported because of the 220:82 class imbalance.</a:t>
            </a:r>
          </a:p>
        </p:txBody>
      </p:sp>
      <p:sp>
        <p:nvSpPr>
          <p:cNvPr id="25" name="TextBox 24"/>
          <p:cNvSpPr txBox="1"/>
          <p:nvPr/>
        </p:nvSpPr>
        <p:spPr>
          <a:xfrm>
            <a:off x="548640" y="5760720"/>
            <a:ext cx="11091672"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Best single modality: gene expression for SVM, miRNA expression for RF.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BIOMARKER ANALYSIS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Selected features from all three layers were traced back to pathways, networks and regulators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Mechanism-oriented interpretation of biomarkers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10 / 34</a:t>
            </a:r>
          </a:p>
        </p:txBody>
      </p:sp>
      <p:sp>
        <p:nvSpPr>
          <p:cNvPr id="9" name="Oval 8"/>
          <p:cNvSpPr/>
          <p:nvPr/>
        </p:nvSpPr>
        <p:spPr>
          <a:xfrm>
            <a:off x="548640" y="1600200"/>
            <a:ext cx="182880" cy="1828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572768"/>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GENE EXPRESSION BIOMARKERS</a:t>
            </a:r>
          </a:p>
        </p:txBody>
      </p:sp>
      <p:sp>
        <p:nvSpPr>
          <p:cNvPr id="11" name="Rectangle 10"/>
          <p:cNvSpPr/>
          <p:nvPr/>
        </p:nvSpPr>
        <p:spPr>
          <a:xfrm>
            <a:off x="548640" y="1865376"/>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65376"/>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920240"/>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845</a:t>
            </a:r>
          </a:p>
        </p:txBody>
      </p:sp>
      <p:sp>
        <p:nvSpPr>
          <p:cNvPr id="14" name="TextBox 13"/>
          <p:cNvSpPr txBox="1"/>
          <p:nvPr/>
        </p:nvSpPr>
        <p:spPr>
          <a:xfrm>
            <a:off x="685800" y="2286000"/>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biomarkers from univariate and multivariate selection</a:t>
            </a:r>
          </a:p>
        </p:txBody>
      </p:sp>
      <p:cxnSp>
        <p:nvCxnSpPr>
          <p:cNvPr id="15" name="Connector 14"/>
          <p:cNvCxnSpPr/>
          <p:nvPr/>
        </p:nvCxnSpPr>
        <p:spPr>
          <a:xfrm>
            <a:off x="2587752" y="2414016"/>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816352" y="1865376"/>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865376"/>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53512" y="1920240"/>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768</a:t>
            </a:r>
          </a:p>
        </p:txBody>
      </p:sp>
      <p:sp>
        <p:nvSpPr>
          <p:cNvPr id="19" name="TextBox 18"/>
          <p:cNvSpPr txBox="1"/>
          <p:nvPr/>
        </p:nvSpPr>
        <p:spPr>
          <a:xfrm>
            <a:off x="2953512" y="2286000"/>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of 845 annotated; 244 GO terms enriched, plus KEGG pathways</a:t>
            </a:r>
          </a:p>
        </p:txBody>
      </p:sp>
      <p:cxnSp>
        <p:nvCxnSpPr>
          <p:cNvPr id="20" name="Connector 19"/>
          <p:cNvCxnSpPr/>
          <p:nvPr/>
        </p:nvCxnSpPr>
        <p:spPr>
          <a:xfrm>
            <a:off x="4855464" y="2414016"/>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4064" y="1865376"/>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865376"/>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1920240"/>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4,221</a:t>
            </a:r>
          </a:p>
        </p:txBody>
      </p:sp>
      <p:sp>
        <p:nvSpPr>
          <p:cNvPr id="24" name="TextBox 23"/>
          <p:cNvSpPr txBox="1"/>
          <p:nvPr/>
        </p:nvSpPr>
        <p:spPr>
          <a:xfrm>
            <a:off x="5221224" y="2286000"/>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interactions among the 768 genes (STRING network)</a:t>
            </a:r>
          </a:p>
        </p:txBody>
      </p:sp>
      <p:cxnSp>
        <p:nvCxnSpPr>
          <p:cNvPr id="25" name="Connector 24"/>
          <p:cNvCxnSpPr/>
          <p:nvPr/>
        </p:nvCxnSpPr>
        <p:spPr>
          <a:xfrm>
            <a:off x="7123176" y="2414016"/>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51776" y="1865376"/>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865376"/>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1920240"/>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4</a:t>
            </a:r>
          </a:p>
        </p:txBody>
      </p:sp>
      <p:sp>
        <p:nvSpPr>
          <p:cNvPr id="29" name="TextBox 28"/>
          <p:cNvSpPr txBox="1"/>
          <p:nvPr/>
        </p:nvSpPr>
        <p:spPr>
          <a:xfrm>
            <a:off x="7488936" y="2286000"/>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network modules found with MCODE</a:t>
            </a:r>
          </a:p>
        </p:txBody>
      </p:sp>
      <p:cxnSp>
        <p:nvCxnSpPr>
          <p:cNvPr id="30" name="Connector 29"/>
          <p:cNvCxnSpPr/>
          <p:nvPr/>
        </p:nvCxnSpPr>
        <p:spPr>
          <a:xfrm>
            <a:off x="9390888" y="2414016"/>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619488" y="1865376"/>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865376"/>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56648" y="1920240"/>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8</a:t>
            </a:r>
          </a:p>
        </p:txBody>
      </p:sp>
      <p:sp>
        <p:nvSpPr>
          <p:cNvPr id="34" name="TextBox 33"/>
          <p:cNvSpPr txBox="1"/>
          <p:nvPr/>
        </p:nvSpPr>
        <p:spPr>
          <a:xfrm>
            <a:off x="9756648" y="2286000"/>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hub genes at the top of degree, betweenness and closeness</a:t>
            </a:r>
          </a:p>
        </p:txBody>
      </p:sp>
      <p:sp>
        <p:nvSpPr>
          <p:cNvPr id="35" name="Oval 34"/>
          <p:cNvSpPr/>
          <p:nvPr/>
        </p:nvSpPr>
        <p:spPr>
          <a:xfrm>
            <a:off x="548640" y="3044951"/>
            <a:ext cx="182880" cy="1828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3017520"/>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miRNA BIOMARKERS</a:t>
            </a:r>
          </a:p>
        </p:txBody>
      </p:sp>
      <p:sp>
        <p:nvSpPr>
          <p:cNvPr id="37" name="Rectangle 36"/>
          <p:cNvSpPr/>
          <p:nvPr/>
        </p:nvSpPr>
        <p:spPr>
          <a:xfrm>
            <a:off x="548640" y="3310127"/>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3310127"/>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364991"/>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148</a:t>
            </a:r>
          </a:p>
        </p:txBody>
      </p:sp>
      <p:sp>
        <p:nvSpPr>
          <p:cNvPr id="40" name="TextBox 39"/>
          <p:cNvSpPr txBox="1"/>
          <p:nvPr/>
        </p:nvSpPr>
        <p:spPr>
          <a:xfrm>
            <a:off x="685800" y="3730752"/>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miRNA biomarkers from univariate and multivariate selection</a:t>
            </a:r>
          </a:p>
        </p:txBody>
      </p:sp>
      <p:cxnSp>
        <p:nvCxnSpPr>
          <p:cNvPr id="41" name="Connector 40"/>
          <p:cNvCxnSpPr/>
          <p:nvPr/>
        </p:nvCxnSpPr>
        <p:spPr>
          <a:xfrm>
            <a:off x="2587752" y="385876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816352" y="3310127"/>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16352" y="3310127"/>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53512" y="3364991"/>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 −25</a:t>
            </a:r>
          </a:p>
        </p:txBody>
      </p:sp>
      <p:sp>
        <p:nvSpPr>
          <p:cNvPr id="45" name="TextBox 44"/>
          <p:cNvSpPr txBox="1"/>
          <p:nvPr/>
        </p:nvSpPr>
        <p:spPr>
          <a:xfrm>
            <a:off x="2953512" y="3730752"/>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kcal/mol energy cut-off for miRNA–3′UTR target prediction (RNAhybrid)</a:t>
            </a:r>
          </a:p>
        </p:txBody>
      </p:sp>
      <p:cxnSp>
        <p:nvCxnSpPr>
          <p:cNvPr id="46" name="Connector 45"/>
          <p:cNvCxnSpPr/>
          <p:nvPr/>
        </p:nvCxnSpPr>
        <p:spPr>
          <a:xfrm>
            <a:off x="4855464" y="385876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084064" y="3310127"/>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84064" y="3310127"/>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21224" y="3364991"/>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244</a:t>
            </a:r>
          </a:p>
        </p:txBody>
      </p:sp>
      <p:sp>
        <p:nvSpPr>
          <p:cNvPr id="50" name="TextBox 49"/>
          <p:cNvSpPr txBox="1"/>
          <p:nvPr/>
        </p:nvSpPr>
        <p:spPr>
          <a:xfrm>
            <a:off x="5221224" y="3730752"/>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of the 768 gene biomarkers are predicted miRNA targets</a:t>
            </a:r>
          </a:p>
        </p:txBody>
      </p:sp>
      <p:cxnSp>
        <p:nvCxnSpPr>
          <p:cNvPr id="51" name="Connector 50"/>
          <p:cNvCxnSpPr/>
          <p:nvPr/>
        </p:nvCxnSpPr>
        <p:spPr>
          <a:xfrm>
            <a:off x="7123176" y="385876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7351776" y="3310127"/>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51776" y="3310127"/>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88936" y="3364991"/>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82</a:t>
            </a:r>
          </a:p>
        </p:txBody>
      </p:sp>
      <p:sp>
        <p:nvSpPr>
          <p:cNvPr id="55" name="TextBox 54"/>
          <p:cNvSpPr txBox="1"/>
          <p:nvPr/>
        </p:nvSpPr>
        <p:spPr>
          <a:xfrm>
            <a:off x="7488936" y="3730752"/>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miRNAs regulate 195 functionally enriched targets</a:t>
            </a:r>
          </a:p>
        </p:txBody>
      </p:sp>
      <p:cxnSp>
        <p:nvCxnSpPr>
          <p:cNvPr id="56" name="Connector 55"/>
          <p:cNvCxnSpPr/>
          <p:nvPr/>
        </p:nvCxnSpPr>
        <p:spPr>
          <a:xfrm>
            <a:off x="9390888" y="385876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9619488" y="3310127"/>
            <a:ext cx="2011680"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19488" y="3310127"/>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56648" y="3364991"/>
            <a:ext cx="1737360" cy="365760"/>
          </a:xfrm>
          <a:prstGeom prst="rect">
            <a:avLst/>
          </a:prstGeom>
          <a:noFill/>
        </p:spPr>
        <p:txBody>
          <a:bodyPr wrap="square" lIns="0" rIns="0" tIns="0" bIns="0" anchor="t">
            <a:spAutoFit/>
          </a:bodyPr>
          <a:lstStyle/>
          <a:p>
            <a:pPr algn="l">
              <a:spcAft>
                <a:spcPts val="0"/>
              </a:spcAft>
            </a:pPr>
            <a:r>
              <a:rPr sz="2200" b="1" i="0">
                <a:solidFill>
                  <a:srgbClr val="0E2A47"/>
                </a:solidFill>
                <a:latin typeface="Calibri"/>
              </a:rPr>
              <a:t>24</a:t>
            </a:r>
          </a:p>
        </p:txBody>
      </p:sp>
      <p:sp>
        <p:nvSpPr>
          <p:cNvPr id="60" name="TextBox 59"/>
          <p:cNvSpPr txBox="1"/>
          <p:nvPr/>
        </p:nvSpPr>
        <p:spPr>
          <a:xfrm>
            <a:off x="9756648" y="3730752"/>
            <a:ext cx="1737360" cy="548640"/>
          </a:xfrm>
          <a:prstGeom prst="rect">
            <a:avLst/>
          </a:prstGeom>
          <a:noFill/>
        </p:spPr>
        <p:txBody>
          <a:bodyPr wrap="square" lIns="0" rIns="0" tIns="0" bIns="0" anchor="t">
            <a:spAutoFit/>
          </a:bodyPr>
          <a:lstStyle/>
          <a:p>
            <a:pPr algn="l">
              <a:spcAft>
                <a:spcPts val="0"/>
              </a:spcAft>
            </a:pPr>
            <a:r>
              <a:rPr sz="1200" b="0" i="0">
                <a:solidFill>
                  <a:srgbClr val="14171C"/>
                </a:solidFill>
                <a:latin typeface="Calibri"/>
              </a:rPr>
              <a:t>targets sit in network modules 1 and 3, including hubs HSPA8 and PIK3CA</a:t>
            </a:r>
          </a:p>
        </p:txBody>
      </p:sp>
      <p:sp>
        <p:nvSpPr>
          <p:cNvPr id="61" name="Oval 60"/>
          <p:cNvSpPr/>
          <p:nvPr/>
        </p:nvSpPr>
        <p:spPr>
          <a:xfrm>
            <a:off x="548640" y="4489704"/>
            <a:ext cx="182880" cy="18288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59" y="4462272"/>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DNA METHYLATION BIOMARKERS</a:t>
            </a:r>
          </a:p>
        </p:txBody>
      </p:sp>
      <p:sp>
        <p:nvSpPr>
          <p:cNvPr id="63" name="Rectangle 62"/>
          <p:cNvSpPr/>
          <p:nvPr/>
        </p:nvSpPr>
        <p:spPr>
          <a:xfrm>
            <a:off x="548640" y="4754880"/>
            <a:ext cx="11091672" cy="493776"/>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48640" y="4754880"/>
            <a:ext cx="11091672" cy="6400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4818888"/>
            <a:ext cx="10725912" cy="411480"/>
          </a:xfrm>
          <a:prstGeom prst="rect">
            <a:avLst/>
          </a:prstGeom>
          <a:noFill/>
        </p:spPr>
        <p:txBody>
          <a:bodyPr wrap="square" lIns="0" rIns="0" tIns="0" bIns="0" anchor="ctr">
            <a:spAutoFit/>
          </a:bodyPr>
          <a:lstStyle/>
          <a:p>
            <a:pPr algn="l">
              <a:spcAft>
                <a:spcPts val="0"/>
              </a:spcAft>
            </a:pPr>
            <a:r>
              <a:rPr sz="1200" b="1" i="0">
                <a:solidFill>
                  <a:srgbClr val="0E2A47"/>
                </a:solidFill>
                <a:latin typeface="Calibri"/>
              </a:rPr>
              <a:t>Probes mapped to genes. </a:t>
            </a:r>
            <a:r>
              <a:rPr sz="1200" b="0" i="0">
                <a:solidFill>
                  <a:srgbClr val="14171C"/>
                </a:solidFill>
                <a:latin typeface="Calibri"/>
              </a:rPr>
              <a:t>Methylation probes were annotated to genes with the Genome Data Commons reference panel. Gene-expression and methylation features chosen by univariate selection were examined together; the next slide shows the genes.</a:t>
            </a:r>
          </a:p>
        </p:txBody>
      </p:sp>
      <p:sp>
        <p:nvSpPr>
          <p:cNvPr id="66" name="TextBox 65"/>
          <p:cNvSpPr txBox="1"/>
          <p:nvPr/>
        </p:nvSpPr>
        <p:spPr>
          <a:xfrm>
            <a:off x="548640" y="5303520"/>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EIGHT HUB GENES</a:t>
            </a:r>
          </a:p>
        </p:txBody>
      </p:sp>
      <p:sp>
        <p:nvSpPr>
          <p:cNvPr id="67" name="Rounded Rectangle 66"/>
          <p:cNvSpPr/>
          <p:nvPr/>
        </p:nvSpPr>
        <p:spPr>
          <a:xfrm>
            <a:off x="548640"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HSP90AA1</a:t>
            </a:r>
          </a:p>
        </p:txBody>
      </p:sp>
      <p:sp>
        <p:nvSpPr>
          <p:cNvPr id="68" name="Rounded Rectangle 67"/>
          <p:cNvSpPr/>
          <p:nvPr/>
        </p:nvSpPr>
        <p:spPr>
          <a:xfrm>
            <a:off x="1938528"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HSPA8</a:t>
            </a:r>
          </a:p>
        </p:txBody>
      </p:sp>
      <p:sp>
        <p:nvSpPr>
          <p:cNvPr id="69" name="Rounded Rectangle 68"/>
          <p:cNvSpPr/>
          <p:nvPr/>
        </p:nvSpPr>
        <p:spPr>
          <a:xfrm>
            <a:off x="3328416"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IL18</a:t>
            </a:r>
          </a:p>
        </p:txBody>
      </p:sp>
      <p:sp>
        <p:nvSpPr>
          <p:cNvPr id="70" name="Rounded Rectangle 69"/>
          <p:cNvSpPr/>
          <p:nvPr/>
        </p:nvSpPr>
        <p:spPr>
          <a:xfrm>
            <a:off x="4718304"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MAPK8</a:t>
            </a:r>
          </a:p>
        </p:txBody>
      </p:sp>
      <p:sp>
        <p:nvSpPr>
          <p:cNvPr id="71" name="Rounded Rectangle 70"/>
          <p:cNvSpPr/>
          <p:nvPr/>
        </p:nvSpPr>
        <p:spPr>
          <a:xfrm>
            <a:off x="6108192"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NFKBIA</a:t>
            </a:r>
          </a:p>
        </p:txBody>
      </p:sp>
      <p:sp>
        <p:nvSpPr>
          <p:cNvPr id="72" name="Rounded Rectangle 71"/>
          <p:cNvSpPr/>
          <p:nvPr/>
        </p:nvSpPr>
        <p:spPr>
          <a:xfrm>
            <a:off x="7498079"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NOTCH1</a:t>
            </a:r>
          </a:p>
        </p:txBody>
      </p:sp>
      <p:sp>
        <p:nvSpPr>
          <p:cNvPr id="73" name="Rounded Rectangle 72"/>
          <p:cNvSpPr/>
          <p:nvPr/>
        </p:nvSpPr>
        <p:spPr>
          <a:xfrm>
            <a:off x="8887968"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PIK3CA</a:t>
            </a:r>
          </a:p>
        </p:txBody>
      </p:sp>
      <p:sp>
        <p:nvSpPr>
          <p:cNvPr id="74" name="Rounded Rectangle 73"/>
          <p:cNvSpPr/>
          <p:nvPr/>
        </p:nvSpPr>
        <p:spPr>
          <a:xfrm>
            <a:off x="10277856" y="5541264"/>
            <a:ext cx="128016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E2A47"/>
                </a:solidFill>
                <a:latin typeface="Calibri"/>
              </a:rPr>
              <a:t>RELA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FINDINGS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Integration surfaced nonsense-mediated decay, a process that single-omics analysis missed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Biomarker findings tied back to mechanism</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11 / 34</a:t>
            </a:r>
          </a:p>
        </p:txBody>
      </p:sp>
      <p:sp>
        <p:nvSpPr>
          <p:cNvPr id="9" name="Rectangle 8"/>
          <p:cNvSpPr/>
          <p:nvPr/>
        </p:nvSpPr>
        <p:spPr>
          <a:xfrm>
            <a:off x="548640" y="1691640"/>
            <a:ext cx="5394960" cy="40233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28800"/>
            <a:ext cx="484632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Two mechanisms linked to the biomarkers</a:t>
            </a:r>
          </a:p>
        </p:txBody>
      </p:sp>
      <p:sp>
        <p:nvSpPr>
          <p:cNvPr id="11" name="TextBox 10"/>
          <p:cNvSpPr txBox="1"/>
          <p:nvPr/>
        </p:nvSpPr>
        <p:spPr>
          <a:xfrm>
            <a:off x="822959" y="2377440"/>
            <a:ext cx="4846320" cy="274320"/>
          </a:xfrm>
          <a:prstGeom prst="rect">
            <a:avLst/>
          </a:prstGeom>
          <a:noFill/>
        </p:spPr>
        <p:txBody>
          <a:bodyPr wrap="square" lIns="0" rIns="0" tIns="0" bIns="0" anchor="t">
            <a:spAutoFit/>
          </a:bodyPr>
          <a:lstStyle/>
          <a:p>
            <a:pPr algn="l">
              <a:spcAft>
                <a:spcPts val="0"/>
              </a:spcAft>
            </a:pPr>
            <a:r>
              <a:rPr sz="1400" b="1" i="0">
                <a:solidFill>
                  <a:srgbClr val="52514E"/>
                </a:solidFill>
                <a:latin typeface="Calibri"/>
              </a:rPr>
              <a:t>Nonsense-mediated decay (NMD)</a:t>
            </a:r>
          </a:p>
        </p:txBody>
      </p:sp>
      <p:sp>
        <p:nvSpPr>
          <p:cNvPr id="12" name="Rounded Rectangle 11"/>
          <p:cNvSpPr/>
          <p:nvPr/>
        </p:nvSpPr>
        <p:spPr>
          <a:xfrm>
            <a:off x="822959" y="2788920"/>
            <a:ext cx="1325880" cy="50292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HSPA8</a:t>
            </a:r>
          </a:p>
        </p:txBody>
      </p:sp>
      <p:sp>
        <p:nvSpPr>
          <p:cNvPr id="13" name="Rounded Rectangle 12"/>
          <p:cNvSpPr/>
          <p:nvPr/>
        </p:nvSpPr>
        <p:spPr>
          <a:xfrm>
            <a:off x="2606040" y="2788920"/>
            <a:ext cx="1325880" cy="502920"/>
          </a:xfrm>
          <a:prstGeom prst="roundRect">
            <a:avLst>
              <a:gd name="adj" fmla="val 50000"/>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UPF1</a:t>
            </a:r>
          </a:p>
        </p:txBody>
      </p:sp>
      <p:sp>
        <p:nvSpPr>
          <p:cNvPr id="14" name="Rounded Rectangle 13"/>
          <p:cNvSpPr/>
          <p:nvPr/>
        </p:nvSpPr>
        <p:spPr>
          <a:xfrm>
            <a:off x="4389120" y="2788920"/>
            <a:ext cx="1325880" cy="50292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PELO</a:t>
            </a:r>
          </a:p>
        </p:txBody>
      </p:sp>
      <p:cxnSp>
        <p:nvCxnSpPr>
          <p:cNvPr id="15" name="Connector 14"/>
          <p:cNvCxnSpPr/>
          <p:nvPr/>
        </p:nvCxnSpPr>
        <p:spPr>
          <a:xfrm>
            <a:off x="2148840" y="3040380"/>
            <a:ext cx="457200" cy="0"/>
          </a:xfrm>
          <a:prstGeom prst="line">
            <a:avLst/>
          </a:prstGeom>
          <a:ln w="22225">
            <a:solidFill>
              <a:srgbClr val="5251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31920" y="3040380"/>
            <a:ext cx="457200" cy="0"/>
          </a:xfrm>
          <a:prstGeom prst="line">
            <a:avLst/>
          </a:prstGeom>
          <a:ln w="22225">
            <a:solidFill>
              <a:srgbClr val="5251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59" y="3749039"/>
            <a:ext cx="4846320" cy="274320"/>
          </a:xfrm>
          <a:prstGeom prst="rect">
            <a:avLst/>
          </a:prstGeom>
          <a:noFill/>
        </p:spPr>
        <p:txBody>
          <a:bodyPr wrap="square" lIns="0" rIns="0" tIns="0" bIns="0" anchor="t">
            <a:spAutoFit/>
          </a:bodyPr>
          <a:lstStyle/>
          <a:p>
            <a:pPr algn="l">
              <a:spcAft>
                <a:spcPts val="0"/>
              </a:spcAft>
            </a:pPr>
            <a:r>
              <a:rPr sz="1400" b="1" i="0">
                <a:solidFill>
                  <a:srgbClr val="52514E"/>
                </a:solidFill>
                <a:latin typeface="Calibri"/>
              </a:rPr>
              <a:t>PI3K/AKT signalling</a:t>
            </a:r>
          </a:p>
        </p:txBody>
      </p:sp>
      <p:sp>
        <p:nvSpPr>
          <p:cNvPr id="18" name="Rounded Rectangle 17"/>
          <p:cNvSpPr/>
          <p:nvPr/>
        </p:nvSpPr>
        <p:spPr>
          <a:xfrm>
            <a:off x="822959" y="4160520"/>
            <a:ext cx="1600200" cy="50292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APOBEC3F</a:t>
            </a:r>
          </a:p>
        </p:txBody>
      </p:sp>
      <p:sp>
        <p:nvSpPr>
          <p:cNvPr id="19" name="Rounded Rectangle 18"/>
          <p:cNvSpPr/>
          <p:nvPr/>
        </p:nvSpPr>
        <p:spPr>
          <a:xfrm>
            <a:off x="4114800" y="4160520"/>
            <a:ext cx="1600200" cy="50292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PIK3CA</a:t>
            </a:r>
          </a:p>
        </p:txBody>
      </p:sp>
      <p:cxnSp>
        <p:nvCxnSpPr>
          <p:cNvPr id="20" name="Connector 19"/>
          <p:cNvCxnSpPr/>
          <p:nvPr/>
        </p:nvCxnSpPr>
        <p:spPr>
          <a:xfrm>
            <a:off x="2423160" y="4411980"/>
            <a:ext cx="1691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23160" y="4069080"/>
            <a:ext cx="1691640" cy="274320"/>
          </a:xfrm>
          <a:prstGeom prst="rect">
            <a:avLst/>
          </a:prstGeom>
          <a:noFill/>
        </p:spPr>
        <p:txBody>
          <a:bodyPr wrap="square" lIns="0" rIns="0" tIns="0" bIns="0" anchor="t">
            <a:spAutoFit/>
          </a:bodyPr>
          <a:lstStyle/>
          <a:p>
            <a:pPr algn="ctr">
              <a:spcAft>
                <a:spcPts val="0"/>
              </a:spcAft>
            </a:pPr>
            <a:r>
              <a:rPr sz="1200" b="0" i="0">
                <a:solidFill>
                  <a:srgbClr val="52514E"/>
                </a:solidFill>
                <a:latin typeface="Calibri"/>
              </a:rPr>
              <a:t>regulates mutagenesis</a:t>
            </a:r>
          </a:p>
        </p:txBody>
      </p:sp>
      <p:sp>
        <p:nvSpPr>
          <p:cNvPr id="22" name="Rounded Rectangle 21"/>
          <p:cNvSpPr/>
          <p:nvPr/>
        </p:nvSpPr>
        <p:spPr>
          <a:xfrm>
            <a:off x="822959" y="5138928"/>
            <a:ext cx="256032" cy="18288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0431"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Hub gene</a:t>
            </a:r>
          </a:p>
        </p:txBody>
      </p:sp>
      <p:sp>
        <p:nvSpPr>
          <p:cNvPr id="24" name="Rounded Rectangle 23"/>
          <p:cNvSpPr/>
          <p:nvPr/>
        </p:nvSpPr>
        <p:spPr>
          <a:xfrm>
            <a:off x="2057400" y="5138928"/>
            <a:ext cx="256032" cy="18288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04872"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Univariate biomarker</a:t>
            </a:r>
          </a:p>
        </p:txBody>
      </p:sp>
      <p:sp>
        <p:nvSpPr>
          <p:cNvPr id="26" name="Rounded Rectangle 25"/>
          <p:cNvSpPr/>
          <p:nvPr/>
        </p:nvSpPr>
        <p:spPr>
          <a:xfrm>
            <a:off x="3977639" y="5138928"/>
            <a:ext cx="256032" cy="182880"/>
          </a:xfrm>
          <a:prstGeom prst="roundRect">
            <a:avLst>
              <a:gd name="adj" fmla="val 50000"/>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5112"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Enriched regulator</a:t>
            </a:r>
          </a:p>
        </p:txBody>
      </p:sp>
      <p:sp>
        <p:nvSpPr>
          <p:cNvPr id="28" name="TextBox 27"/>
          <p:cNvSpPr txBox="1"/>
          <p:nvPr/>
        </p:nvSpPr>
        <p:spPr>
          <a:xfrm>
            <a:off x="822959" y="5422392"/>
            <a:ext cx="4846320" cy="228600"/>
          </a:xfrm>
          <a:prstGeom prst="rect">
            <a:avLst/>
          </a:prstGeom>
          <a:noFill/>
        </p:spPr>
        <p:txBody>
          <a:bodyPr wrap="square" lIns="0" rIns="0" tIns="0" bIns="0" anchor="t">
            <a:spAutoFit/>
          </a:bodyPr>
          <a:lstStyle/>
          <a:p>
            <a:pPr algn="l">
              <a:spcAft>
                <a:spcPts val="0"/>
              </a:spcAft>
            </a:pPr>
            <a:r>
              <a:rPr sz="1100" b="0" i="0">
                <a:solidFill>
                  <a:srgbClr val="52514E"/>
                </a:solidFill>
                <a:latin typeface="Calibri"/>
              </a:rPr>
              <a:t>Links between genes are from the literature cited in the paper.</a:t>
            </a:r>
          </a:p>
        </p:txBody>
      </p:sp>
      <p:sp>
        <p:nvSpPr>
          <p:cNvPr id="29" name="TextBox 28"/>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INTEGRATION ADDED</a:t>
            </a:r>
          </a:p>
        </p:txBody>
      </p:sp>
      <p:sp>
        <p:nvSpPr>
          <p:cNvPr id="30" name="TextBox 29"/>
          <p:cNvSpPr txBox="1"/>
          <p:nvPr/>
        </p:nvSpPr>
        <p:spPr>
          <a:xfrm>
            <a:off x="6309360" y="1920240"/>
            <a:ext cx="5330952" cy="2286000"/>
          </a:xfrm>
          <a:prstGeom prst="rect">
            <a:avLst/>
          </a:prstGeom>
          <a:noFill/>
        </p:spPr>
        <p:txBody>
          <a:bodyPr wrap="square" lIns="0" rIns="0" tIns="0" bIns="0" anchor="t">
            <a:spAutoFit/>
          </a:bodyPr>
          <a:lstStyle/>
          <a:p>
            <a:pPr algn="l" marL="201168" indent="-201168">
              <a:spcAft>
                <a:spcPts val="600"/>
              </a:spcAft>
              <a:buChar char="•"/>
            </a:pPr>
            <a:r>
              <a:rPr sz="1400" b="0" i="0">
                <a:solidFill>
                  <a:srgbClr val="14171C"/>
                </a:solidFill>
                <a:latin typeface="Calibri"/>
              </a:rPr>
              <a:t>NMD appeared as an enriched process only after the omics layers were combined. The HSPA8 hub gene and the PELO marker both connect to UPF1, its key regulator.</a:t>
            </a:r>
          </a:p>
          <a:p>
            <a:pPr algn="l" marL="201168" indent="-201168">
              <a:spcAft>
                <a:spcPts val="600"/>
              </a:spcAft>
              <a:buChar char="•"/>
            </a:pPr>
            <a:r>
              <a:rPr sz="1400" b="0" i="0">
                <a:solidFill>
                  <a:srgbClr val="14171C"/>
                </a:solidFill>
                <a:latin typeface="Calibri"/>
              </a:rPr>
              <a:t>PIK3CA, a PI3K/AKT hub gene, has its mutagenesis regulated by APOBEC3F, another selected biomarker.</a:t>
            </a:r>
          </a:p>
          <a:p>
            <a:pPr algn="l" marL="201168" indent="-201168">
              <a:spcAft>
                <a:spcPts val="600"/>
              </a:spcAft>
              <a:buChar char="•"/>
            </a:pPr>
            <a:r>
              <a:rPr sz="1400" b="0" i="0">
                <a:solidFill>
                  <a:srgbClr val="14171C"/>
                </a:solidFill>
                <a:latin typeface="Calibri"/>
              </a:rPr>
              <a:t>Enriched transcription factors: ESR1, ESR2, ILF3, RAD21 and UPF1 in module 1; MYC and CTNNB1 in module 3.</a:t>
            </a:r>
          </a:p>
        </p:txBody>
      </p:sp>
      <p:sp>
        <p:nvSpPr>
          <p:cNvPr id="31" name="TextBox 30"/>
          <p:cNvSpPr txBox="1"/>
          <p:nvPr/>
        </p:nvSpPr>
        <p:spPr>
          <a:xfrm>
            <a:off x="6309360" y="3977639"/>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GENE EXPRESSION AND METHYLATION TOGETHER</a:t>
            </a:r>
          </a:p>
        </p:txBody>
      </p:sp>
      <p:sp>
        <p:nvSpPr>
          <p:cNvPr id="32" name="TextBox 31"/>
          <p:cNvSpPr txBox="1"/>
          <p:nvPr/>
        </p:nvSpPr>
        <p:spPr>
          <a:xfrm>
            <a:off x="6309360" y="4251960"/>
            <a:ext cx="5330952"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In the expression and methylation analysis, genes with earlier prognostic reports include JAK1 (shorter survival), DLX5 (metastasis), PTCH1 (recurrence) and ALDH1A3 (treatment resistance).</a:t>
            </a:r>
          </a:p>
        </p:txBody>
      </p:sp>
      <p:sp>
        <p:nvSpPr>
          <p:cNvPr id="33" name="Rectangle 32"/>
          <p:cNvSpPr/>
          <p:nvPr/>
        </p:nvSpPr>
        <p:spPr>
          <a:xfrm>
            <a:off x="6309360" y="5074920"/>
            <a:ext cx="5330952"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5074920"/>
            <a:ext cx="5029200" cy="640080"/>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These are hypotheses: knockout experiments are still needed to confirm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LIMITATIONS AND NEXT STEPS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Limitations I identified, and how I would extend the framework</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Clearly articulating modeling choices, assumptions and uncertainties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12 / 34</a:t>
            </a:r>
          </a:p>
        </p:txBody>
      </p:sp>
      <p:sp>
        <p:nvSpPr>
          <p:cNvPr id="9" name="TextBox 8"/>
          <p:cNvSpPr txBox="1"/>
          <p:nvPr/>
        </p:nvSpPr>
        <p:spPr>
          <a:xfrm>
            <a:off x="731520" y="1627632"/>
            <a:ext cx="5029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LIMITATION</a:t>
            </a:r>
          </a:p>
        </p:txBody>
      </p:sp>
      <p:sp>
        <p:nvSpPr>
          <p:cNvPr id="10" name="TextBox 9"/>
          <p:cNvSpPr txBox="1"/>
          <p:nvPr/>
        </p:nvSpPr>
        <p:spPr>
          <a:xfrm>
            <a:off x="6309360" y="1627632"/>
            <a:ext cx="5029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PROPOSED NEXT STEP (NOT YET DONE)</a:t>
            </a:r>
          </a:p>
        </p:txBody>
      </p:sp>
      <p:sp>
        <p:nvSpPr>
          <p:cNvPr id="11" name="Rectangle 10"/>
          <p:cNvSpPr/>
          <p:nvPr/>
        </p:nvSpPr>
        <p:spPr>
          <a:xfrm>
            <a:off x="548640" y="1901952"/>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901952"/>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901952"/>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01952"/>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Classes come from a fixed five-year cutoff</a:t>
            </a:r>
          </a:p>
        </p:txBody>
      </p:sp>
      <p:sp>
        <p:nvSpPr>
          <p:cNvPr id="15" name="TextBox 14"/>
          <p:cNvSpPr txBox="1"/>
          <p:nvPr/>
        </p:nvSpPr>
        <p:spPr>
          <a:xfrm>
            <a:off x="6446520" y="1901952"/>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Model time-to-event outcomes directly (Cox, survival forests) or use several survival intervals.</a:t>
            </a:r>
          </a:p>
        </p:txBody>
      </p:sp>
      <p:cxnSp>
        <p:nvCxnSpPr>
          <p:cNvPr id="16" name="Connector 15"/>
          <p:cNvCxnSpPr/>
          <p:nvPr/>
        </p:nvCxnSpPr>
        <p:spPr>
          <a:xfrm>
            <a:off x="5989320" y="2258568"/>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2688336"/>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2688336"/>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2688336"/>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688336"/>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Rank-based filters assume normally distributed data</a:t>
            </a:r>
          </a:p>
        </p:txBody>
      </p:sp>
      <p:sp>
        <p:nvSpPr>
          <p:cNvPr id="21" name="TextBox 20"/>
          <p:cNvSpPr txBox="1"/>
          <p:nvPr/>
        </p:nvSpPr>
        <p:spPr>
          <a:xfrm>
            <a:off x="6446520" y="2688336"/>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Use distribution-aware ranking methods.</a:t>
            </a:r>
          </a:p>
        </p:txBody>
      </p:sp>
      <p:cxnSp>
        <p:nvCxnSpPr>
          <p:cNvPr id="22" name="Connector 21"/>
          <p:cNvCxnSpPr/>
          <p:nvPr/>
        </p:nvCxnSpPr>
        <p:spPr>
          <a:xfrm>
            <a:off x="5989320" y="3044952"/>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3474720"/>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3474720"/>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3474720"/>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474720"/>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Only 302 of 1,026 patients had all four omics layers</a:t>
            </a:r>
          </a:p>
        </p:txBody>
      </p:sp>
      <p:sp>
        <p:nvSpPr>
          <p:cNvPr id="27" name="TextBox 26"/>
          <p:cNvSpPr txBox="1"/>
          <p:nvPr/>
        </p:nvSpPr>
        <p:spPr>
          <a:xfrm>
            <a:off x="6446520" y="3474720"/>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Integrate with missing modalities (MOFA-style latent factors) to use more patients.</a:t>
            </a:r>
          </a:p>
        </p:txBody>
      </p:sp>
      <p:cxnSp>
        <p:nvCxnSpPr>
          <p:cNvPr id="28" name="Connector 27"/>
          <p:cNvCxnSpPr/>
          <p:nvPr/>
        </p:nvCxnSpPr>
        <p:spPr>
          <a:xfrm>
            <a:off x="5989320" y="3831335"/>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48640" y="4261104"/>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4261104"/>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4261104"/>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261104"/>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One cohort and a 46-patient test set</a:t>
            </a:r>
          </a:p>
        </p:txBody>
      </p:sp>
      <p:sp>
        <p:nvSpPr>
          <p:cNvPr id="33" name="TextBox 32"/>
          <p:cNvSpPr txBox="1"/>
          <p:nvPr/>
        </p:nvSpPr>
        <p:spPr>
          <a:xfrm>
            <a:off x="6446520" y="4261104"/>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Validate on an independent cohort such as METABRIC and report confidence intervals.</a:t>
            </a:r>
          </a:p>
        </p:txBody>
      </p:sp>
      <p:cxnSp>
        <p:nvCxnSpPr>
          <p:cNvPr id="34" name="Connector 33"/>
          <p:cNvCxnSpPr/>
          <p:nvPr/>
        </p:nvCxnSpPr>
        <p:spPr>
          <a:xfrm>
            <a:off x="5989320" y="4617720"/>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48640" y="5047488"/>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9632" y="5047488"/>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9632" y="5047488"/>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047488"/>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Biomarkers are computational findings</a:t>
            </a:r>
          </a:p>
        </p:txBody>
      </p:sp>
      <p:sp>
        <p:nvSpPr>
          <p:cNvPr id="39" name="TextBox 38"/>
          <p:cNvSpPr txBox="1"/>
          <p:nvPr/>
        </p:nvSpPr>
        <p:spPr>
          <a:xfrm>
            <a:off x="6446520" y="5047488"/>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Prioritise by network evidence, then test with knockout experiments.</a:t>
            </a:r>
          </a:p>
        </p:txBody>
      </p:sp>
      <p:cxnSp>
        <p:nvCxnSpPr>
          <p:cNvPr id="40" name="Connector 39"/>
          <p:cNvCxnSpPr/>
          <p:nvPr/>
        </p:nvCxnSpPr>
        <p:spPr>
          <a:xfrm>
            <a:off x="5989320" y="5404103"/>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2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Chromatin accessibility in drought-stressed rice</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Co-author work mapping open chromatin in a sensitive and a tolerant cultivar, with a Bash and Python analysis pipeline.</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21–36k</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open-chromatin sites per sample</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98.6%</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of N22 drought-responsive sites gained accessibility</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13</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candidate genes confirmed by RT‑qPCR</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13 /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QUESTION AND DESIGN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Two cultivars, two conditions: can open chromatin explain drought tolerance?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biological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14 / 34</a:t>
            </a:r>
          </a:p>
        </p:txBody>
      </p:sp>
      <p:sp>
        <p:nvSpPr>
          <p:cNvPr id="9" name="Rectangle 8"/>
          <p:cNvSpPr/>
          <p:nvPr/>
        </p:nvSpPr>
        <p:spPr>
          <a:xfrm>
            <a:off x="548640" y="1691640"/>
            <a:ext cx="5486400"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920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Why accessibility matters</a:t>
            </a:r>
          </a:p>
        </p:txBody>
      </p:sp>
      <p:sp>
        <p:nvSpPr>
          <p:cNvPr id="12" name="TextBox 11"/>
          <p:cNvSpPr txBox="1"/>
          <p:nvPr/>
        </p:nvSpPr>
        <p:spPr>
          <a:xfrm>
            <a:off x="822959" y="2286000"/>
            <a:ext cx="4983480" cy="1280160"/>
          </a:xfrm>
          <a:prstGeom prst="rect">
            <a:avLst/>
          </a:prstGeom>
          <a:noFill/>
        </p:spPr>
        <p:txBody>
          <a:bodyPr wrap="square" lIns="0" rIns="0" tIns="0" bIns="0" anchor="t">
            <a:spAutoFit/>
          </a:bodyPr>
          <a:lstStyle/>
          <a:p>
            <a:pPr algn="l">
              <a:spcAft>
                <a:spcPts val="0"/>
              </a:spcAft>
            </a:pPr>
            <a:r>
              <a:rPr sz="1450" b="0" i="0">
                <a:solidFill>
                  <a:srgbClr val="14171C"/>
                </a:solidFill>
                <a:latin typeface="Calibri"/>
              </a:rPr>
              <a:t>Whether transcription factors can reach their cis-regulatory elements depends on local chromatin structure. Open regions are where regulation happens.</a:t>
            </a:r>
          </a:p>
        </p:txBody>
      </p:sp>
      <p:sp>
        <p:nvSpPr>
          <p:cNvPr id="13" name="Rectangle 12"/>
          <p:cNvSpPr/>
          <p:nvPr/>
        </p:nvSpPr>
        <p:spPr>
          <a:xfrm>
            <a:off x="548640" y="3749039"/>
            <a:ext cx="5486400"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49039"/>
            <a:ext cx="73152" cy="1920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913631"/>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Why these two cultivars</a:t>
            </a:r>
          </a:p>
        </p:txBody>
      </p:sp>
      <p:sp>
        <p:nvSpPr>
          <p:cNvPr id="16" name="TextBox 15"/>
          <p:cNvSpPr txBox="1"/>
          <p:nvPr/>
        </p:nvSpPr>
        <p:spPr>
          <a:xfrm>
            <a:off x="822959" y="4343400"/>
            <a:ext cx="4983480" cy="1280160"/>
          </a:xfrm>
          <a:prstGeom prst="rect">
            <a:avLst/>
          </a:prstGeom>
          <a:noFill/>
        </p:spPr>
        <p:txBody>
          <a:bodyPr wrap="square" lIns="0" rIns="0" tIns="0" bIns="0" anchor="t">
            <a:spAutoFit/>
          </a:bodyPr>
          <a:lstStyle/>
          <a:p>
            <a:pPr algn="l">
              <a:spcAft>
                <a:spcPts val="0"/>
              </a:spcAft>
            </a:pPr>
            <a:r>
              <a:rPr sz="1450" b="0" i="0">
                <a:solidFill>
                  <a:srgbClr val="14171C"/>
                </a:solidFill>
                <a:latin typeface="Calibri"/>
              </a:rPr>
              <a:t>IR64 is high yielding but drought sensitive. N22 is deep rooted, drought tolerant and used as a donor for breeding. Under drought, chlorophyll fell about 29% in N22 against about 45% in IR64.</a:t>
            </a:r>
          </a:p>
        </p:txBody>
      </p:sp>
      <p:sp>
        <p:nvSpPr>
          <p:cNvPr id="17" name="TextBox 16"/>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EXPERIMENTAL DESIGN</a:t>
            </a:r>
          </a:p>
        </p:txBody>
      </p:sp>
      <p:sp>
        <p:nvSpPr>
          <p:cNvPr id="18" name="TextBox 17"/>
          <p:cNvSpPr txBox="1"/>
          <p:nvPr/>
        </p:nvSpPr>
        <p:spPr>
          <a:xfrm>
            <a:off x="7269480" y="1965960"/>
            <a:ext cx="2148840" cy="274320"/>
          </a:xfrm>
          <a:prstGeom prst="rect">
            <a:avLst/>
          </a:prstGeom>
          <a:noFill/>
        </p:spPr>
        <p:txBody>
          <a:bodyPr wrap="square" lIns="0" rIns="0" tIns="0" bIns="0" anchor="t">
            <a:spAutoFit/>
          </a:bodyPr>
          <a:lstStyle/>
          <a:p>
            <a:pPr algn="l">
              <a:spcAft>
                <a:spcPts val="0"/>
              </a:spcAft>
            </a:pPr>
            <a:r>
              <a:rPr sz="1300" b="1" i="0">
                <a:solidFill>
                  <a:srgbClr val="52514E"/>
                </a:solidFill>
                <a:latin typeface="Calibri"/>
              </a:rPr>
              <a:t>Control</a:t>
            </a:r>
          </a:p>
        </p:txBody>
      </p:sp>
      <p:sp>
        <p:nvSpPr>
          <p:cNvPr id="19" name="TextBox 18"/>
          <p:cNvSpPr txBox="1"/>
          <p:nvPr/>
        </p:nvSpPr>
        <p:spPr>
          <a:xfrm>
            <a:off x="9509760" y="1965960"/>
            <a:ext cx="2130552" cy="274320"/>
          </a:xfrm>
          <a:prstGeom prst="rect">
            <a:avLst/>
          </a:prstGeom>
          <a:noFill/>
        </p:spPr>
        <p:txBody>
          <a:bodyPr wrap="square" lIns="0" rIns="0" tIns="0" bIns="0" anchor="t">
            <a:spAutoFit/>
          </a:bodyPr>
          <a:lstStyle/>
          <a:p>
            <a:pPr algn="l">
              <a:spcAft>
                <a:spcPts val="0"/>
              </a:spcAft>
            </a:pPr>
            <a:r>
              <a:rPr sz="1300" b="1" i="0">
                <a:solidFill>
                  <a:srgbClr val="52514E"/>
                </a:solidFill>
                <a:latin typeface="Calibri"/>
              </a:rPr>
              <a:t>Drought (6 h, 20% PEG 6000)</a:t>
            </a:r>
          </a:p>
        </p:txBody>
      </p:sp>
      <p:sp>
        <p:nvSpPr>
          <p:cNvPr id="20" name="Oval 19"/>
          <p:cNvSpPr/>
          <p:nvPr/>
        </p:nvSpPr>
        <p:spPr>
          <a:xfrm>
            <a:off x="6309360" y="274320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47688" y="2697479"/>
            <a:ext cx="594360" cy="329184"/>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N22</a:t>
            </a:r>
          </a:p>
        </p:txBody>
      </p:sp>
      <p:sp>
        <p:nvSpPr>
          <p:cNvPr id="22" name="Rectangle 21"/>
          <p:cNvSpPr/>
          <p:nvPr/>
        </p:nvSpPr>
        <p:spPr>
          <a:xfrm>
            <a:off x="7269480" y="2331720"/>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9480" y="2331720"/>
            <a:ext cx="64008"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2331720"/>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25" name="TextBox 24"/>
          <p:cNvSpPr txBox="1"/>
          <p:nvPr/>
        </p:nvSpPr>
        <p:spPr>
          <a:xfrm>
            <a:off x="8092440" y="2331720"/>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26" name="Rectangle 25"/>
          <p:cNvSpPr/>
          <p:nvPr/>
        </p:nvSpPr>
        <p:spPr>
          <a:xfrm>
            <a:off x="9509760" y="2331720"/>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09760" y="2331720"/>
            <a:ext cx="64008"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2331720"/>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29" name="TextBox 28"/>
          <p:cNvSpPr txBox="1"/>
          <p:nvPr/>
        </p:nvSpPr>
        <p:spPr>
          <a:xfrm>
            <a:off x="10332720" y="2331720"/>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30" name="Oval 29"/>
          <p:cNvSpPr/>
          <p:nvPr/>
        </p:nvSpPr>
        <p:spPr>
          <a:xfrm>
            <a:off x="6309360" y="4023359"/>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7688" y="3977639"/>
            <a:ext cx="594360" cy="329184"/>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IR64</a:t>
            </a:r>
          </a:p>
        </p:txBody>
      </p:sp>
      <p:sp>
        <p:nvSpPr>
          <p:cNvPr id="32" name="Rectangle 31"/>
          <p:cNvSpPr/>
          <p:nvPr/>
        </p:nvSpPr>
        <p:spPr>
          <a:xfrm>
            <a:off x="7269480" y="3611879"/>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69480" y="3611879"/>
            <a:ext cx="64008"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79" y="3611879"/>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35" name="TextBox 34"/>
          <p:cNvSpPr txBox="1"/>
          <p:nvPr/>
        </p:nvSpPr>
        <p:spPr>
          <a:xfrm>
            <a:off x="8092440" y="3611879"/>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36" name="Rectangle 35"/>
          <p:cNvSpPr/>
          <p:nvPr/>
        </p:nvSpPr>
        <p:spPr>
          <a:xfrm>
            <a:off x="9509760" y="3611879"/>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09760" y="3611879"/>
            <a:ext cx="64008"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38360" y="3611879"/>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1</a:t>
            </a:r>
          </a:p>
        </p:txBody>
      </p:sp>
      <p:sp>
        <p:nvSpPr>
          <p:cNvPr id="39" name="TextBox 38"/>
          <p:cNvSpPr txBox="1"/>
          <p:nvPr/>
        </p:nvSpPr>
        <p:spPr>
          <a:xfrm>
            <a:off x="10332720" y="3611879"/>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a:t>
            </a:r>
          </a:p>
        </p:txBody>
      </p:sp>
      <p:sp>
        <p:nvSpPr>
          <p:cNvPr id="40" name="TextBox 39"/>
          <p:cNvSpPr txBox="1"/>
          <p:nvPr/>
        </p:nvSpPr>
        <p:spPr>
          <a:xfrm>
            <a:off x="6309360" y="4983480"/>
            <a:ext cx="5330952" cy="822960"/>
          </a:xfrm>
          <a:prstGeom prst="rect">
            <a:avLst/>
          </a:prstGeom>
          <a:noFill/>
        </p:spPr>
        <p:txBody>
          <a:bodyPr wrap="square" lIns="0" rIns="0" tIns="0" bIns="0" anchor="t">
            <a:spAutoFit/>
          </a:bodyPr>
          <a:lstStyle/>
          <a:p>
            <a:pPr algn="l">
              <a:spcAft>
                <a:spcPts val="0"/>
              </a:spcAft>
            </a:pPr>
            <a:r>
              <a:rPr sz="1350" b="0" i="0">
                <a:solidFill>
                  <a:srgbClr val="52514E"/>
                </a:solidFill>
                <a:latin typeface="Calibri"/>
              </a:rPr>
              <a:t>21-day-old seedlings. DNase I digestion with an undigested input control, then paired-end sequencing: 101–147 million read pairs per sample.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ANALYSIS WORKFLOW</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scripted pipeline took raw reads to differential sites and regulatory motifs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Reusable analytical code and epigenomic NGS data types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15 / 34</a:t>
            </a:r>
          </a:p>
        </p:txBody>
      </p:sp>
      <p:sp>
        <p:nvSpPr>
          <p:cNvPr id="9" name="TextBox 8"/>
          <p:cNvSpPr txBox="1"/>
          <p:nvPr/>
        </p:nvSpPr>
        <p:spPr>
          <a:xfrm>
            <a:off x="548640" y="1572768"/>
            <a:ext cx="11091672" cy="27432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Scripted in Bash and Python.  </a:t>
            </a:r>
            <a:r>
              <a:rPr sz="1350" b="0" i="0">
                <a:solidFill>
                  <a:srgbClr val="52514E"/>
                </a:solidFill>
                <a:latin typeface="Calibri"/>
              </a:rPr>
              <a:t>Same workflow pattern as ATAC-seq: QC, alignment, peak calling, differential accessibility, annotation, motifs.</a:t>
            </a:r>
          </a:p>
        </p:txBody>
      </p:sp>
      <p:sp>
        <p:nvSpPr>
          <p:cNvPr id="10" name="Rectangle 9"/>
          <p:cNvSpPr/>
          <p:nvPr/>
        </p:nvSpPr>
        <p:spPr>
          <a:xfrm>
            <a:off x="548640"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1</a:t>
            </a:r>
          </a:p>
        </p:txBody>
      </p:sp>
      <p:sp>
        <p:nvSpPr>
          <p:cNvPr id="13" name="TextBox 12"/>
          <p:cNvSpPr txBox="1"/>
          <p:nvPr/>
        </p:nvSpPr>
        <p:spPr>
          <a:xfrm>
            <a:off x="685800"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Read QC and trimming</a:t>
            </a:r>
          </a:p>
        </p:txBody>
      </p:sp>
      <p:sp>
        <p:nvSpPr>
          <p:cNvPr id="14" name="TextBox 13"/>
          <p:cNvSpPr txBox="1"/>
          <p:nvPr/>
        </p:nvSpPr>
        <p:spPr>
          <a:xfrm>
            <a:off x="685800"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NGS QC Toolkit</a:t>
            </a:r>
          </a:p>
        </p:txBody>
      </p:sp>
      <p:sp>
        <p:nvSpPr>
          <p:cNvPr id="15" name="TextBox 14"/>
          <p:cNvSpPr txBox="1"/>
          <p:nvPr/>
        </p:nvSpPr>
        <p:spPr>
          <a:xfrm>
            <a:off x="685800"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Adaptors and low-quality reads removed</a:t>
            </a:r>
          </a:p>
        </p:txBody>
      </p:sp>
      <p:cxnSp>
        <p:nvCxnSpPr>
          <p:cNvPr id="16" name="Connector 15"/>
          <p:cNvCxnSpPr/>
          <p:nvPr/>
        </p:nvCxnSpPr>
        <p:spPr>
          <a:xfrm>
            <a:off x="2258568"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428646"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28646"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65806"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2</a:t>
            </a:r>
          </a:p>
        </p:txBody>
      </p:sp>
      <p:sp>
        <p:nvSpPr>
          <p:cNvPr id="20" name="TextBox 19"/>
          <p:cNvSpPr txBox="1"/>
          <p:nvPr/>
        </p:nvSpPr>
        <p:spPr>
          <a:xfrm>
            <a:off x="2565806"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Alignment</a:t>
            </a:r>
          </a:p>
        </p:txBody>
      </p:sp>
      <p:sp>
        <p:nvSpPr>
          <p:cNvPr id="21" name="TextBox 20"/>
          <p:cNvSpPr txBox="1"/>
          <p:nvPr/>
        </p:nvSpPr>
        <p:spPr>
          <a:xfrm>
            <a:off x="2565806"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BWA-MEM</a:t>
            </a:r>
          </a:p>
        </p:txBody>
      </p:sp>
      <p:sp>
        <p:nvSpPr>
          <p:cNvPr id="22" name="TextBox 21"/>
          <p:cNvSpPr txBox="1"/>
          <p:nvPr/>
        </p:nvSpPr>
        <p:spPr>
          <a:xfrm>
            <a:off x="2565806"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Nipponbare reference genome, v7</a:t>
            </a:r>
          </a:p>
        </p:txBody>
      </p:sp>
      <p:cxnSp>
        <p:nvCxnSpPr>
          <p:cNvPr id="23" name="Connector 22"/>
          <p:cNvCxnSpPr/>
          <p:nvPr/>
        </p:nvCxnSpPr>
        <p:spPr>
          <a:xfrm>
            <a:off x="4138574"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308652"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8652"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45812"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3</a:t>
            </a:r>
          </a:p>
        </p:txBody>
      </p:sp>
      <p:sp>
        <p:nvSpPr>
          <p:cNvPr id="27" name="TextBox 26"/>
          <p:cNvSpPr txBox="1"/>
          <p:nvPr/>
        </p:nvSpPr>
        <p:spPr>
          <a:xfrm>
            <a:off x="4445812"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Peak calling</a:t>
            </a:r>
          </a:p>
        </p:txBody>
      </p:sp>
      <p:sp>
        <p:nvSpPr>
          <p:cNvPr id="28" name="TextBox 27"/>
          <p:cNvSpPr txBox="1"/>
          <p:nvPr/>
        </p:nvSpPr>
        <p:spPr>
          <a:xfrm>
            <a:off x="4445812"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MACS3</a:t>
            </a:r>
          </a:p>
        </p:txBody>
      </p:sp>
      <p:sp>
        <p:nvSpPr>
          <p:cNvPr id="29" name="TextBox 28"/>
          <p:cNvSpPr txBox="1"/>
          <p:nvPr/>
        </p:nvSpPr>
        <p:spPr>
          <a:xfrm>
            <a:off x="4445812"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Versus input; q ≤ 1e-5; ≥1 log2FC, FDR &lt; 5%</a:t>
            </a:r>
          </a:p>
        </p:txBody>
      </p:sp>
      <p:cxnSp>
        <p:nvCxnSpPr>
          <p:cNvPr id="30" name="Connector 29"/>
          <p:cNvCxnSpPr/>
          <p:nvPr/>
        </p:nvCxnSpPr>
        <p:spPr>
          <a:xfrm>
            <a:off x="6018580" y="2743200"/>
            <a:ext cx="151791"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188659"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8659"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25819"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4</a:t>
            </a:r>
          </a:p>
        </p:txBody>
      </p:sp>
      <p:sp>
        <p:nvSpPr>
          <p:cNvPr id="34" name="TextBox 33"/>
          <p:cNvSpPr txBox="1"/>
          <p:nvPr/>
        </p:nvSpPr>
        <p:spPr>
          <a:xfrm>
            <a:off x="6325819"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Replicate consensus</a:t>
            </a:r>
          </a:p>
        </p:txBody>
      </p:sp>
      <p:sp>
        <p:nvSpPr>
          <p:cNvPr id="35" name="TextBox 34"/>
          <p:cNvSpPr txBox="1"/>
          <p:nvPr/>
        </p:nvSpPr>
        <p:spPr>
          <a:xfrm>
            <a:off x="6325819"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IDR</a:t>
            </a:r>
          </a:p>
        </p:txBody>
      </p:sp>
      <p:sp>
        <p:nvSpPr>
          <p:cNvPr id="36" name="TextBox 35"/>
          <p:cNvSpPr txBox="1"/>
          <p:nvPr/>
        </p:nvSpPr>
        <p:spPr>
          <a:xfrm>
            <a:off x="6325819"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Reproducible peaks across replicates</a:t>
            </a:r>
          </a:p>
        </p:txBody>
      </p:sp>
      <p:cxnSp>
        <p:nvCxnSpPr>
          <p:cNvPr id="37" name="Connector 36"/>
          <p:cNvCxnSpPr/>
          <p:nvPr/>
        </p:nvCxnSpPr>
        <p:spPr>
          <a:xfrm>
            <a:off x="7898587"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068665"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8665"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05825"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5</a:t>
            </a:r>
          </a:p>
        </p:txBody>
      </p:sp>
      <p:sp>
        <p:nvSpPr>
          <p:cNvPr id="41" name="TextBox 40"/>
          <p:cNvSpPr txBox="1"/>
          <p:nvPr/>
        </p:nvSpPr>
        <p:spPr>
          <a:xfrm>
            <a:off x="8205825"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Differential sites</a:t>
            </a:r>
          </a:p>
        </p:txBody>
      </p:sp>
      <p:sp>
        <p:nvSpPr>
          <p:cNvPr id="42" name="TextBox 41"/>
          <p:cNvSpPr txBox="1"/>
          <p:nvPr/>
        </p:nvSpPr>
        <p:spPr>
          <a:xfrm>
            <a:off x="8205825"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csaw</a:t>
            </a:r>
          </a:p>
        </p:txBody>
      </p:sp>
      <p:sp>
        <p:nvSpPr>
          <p:cNvPr id="43" name="TextBox 42"/>
          <p:cNvSpPr txBox="1"/>
          <p:nvPr/>
        </p:nvSpPr>
        <p:spPr>
          <a:xfrm>
            <a:off x="8205825"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Cultivar and drought contrasts; ≥1 log2FC, FDR &lt; 5%</a:t>
            </a:r>
          </a:p>
        </p:txBody>
      </p:sp>
      <p:cxnSp>
        <p:nvCxnSpPr>
          <p:cNvPr id="44" name="Connector 43"/>
          <p:cNvCxnSpPr/>
          <p:nvPr/>
        </p:nvCxnSpPr>
        <p:spPr>
          <a:xfrm>
            <a:off x="9778593" y="2743200"/>
            <a:ext cx="151791"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948672"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8672"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85832"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6</a:t>
            </a:r>
          </a:p>
        </p:txBody>
      </p:sp>
      <p:sp>
        <p:nvSpPr>
          <p:cNvPr id="48" name="TextBox 47"/>
          <p:cNvSpPr txBox="1"/>
          <p:nvPr/>
        </p:nvSpPr>
        <p:spPr>
          <a:xfrm>
            <a:off x="10085832"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Motif discovery</a:t>
            </a:r>
          </a:p>
        </p:txBody>
      </p:sp>
      <p:sp>
        <p:nvSpPr>
          <p:cNvPr id="49" name="TextBox 48"/>
          <p:cNvSpPr txBox="1"/>
          <p:nvPr/>
        </p:nvSpPr>
        <p:spPr>
          <a:xfrm>
            <a:off x="10085832"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MEME-ChIP, STAMP</a:t>
            </a:r>
          </a:p>
        </p:txBody>
      </p:sp>
      <p:sp>
        <p:nvSpPr>
          <p:cNvPr id="50" name="TextBox 49"/>
          <p:cNvSpPr txBox="1"/>
          <p:nvPr/>
        </p:nvSpPr>
        <p:spPr>
          <a:xfrm>
            <a:off x="10085832"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Sequences via BEDTools; Arabidopsis background</a:t>
            </a:r>
          </a:p>
        </p:txBody>
      </p:sp>
      <p:sp>
        <p:nvSpPr>
          <p:cNvPr id="51" name="TextBox 50"/>
          <p:cNvSpPr txBox="1"/>
          <p:nvPr/>
        </p:nvSpPr>
        <p:spPr>
          <a:xfrm>
            <a:off x="548640" y="4572000"/>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THEN INTEGRATED WITH EARLIER DATASETS</a:t>
            </a:r>
          </a:p>
        </p:txBody>
      </p:sp>
      <p:sp>
        <p:nvSpPr>
          <p:cNvPr id="52" name="Rectangle 51"/>
          <p:cNvSpPr/>
          <p:nvPr/>
        </p:nvSpPr>
        <p:spPr>
          <a:xfrm>
            <a:off x="548640"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48640"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DNA methylation</a:t>
            </a:r>
          </a:p>
        </p:txBody>
      </p:sp>
      <p:sp>
        <p:nvSpPr>
          <p:cNvPr id="55" name="TextBox 54"/>
          <p:cNvSpPr txBox="1"/>
          <p:nvPr/>
        </p:nvSpPr>
        <p:spPr>
          <a:xfrm>
            <a:off x="777240"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Bisulphite sequencing of the same cultivars; CG, CHG and CHH density per site.</a:t>
            </a:r>
          </a:p>
        </p:txBody>
      </p:sp>
      <p:sp>
        <p:nvSpPr>
          <p:cNvPr id="56" name="Rectangle 55"/>
          <p:cNvSpPr/>
          <p:nvPr/>
        </p:nvSpPr>
        <p:spPr>
          <a:xfrm>
            <a:off x="4311396"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311396"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39996"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Histone marks and Pol II</a:t>
            </a:r>
          </a:p>
        </p:txBody>
      </p:sp>
      <p:sp>
        <p:nvSpPr>
          <p:cNvPr id="59" name="TextBox 58"/>
          <p:cNvSpPr txBox="1"/>
          <p:nvPr/>
        </p:nvSpPr>
        <p:spPr>
          <a:xfrm>
            <a:off x="4539996"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Five histone marks and RNA polymerase II from a published Nipponbare leaf study.</a:t>
            </a:r>
          </a:p>
        </p:txBody>
      </p:sp>
      <p:sp>
        <p:nvSpPr>
          <p:cNvPr id="60" name="Rectangle 59"/>
          <p:cNvSpPr/>
          <p:nvPr/>
        </p:nvSpPr>
        <p:spPr>
          <a:xfrm>
            <a:off x="8074152"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74152"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02752"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Gene expression</a:t>
            </a:r>
          </a:p>
        </p:txBody>
      </p:sp>
      <p:sp>
        <p:nvSpPr>
          <p:cNvPr id="63" name="TextBox 62"/>
          <p:cNvSpPr txBox="1"/>
          <p:nvPr/>
        </p:nvSpPr>
        <p:spPr>
          <a:xfrm>
            <a:off x="8302752"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RNA-seq of the same cultivars; differential genes at ≥1 log2FC, q &lt; 0.05.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OPEN-CHROMATIN LANDSCAPE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Tolerant N22 opens far more cultivar-specific chromatin under drought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Epigenomics: from peaks to genomic context</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16 / 34</a:t>
            </a:r>
          </a:p>
        </p:txBody>
      </p:sp>
      <p:sp>
        <p:nvSpPr>
          <p:cNvPr id="9" name="TextBox 8"/>
          <p:cNvSpPr txBox="1"/>
          <p:nvPr/>
        </p:nvSpPr>
        <p:spPr>
          <a:xfrm>
            <a:off x="548640" y="1645920"/>
            <a:ext cx="5852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Sample-specific open-chromatin sites</a:t>
            </a:r>
          </a:p>
        </p:txBody>
      </p:sp>
      <p:graphicFrame>
        <p:nvGraphicFramePr>
          <p:cNvPr id="10" name="Chart 9"/>
          <p:cNvGraphicFramePr>
            <a:graphicFrameLocks noGrp="1"/>
          </p:cNvGraphicFramePr>
          <p:nvPr/>
        </p:nvGraphicFramePr>
        <p:xfrm>
          <a:off x="548640" y="1965960"/>
          <a:ext cx="5852160" cy="3611880"/>
        </p:xfrm>
        <a:graphic>
          <a:graphicData uri="http://schemas.openxmlformats.org/drawingml/2006/chart">
            <c:chart xmlns:c="http://schemas.openxmlformats.org/drawingml/2006/chart" r:id="rId2"/>
          </a:graphicData>
        </a:graphic>
      </p:graphicFrame>
      <p:sp>
        <p:nvSpPr>
          <p:cNvPr id="11" name="TextBox 10"/>
          <p:cNvSpPr txBox="1"/>
          <p:nvPr/>
        </p:nvSpPr>
        <p:spPr>
          <a:xfrm>
            <a:off x="548640" y="5623560"/>
            <a:ext cx="5852160" cy="36576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N22 has 3.3× more specific sites at control and 2.8× more under drought.</a:t>
            </a:r>
          </a:p>
        </p:txBody>
      </p:sp>
      <p:sp>
        <p:nvSpPr>
          <p:cNvPr id="12" name="Rectangle 11"/>
          <p:cNvSpPr/>
          <p:nvPr/>
        </p:nvSpPr>
        <p:spPr>
          <a:xfrm>
            <a:off x="6720840" y="169164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169164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69164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21–36k</a:t>
            </a:r>
          </a:p>
        </p:txBody>
      </p:sp>
      <p:sp>
        <p:nvSpPr>
          <p:cNvPr id="15" name="TextBox 14"/>
          <p:cNvSpPr txBox="1"/>
          <p:nvPr/>
        </p:nvSpPr>
        <p:spPr>
          <a:xfrm>
            <a:off x="8641080" y="169164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consensus open-chromatin sites per sample (21,549 to 35,965)</a:t>
            </a:r>
          </a:p>
        </p:txBody>
      </p:sp>
      <p:sp>
        <p:nvSpPr>
          <p:cNvPr id="16" name="Rectangle 15"/>
          <p:cNvSpPr/>
          <p:nvPr/>
        </p:nvSpPr>
        <p:spPr>
          <a:xfrm>
            <a:off x="6720840" y="292608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20840" y="292608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292608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14,959</a:t>
            </a:r>
          </a:p>
        </p:txBody>
      </p:sp>
      <p:sp>
        <p:nvSpPr>
          <p:cNvPr id="19" name="TextBox 18"/>
          <p:cNvSpPr txBox="1"/>
          <p:nvPr/>
        </p:nvSpPr>
        <p:spPr>
          <a:xfrm>
            <a:off x="8641080" y="292608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sites shared by all four samples</a:t>
            </a:r>
          </a:p>
        </p:txBody>
      </p:sp>
      <p:sp>
        <p:nvSpPr>
          <p:cNvPr id="20" name="Rectangle 19"/>
          <p:cNvSpPr/>
          <p:nvPr/>
        </p:nvSpPr>
        <p:spPr>
          <a:xfrm>
            <a:off x="6720840" y="416052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20840" y="416052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416052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20–24%</a:t>
            </a:r>
          </a:p>
        </p:txBody>
      </p:sp>
      <p:sp>
        <p:nvSpPr>
          <p:cNvPr id="23" name="TextBox 22"/>
          <p:cNvSpPr txBox="1"/>
          <p:nvPr/>
        </p:nvSpPr>
        <p:spPr>
          <a:xfrm>
            <a:off x="8641080" y="416052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of sites in promoters, with a further 14 to 18% at transcription start sites</a:t>
            </a:r>
          </a:p>
        </p:txBody>
      </p:sp>
      <p:sp>
        <p:nvSpPr>
          <p:cNvPr id="24" name="TextBox 23"/>
          <p:cNvSpPr txBox="1"/>
          <p:nvPr/>
        </p:nvSpPr>
        <p:spPr>
          <a:xfrm>
            <a:off x="6720840" y="5440680"/>
            <a:ext cx="4919472" cy="54864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Genes with sites at the TSS or promoter were the most highly expressed (P &lt; 2.2e-16, Wilcoxon test against all genes).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DIFFERENTIAL ACCESSIBILITY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Gained accessibility in N22 tracks up-regulation of drought-related genes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Linking an epigenomic signal to gene expression and mechanism</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17 / 34</a:t>
            </a:r>
          </a:p>
        </p:txBody>
      </p:sp>
      <p:sp>
        <p:nvSpPr>
          <p:cNvPr id="9" name="TextBox 8"/>
          <p:cNvSpPr txBox="1"/>
          <p:nvPr/>
        </p:nvSpPr>
        <p:spPr>
          <a:xfrm>
            <a:off x="548640" y="164592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DROUGHT-RESPONSIVE SITES THAT GAINED ACCESSIBILITY</a:t>
            </a:r>
          </a:p>
        </p:txBody>
      </p:sp>
      <p:sp>
        <p:nvSpPr>
          <p:cNvPr id="10" name="Rectangle 9"/>
          <p:cNvSpPr/>
          <p:nvPr/>
        </p:nvSpPr>
        <p:spPr>
          <a:xfrm>
            <a:off x="548640" y="1965960"/>
            <a:ext cx="548640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65960"/>
            <a:ext cx="91440" cy="1417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65960"/>
            <a:ext cx="2194560" cy="1417320"/>
          </a:xfrm>
          <a:prstGeom prst="rect">
            <a:avLst/>
          </a:prstGeom>
          <a:noFill/>
        </p:spPr>
        <p:txBody>
          <a:bodyPr wrap="square" lIns="0" rIns="0" tIns="0" bIns="0" anchor="ctr">
            <a:spAutoFit/>
          </a:bodyPr>
          <a:lstStyle/>
          <a:p>
            <a:pPr algn="l">
              <a:spcAft>
                <a:spcPts val="0"/>
              </a:spcAft>
            </a:pPr>
            <a:r>
              <a:rPr sz="4000" b="1" i="0">
                <a:solidFill>
                  <a:srgbClr val="0E2A47"/>
                </a:solidFill>
                <a:latin typeface="Calibri"/>
              </a:rPr>
              <a:t>98.6%</a:t>
            </a:r>
          </a:p>
        </p:txBody>
      </p:sp>
      <p:sp>
        <p:nvSpPr>
          <p:cNvPr id="13" name="TextBox 12"/>
          <p:cNvSpPr txBox="1"/>
          <p:nvPr/>
        </p:nvSpPr>
        <p:spPr>
          <a:xfrm>
            <a:off x="3108960" y="1965960"/>
            <a:ext cx="2788920" cy="1417320"/>
          </a:xfrm>
          <a:prstGeom prst="rect">
            <a:avLst/>
          </a:prstGeom>
          <a:noFill/>
        </p:spPr>
        <p:txBody>
          <a:bodyPr wrap="square" lIns="0" rIns="0" tIns="0" bIns="0" anchor="ctr">
            <a:spAutoFit/>
          </a:bodyPr>
          <a:lstStyle/>
          <a:p>
            <a:pPr algn="l">
              <a:spcAft>
                <a:spcPts val="300"/>
              </a:spcAft>
            </a:pPr>
            <a:r>
              <a:rPr sz="1500" b="1" i="0">
                <a:solidFill>
                  <a:srgbClr val="0E2A47"/>
                </a:solidFill>
                <a:latin typeface="Calibri"/>
              </a:rPr>
              <a:t>N22, tolerant</a:t>
            </a:r>
          </a:p>
          <a:p>
            <a:pPr algn="l">
              <a:spcAft>
                <a:spcPts val="300"/>
              </a:spcAft>
            </a:pPr>
            <a:r>
              <a:rPr sz="1300" b="0" i="0">
                <a:solidFill>
                  <a:srgbClr val="14171C"/>
                </a:solidFill>
                <a:latin typeface="Calibri"/>
              </a:rPr>
              <a:t>272 of 276 drought-responsive sites gained accessibility</a:t>
            </a:r>
          </a:p>
        </p:txBody>
      </p:sp>
      <p:sp>
        <p:nvSpPr>
          <p:cNvPr id="14" name="Rectangle 13"/>
          <p:cNvSpPr/>
          <p:nvPr/>
        </p:nvSpPr>
        <p:spPr>
          <a:xfrm>
            <a:off x="548640" y="3520439"/>
            <a:ext cx="548640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520439"/>
            <a:ext cx="91440" cy="14173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20439"/>
            <a:ext cx="2194560" cy="1417320"/>
          </a:xfrm>
          <a:prstGeom prst="rect">
            <a:avLst/>
          </a:prstGeom>
          <a:noFill/>
        </p:spPr>
        <p:txBody>
          <a:bodyPr wrap="square" lIns="0" rIns="0" tIns="0" bIns="0" anchor="ctr">
            <a:spAutoFit/>
          </a:bodyPr>
          <a:lstStyle/>
          <a:p>
            <a:pPr algn="l">
              <a:spcAft>
                <a:spcPts val="0"/>
              </a:spcAft>
            </a:pPr>
            <a:r>
              <a:rPr sz="4000" b="1" i="0">
                <a:solidFill>
                  <a:srgbClr val="0E2A47"/>
                </a:solidFill>
                <a:latin typeface="Calibri"/>
              </a:rPr>
              <a:t>75.9%</a:t>
            </a:r>
          </a:p>
        </p:txBody>
      </p:sp>
      <p:sp>
        <p:nvSpPr>
          <p:cNvPr id="17" name="TextBox 16"/>
          <p:cNvSpPr txBox="1"/>
          <p:nvPr/>
        </p:nvSpPr>
        <p:spPr>
          <a:xfrm>
            <a:off x="3108960" y="3520439"/>
            <a:ext cx="2788920" cy="1417320"/>
          </a:xfrm>
          <a:prstGeom prst="rect">
            <a:avLst/>
          </a:prstGeom>
          <a:noFill/>
        </p:spPr>
        <p:txBody>
          <a:bodyPr wrap="square" lIns="0" rIns="0" tIns="0" bIns="0" anchor="ctr">
            <a:spAutoFit/>
          </a:bodyPr>
          <a:lstStyle/>
          <a:p>
            <a:pPr algn="l">
              <a:spcAft>
                <a:spcPts val="300"/>
              </a:spcAft>
            </a:pPr>
            <a:r>
              <a:rPr sz="1500" b="1" i="0">
                <a:solidFill>
                  <a:srgbClr val="0E2A47"/>
                </a:solidFill>
                <a:latin typeface="Calibri"/>
              </a:rPr>
              <a:t>IR64, sensitive</a:t>
            </a:r>
          </a:p>
          <a:p>
            <a:pPr algn="l">
              <a:spcAft>
                <a:spcPts val="300"/>
              </a:spcAft>
            </a:pPr>
            <a:r>
              <a:rPr sz="1300" b="0" i="0">
                <a:solidFill>
                  <a:srgbClr val="14171C"/>
                </a:solidFill>
                <a:latin typeface="Calibri"/>
              </a:rPr>
              <a:t>41 of 54 drought-responsive sites gained accessibility</a:t>
            </a:r>
          </a:p>
        </p:txBody>
      </p:sp>
      <p:sp>
        <p:nvSpPr>
          <p:cNvPr id="18" name="TextBox 17"/>
          <p:cNvSpPr txBox="1"/>
          <p:nvPr/>
        </p:nvSpPr>
        <p:spPr>
          <a:xfrm>
            <a:off x="548640" y="5120640"/>
            <a:ext cx="5486400" cy="731520"/>
          </a:xfrm>
          <a:prstGeom prst="rect">
            <a:avLst/>
          </a:prstGeom>
          <a:noFill/>
        </p:spPr>
        <p:txBody>
          <a:bodyPr wrap="square" lIns="0" rIns="0" tIns="0" bIns="0" anchor="t">
            <a:spAutoFit/>
          </a:bodyPr>
          <a:lstStyle/>
          <a:p>
            <a:pPr algn="l">
              <a:spcAft>
                <a:spcPts val="0"/>
              </a:spcAft>
            </a:pPr>
            <a:r>
              <a:rPr sz="1400" b="0" i="0">
                <a:solidFill>
                  <a:srgbClr val="52514E"/>
                </a:solidFill>
                <a:latin typeface="Calibri"/>
              </a:rPr>
              <a:t>N22 had 5.2× more drought-responsive sites than IR64 (276 against 54), and only 7 were shared between them.</a:t>
            </a:r>
          </a:p>
        </p:txBody>
      </p:sp>
      <p:sp>
        <p:nvSpPr>
          <p:cNvPr id="19" name="TextBox 18"/>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LINK TO GENE EXPRESSION</a:t>
            </a:r>
          </a:p>
        </p:txBody>
      </p:sp>
      <p:sp>
        <p:nvSpPr>
          <p:cNvPr id="20" name="Rectangle 19"/>
          <p:cNvSpPr/>
          <p:nvPr/>
        </p:nvSpPr>
        <p:spPr>
          <a:xfrm>
            <a:off x="6309360" y="196596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96596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196596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44 + 12</a:t>
            </a:r>
          </a:p>
        </p:txBody>
      </p:sp>
      <p:sp>
        <p:nvSpPr>
          <p:cNvPr id="23" name="TextBox 22"/>
          <p:cNvSpPr txBox="1"/>
          <p:nvPr/>
        </p:nvSpPr>
        <p:spPr>
          <a:xfrm>
            <a:off x="8138160" y="196596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genes with gained promoter or TSS sites in N22 under drought; every one was up-regulated</a:t>
            </a:r>
          </a:p>
        </p:txBody>
      </p:sp>
      <p:sp>
        <p:nvSpPr>
          <p:cNvPr id="24" name="Rectangle 23"/>
          <p:cNvSpPr/>
          <p:nvPr/>
        </p:nvSpPr>
        <p:spPr>
          <a:xfrm>
            <a:off x="6309360" y="297180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297180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97180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5 + 2</a:t>
            </a:r>
          </a:p>
        </p:txBody>
      </p:sp>
      <p:sp>
        <p:nvSpPr>
          <p:cNvPr id="27" name="TextBox 26"/>
          <p:cNvSpPr txBox="1"/>
          <p:nvPr/>
        </p:nvSpPr>
        <p:spPr>
          <a:xfrm>
            <a:off x="8138160" y="297180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up-regulated genes with gained promoter or TSS sites in IR64</a:t>
            </a:r>
          </a:p>
        </p:txBody>
      </p:sp>
      <p:sp>
        <p:nvSpPr>
          <p:cNvPr id="28" name="Rectangle 27"/>
          <p:cNvSpPr/>
          <p:nvPr/>
        </p:nvSpPr>
        <p:spPr>
          <a:xfrm>
            <a:off x="6309360" y="3977639"/>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3977639"/>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977639"/>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60%</a:t>
            </a:r>
          </a:p>
        </p:txBody>
      </p:sp>
      <p:sp>
        <p:nvSpPr>
          <p:cNvPr id="31" name="TextBox 30"/>
          <p:cNvSpPr txBox="1"/>
          <p:nvPr/>
        </p:nvSpPr>
        <p:spPr>
          <a:xfrm>
            <a:off x="8138160" y="3977639"/>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gained sites in N22 lie in promoters, against 34% in IR64</a:t>
            </a:r>
          </a:p>
        </p:txBody>
      </p:sp>
      <p:sp>
        <p:nvSpPr>
          <p:cNvPr id="32" name="Rectangle 31"/>
          <p:cNvSpPr/>
          <p:nvPr/>
        </p:nvSpPr>
        <p:spPr>
          <a:xfrm>
            <a:off x="6309360" y="498348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498348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498348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70%</a:t>
            </a:r>
          </a:p>
        </p:txBody>
      </p:sp>
      <p:sp>
        <p:nvSpPr>
          <p:cNvPr id="35" name="TextBox 34"/>
          <p:cNvSpPr txBox="1"/>
          <p:nvPr/>
        </p:nvSpPr>
        <p:spPr>
          <a:xfrm>
            <a:off x="8138160" y="498348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genes that differ between cultivars at control and have a gained promoter site were higher in N22 (30 of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REGULATORY CONTEXT</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Gained sites carry activating marks and drought-response motifs, and candidate genes validate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Prioritising candidates from high-dimensional epigenomic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18 / 34</a:t>
            </a:r>
          </a:p>
        </p:txBody>
      </p:sp>
      <p:sp>
        <p:nvSpPr>
          <p:cNvPr id="9" name="Rectangle 8"/>
          <p:cNvSpPr/>
          <p:nvPr/>
        </p:nvSpPr>
        <p:spPr>
          <a:xfrm>
            <a:off x="548640"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Chromatin state</a:t>
            </a:r>
          </a:p>
        </p:txBody>
      </p:sp>
      <p:sp>
        <p:nvSpPr>
          <p:cNvPr id="12" name="TextBox 11"/>
          <p:cNvSpPr txBox="1"/>
          <p:nvPr/>
        </p:nvSpPr>
        <p:spPr>
          <a:xfrm>
            <a:off x="777240"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Methylation inside open sites is lower than in the flanks, most clearly in the CHH context.</a:t>
            </a:r>
          </a:p>
          <a:p>
            <a:pPr algn="l" marL="201168" indent="-201168">
              <a:spcAft>
                <a:spcPts val="700"/>
              </a:spcAft>
              <a:buChar char="•"/>
            </a:pPr>
            <a:r>
              <a:rPr sz="1300" b="0" i="0">
                <a:solidFill>
                  <a:srgbClr val="14171C"/>
                </a:solidFill>
                <a:latin typeface="Calibri"/>
              </a:rPr>
              <a:t>Under drought, N22 sites carry 4.4 CG and 2.5 CHG methylated cytosines per kb, against 12.7 and 7.2 in IR64.</a:t>
            </a:r>
          </a:p>
          <a:p>
            <a:pPr algn="l" marL="201168" indent="-201168">
              <a:spcAft>
                <a:spcPts val="700"/>
              </a:spcAft>
              <a:buChar char="•"/>
            </a:pPr>
            <a:r>
              <a:rPr sz="1300" b="0" i="0">
                <a:solidFill>
                  <a:srgbClr val="14171C"/>
                </a:solidFill>
                <a:latin typeface="Calibri"/>
              </a:rPr>
              <a:t>Activating histone marks (H3K4me1, H3K27ac, H3K4me3) outnumber repressive ones (H3K27me3, H3K9me2).</a:t>
            </a:r>
          </a:p>
        </p:txBody>
      </p:sp>
      <p:sp>
        <p:nvSpPr>
          <p:cNvPr id="13" name="Rectangle 12"/>
          <p:cNvSpPr/>
          <p:nvPr/>
        </p:nvSpPr>
        <p:spPr>
          <a:xfrm>
            <a:off x="4315968"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Regulatory motifs</a:t>
            </a:r>
          </a:p>
        </p:txBody>
      </p:sp>
      <p:sp>
        <p:nvSpPr>
          <p:cNvPr id="16" name="TextBox 15"/>
          <p:cNvSpPr txBox="1"/>
          <p:nvPr/>
        </p:nvSpPr>
        <p:spPr>
          <a:xfrm>
            <a:off x="4544568"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ABRE/ABF (abscisic acid response) and ARF (auxin response) elements were the most enriched in gained sites.</a:t>
            </a:r>
          </a:p>
          <a:p>
            <a:pPr algn="l" marL="201168" indent="-201168">
              <a:spcAft>
                <a:spcPts val="700"/>
              </a:spcAft>
              <a:buChar char="•"/>
            </a:pPr>
            <a:r>
              <a:rPr sz="1300" b="0" i="0">
                <a:solidFill>
                  <a:srgbClr val="14171C"/>
                </a:solidFill>
                <a:latin typeface="Calibri"/>
              </a:rPr>
              <a:t>Sites came from promoters and TSS regions linked to up-regulated candidate genes in N22.</a:t>
            </a:r>
          </a:p>
          <a:p>
            <a:pPr algn="l" marL="201168" indent="-201168">
              <a:spcAft>
                <a:spcPts val="700"/>
              </a:spcAft>
              <a:buChar char="•"/>
            </a:pPr>
            <a:r>
              <a:rPr sz="1300" b="0" i="0">
                <a:solidFill>
                  <a:srgbClr val="14171C"/>
                </a:solidFill>
                <a:latin typeface="Calibri"/>
              </a:rPr>
              <a:t>MEME-ChIP and STAMP found the motifs; they are candidate targets for engineering drought tolerance.</a:t>
            </a:r>
          </a:p>
        </p:txBody>
      </p:sp>
      <p:sp>
        <p:nvSpPr>
          <p:cNvPr id="17" name="Rectangle 16"/>
          <p:cNvSpPr/>
          <p:nvPr/>
        </p:nvSpPr>
        <p:spPr>
          <a:xfrm>
            <a:off x="8083296"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Candidate genes</a:t>
            </a:r>
          </a:p>
        </p:txBody>
      </p:sp>
      <p:sp>
        <p:nvSpPr>
          <p:cNvPr id="20" name="TextBox 19"/>
          <p:cNvSpPr txBox="1"/>
          <p:nvPr/>
        </p:nvSpPr>
        <p:spPr>
          <a:xfrm>
            <a:off x="8311896"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30 candidate genes (in drought QTLs, transcription factors or abiotic-stress genes) had sites in the promoter or TSS.</a:t>
            </a:r>
          </a:p>
          <a:p>
            <a:pPr algn="l" marL="201168" indent="-201168">
              <a:spcAft>
                <a:spcPts val="700"/>
              </a:spcAft>
              <a:buChar char="•"/>
            </a:pPr>
            <a:r>
              <a:rPr sz="1300" b="0" i="0">
                <a:solidFill>
                  <a:srgbClr val="14171C"/>
                </a:solidFill>
                <a:latin typeface="Calibri"/>
              </a:rPr>
              <a:t>13 genes gained accessibility in N22 under drought, and all were up-regulated by RT‑qPCR.</a:t>
            </a:r>
          </a:p>
          <a:p>
            <a:pPr algn="l" marL="201168" indent="-201168">
              <a:spcAft>
                <a:spcPts val="700"/>
              </a:spcAft>
              <a:buChar char="•"/>
            </a:pPr>
            <a:r>
              <a:rPr sz="1300" b="0" i="0">
                <a:solidFill>
                  <a:srgbClr val="14171C"/>
                </a:solidFill>
                <a:latin typeface="Calibri"/>
              </a:rPr>
              <a:t>Examples: MYB and C2H2 zinc-finger transcription factors, and LEA and HVA22 stress genes.</a:t>
            </a:r>
          </a:p>
        </p:txBody>
      </p:sp>
      <p:sp>
        <p:nvSpPr>
          <p:cNvPr id="21" name="Rectangle 20"/>
          <p:cNvSpPr/>
          <p:nvPr/>
        </p:nvSpPr>
        <p:spPr>
          <a:xfrm>
            <a:off x="548640" y="5349240"/>
            <a:ext cx="11091672" cy="5943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349240"/>
            <a:ext cx="73152" cy="5943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349240"/>
            <a:ext cx="10634472" cy="594360"/>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Accessibility data narrowed thousands of sites to 13 candidate genes and a handful of regulatory motifs that can be tested.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3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Deconvolution of bulk RNA-seq with a variational autoencoder</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A research prototype: simulate matched training data from single-cell references, then train and track generative models. Validation against known cell proportions is the next step.</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172k</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ROSMAP nuclei in 24 samples</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202</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tracked training runs in 9 experiments</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cell types modelled</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19 / 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IDEA AND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Bulk RNA-seq averages over cell types; the project learns cell-type structure from simulated bulk</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biological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20 / 34</a:t>
            </a:r>
          </a:p>
        </p:txBody>
      </p:sp>
      <p:sp>
        <p:nvSpPr>
          <p:cNvPr id="9" name="Rectangle 8"/>
          <p:cNvSpPr/>
          <p:nvPr/>
        </p:nvSpPr>
        <p:spPr>
          <a:xfrm>
            <a:off x="548640" y="16916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288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problem</a:t>
            </a:r>
          </a:p>
        </p:txBody>
      </p:sp>
      <p:sp>
        <p:nvSpPr>
          <p:cNvPr id="12" name="TextBox 11"/>
          <p:cNvSpPr txBox="1"/>
          <p:nvPr/>
        </p:nvSpPr>
        <p:spPr>
          <a:xfrm>
            <a:off x="822959" y="2194560"/>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Bulk transcriptomes average over every cell in a sample. Deconvolution estimates the cell-type composition and cell-type-specific expression hidden inside them.</a:t>
            </a:r>
          </a:p>
        </p:txBody>
      </p:sp>
      <p:sp>
        <p:nvSpPr>
          <p:cNvPr id="13" name="Rectangle 12"/>
          <p:cNvSpPr/>
          <p:nvPr/>
        </p:nvSpPr>
        <p:spPr>
          <a:xfrm>
            <a:off x="548640" y="30632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004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idea</a:t>
            </a:r>
          </a:p>
        </p:txBody>
      </p:sp>
      <p:sp>
        <p:nvSpPr>
          <p:cNvPr id="16" name="TextBox 15"/>
          <p:cNvSpPr txBox="1"/>
          <p:nvPr/>
        </p:nvSpPr>
        <p:spPr>
          <a:xfrm>
            <a:off x="822959" y="3566160"/>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Single-cell data show what each cell type contributes. Convolving them gives matched cell-type and pseudo-bulk data to train a model on.</a:t>
            </a:r>
          </a:p>
        </p:txBody>
      </p:sp>
      <p:sp>
        <p:nvSpPr>
          <p:cNvPr id="17" name="Rectangle 16"/>
          <p:cNvSpPr/>
          <p:nvPr/>
        </p:nvSpPr>
        <p:spPr>
          <a:xfrm>
            <a:off x="548640" y="44348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720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model</a:t>
            </a:r>
          </a:p>
        </p:txBody>
      </p:sp>
      <p:sp>
        <p:nvSpPr>
          <p:cNvPr id="20" name="TextBox 19"/>
          <p:cNvSpPr txBox="1"/>
          <p:nvPr/>
        </p:nvSpPr>
        <p:spPr>
          <a:xfrm>
            <a:off x="822959" y="4937759"/>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A variational autoencoder compresses four cell-type expression values per gene into one latent value and decodes them back.</a:t>
            </a:r>
          </a:p>
        </p:txBody>
      </p:sp>
      <p:sp>
        <p:nvSpPr>
          <p:cNvPr id="21" name="TextBox 20"/>
          <p:cNvSpPr txBox="1"/>
          <p:nvPr/>
        </p:nvSpPr>
        <p:spPr>
          <a:xfrm>
            <a:off x="6492240" y="1645920"/>
            <a:ext cx="512064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DATASETS</a:t>
            </a:r>
          </a:p>
        </p:txBody>
      </p:sp>
      <p:sp>
        <p:nvSpPr>
          <p:cNvPr id="22" name="Rectangle 21"/>
          <p:cNvSpPr/>
          <p:nvPr/>
        </p:nvSpPr>
        <p:spPr>
          <a:xfrm>
            <a:off x="6492240" y="1920240"/>
            <a:ext cx="5148072"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1920240"/>
            <a:ext cx="73152" cy="1783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2057400"/>
            <a:ext cx="475488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ROSMAP brain, current model</a:t>
            </a:r>
          </a:p>
        </p:txBody>
      </p:sp>
      <p:sp>
        <p:nvSpPr>
          <p:cNvPr id="25" name="TextBox 24"/>
          <p:cNvSpPr txBox="1"/>
          <p:nvPr/>
        </p:nvSpPr>
        <p:spPr>
          <a:xfrm>
            <a:off x="6766560" y="2450592"/>
            <a:ext cx="4754880" cy="123444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Single-nucleus RNA-seq: about 172,700 nuclei, 28,781 genes and 24 samples. The model uses four of nine annotated cell types: excitatory and inhibitory neurons, astrocytes and oligodendrocytes.</a:t>
            </a:r>
          </a:p>
        </p:txBody>
      </p:sp>
      <p:sp>
        <p:nvSpPr>
          <p:cNvPr id="26" name="Rectangle 25"/>
          <p:cNvSpPr/>
          <p:nvPr/>
        </p:nvSpPr>
        <p:spPr>
          <a:xfrm>
            <a:off x="6492240" y="3840480"/>
            <a:ext cx="5148072"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3840480"/>
            <a:ext cx="73152" cy="1783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3977640"/>
            <a:ext cx="475488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Pancreatic islets, early development</a:t>
            </a:r>
          </a:p>
        </p:txBody>
      </p:sp>
      <p:sp>
        <p:nvSpPr>
          <p:cNvPr id="29" name="TextBox 28"/>
          <p:cNvSpPr txBox="1"/>
          <p:nvPr/>
        </p:nvSpPr>
        <p:spPr>
          <a:xfrm>
            <a:off x="6766560" y="4370832"/>
            <a:ext cx="4754880" cy="123444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GSE81608 (Xin et al.): 1,600 cells from 18 donors, 12 normal and 6 with type 2 diabetes. Alpha, beta, delta and PP cells; 33,889 genes after variance filtering.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ARCHITECTURE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End-to-end architecture: from raw single-nucleus data to tracked model runs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21 / 34</a:t>
            </a:r>
          </a:p>
        </p:txBody>
      </p:sp>
      <p:sp>
        <p:nvSpPr>
          <p:cNvPr id="9" name="Rectangle 8"/>
          <p:cNvSpPr/>
          <p:nvPr/>
        </p:nvSpPr>
        <p:spPr>
          <a:xfrm>
            <a:off x="548640"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1  Raw data</a:t>
            </a:r>
          </a:p>
        </p:txBody>
      </p:sp>
      <p:sp>
        <p:nvSpPr>
          <p:cNvPr id="12" name="TextBox 11"/>
          <p:cNvSpPr txBox="1"/>
          <p:nvPr/>
        </p:nvSpPr>
        <p:spPr>
          <a:xfrm>
            <a:off x="685800"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ROSMAP count matrix with gene and cell metadata</a:t>
            </a:r>
          </a:p>
        </p:txBody>
      </p:sp>
      <p:sp>
        <p:nvSpPr>
          <p:cNvPr id="13" name="TextBox 12"/>
          <p:cNvSpPr txBox="1"/>
          <p:nvPr/>
        </p:nvSpPr>
        <p:spPr>
          <a:xfrm>
            <a:off x="685800"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data/raw/rosmap</a:t>
            </a:r>
          </a:p>
        </p:txBody>
      </p:sp>
      <p:cxnSp>
        <p:nvCxnSpPr>
          <p:cNvPr id="14" name="Connector 13"/>
          <p:cNvCxnSpPr/>
          <p:nvPr/>
        </p:nvCxnSpPr>
        <p:spPr>
          <a:xfrm>
            <a:off x="2587752"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816352"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16352"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3512"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2  Preprocess</a:t>
            </a:r>
          </a:p>
        </p:txBody>
      </p:sp>
      <p:sp>
        <p:nvSpPr>
          <p:cNvPr id="18" name="TextBox 17"/>
          <p:cNvSpPr txBox="1"/>
          <p:nvPr/>
        </p:nvSpPr>
        <p:spPr>
          <a:xfrm>
            <a:off x="2953512"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Scanpy drops genes seen in fewer than 5 cells; 24 sample files; counts to CPM; low-expression genes filtered</a:t>
            </a:r>
          </a:p>
        </p:txBody>
      </p:sp>
      <p:sp>
        <p:nvSpPr>
          <p:cNvPr id="19" name="TextBox 18"/>
          <p:cNvSpPr txBox="1"/>
          <p:nvPr/>
        </p:nvSpPr>
        <p:spPr>
          <a:xfrm>
            <a:off x="2953512"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notebooks/rosmap/00–02</a:t>
            </a:r>
          </a:p>
        </p:txBody>
      </p:sp>
      <p:cxnSp>
        <p:nvCxnSpPr>
          <p:cNvPr id="20" name="Connector 19"/>
          <p:cNvCxnSpPr/>
          <p:nvPr/>
        </p:nvCxnSpPr>
        <p:spPr>
          <a:xfrm>
            <a:off x="4855464"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4064"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3  Simulate</a:t>
            </a:r>
          </a:p>
        </p:txBody>
      </p:sp>
      <p:sp>
        <p:nvSpPr>
          <p:cNvPr id="24" name="TextBox 23"/>
          <p:cNvSpPr txBox="1"/>
          <p:nvPr/>
        </p:nvSpPr>
        <p:spPr>
          <a:xfrm>
            <a:off x="5221224"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Deconv class computes θ, S and p per sample and writes paired single-cell and pseudo-bulk tables</a:t>
            </a:r>
          </a:p>
        </p:txBody>
      </p:sp>
      <p:sp>
        <p:nvSpPr>
          <p:cNvPr id="25" name="TextBox 24"/>
          <p:cNvSpPr txBox="1"/>
          <p:nvPr/>
        </p:nvSpPr>
        <p:spPr>
          <a:xfrm>
            <a:off x="5221224"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src/data/make_dataset_</a:t>
            </a:r>
          </a:p>
          <a:p>
            <a:pPr algn="l">
              <a:spcAft>
                <a:spcPts val="0"/>
              </a:spcAft>
            </a:pPr>
            <a:r>
              <a:rPr sz="1000" b="1" i="0">
                <a:solidFill>
                  <a:srgbClr val="1F5FAE"/>
                </a:solidFill>
                <a:latin typeface="Calibri"/>
              </a:rPr>
              <a:t>rosmap.py</a:t>
            </a:r>
          </a:p>
        </p:txBody>
      </p:sp>
      <p:cxnSp>
        <p:nvCxnSpPr>
          <p:cNvPr id="26" name="Connector 25"/>
          <p:cNvCxnSpPr/>
          <p:nvPr/>
        </p:nvCxnSpPr>
        <p:spPr>
          <a:xfrm>
            <a:off x="7123176"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51776"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8936"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4  Train</a:t>
            </a:r>
          </a:p>
        </p:txBody>
      </p:sp>
      <p:sp>
        <p:nvSpPr>
          <p:cNvPr id="30" name="TextBox 29"/>
          <p:cNvSpPr txBox="1"/>
          <p:nvPr/>
        </p:nvSpPr>
        <p:spPr>
          <a:xfrm>
            <a:off x="7488936"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PyTorch VAE or autoencoder; Optuna tuning over 10 trials, then retraining with the best parameters</a:t>
            </a:r>
          </a:p>
        </p:txBody>
      </p:sp>
      <p:sp>
        <p:nvSpPr>
          <p:cNvPr id="31" name="TextBox 30"/>
          <p:cNvSpPr txBox="1"/>
          <p:nvPr/>
        </p:nvSpPr>
        <p:spPr>
          <a:xfrm>
            <a:off x="7488936"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src/models/train_model_</a:t>
            </a:r>
          </a:p>
          <a:p>
            <a:pPr algn="l">
              <a:spcAft>
                <a:spcPts val="0"/>
              </a:spcAft>
            </a:pPr>
            <a:r>
              <a:rPr sz="1000" b="1" i="0">
                <a:solidFill>
                  <a:srgbClr val="1F5FAE"/>
                </a:solidFill>
                <a:latin typeface="Calibri"/>
              </a:rPr>
              <a:t>optuna_rosmap.py</a:t>
            </a:r>
          </a:p>
        </p:txBody>
      </p:sp>
      <p:cxnSp>
        <p:nvCxnSpPr>
          <p:cNvPr id="32" name="Connector 31"/>
          <p:cNvCxnSpPr/>
          <p:nvPr/>
        </p:nvCxnSpPr>
        <p:spPr>
          <a:xfrm>
            <a:off x="9390888"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619488"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56648"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5  Track</a:t>
            </a:r>
          </a:p>
        </p:txBody>
      </p:sp>
      <p:sp>
        <p:nvSpPr>
          <p:cNvPr id="36" name="TextBox 35"/>
          <p:cNvSpPr txBox="1"/>
          <p:nvPr/>
        </p:nvSpPr>
        <p:spPr>
          <a:xfrm>
            <a:off x="9756648"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MLflow logs parameters, final loss, the model and a loss figure for each run</a:t>
            </a:r>
          </a:p>
        </p:txBody>
      </p:sp>
      <p:sp>
        <p:nvSpPr>
          <p:cNvPr id="37" name="TextBox 36"/>
          <p:cNvSpPr txBox="1"/>
          <p:nvPr/>
        </p:nvSpPr>
        <p:spPr>
          <a:xfrm>
            <a:off x="9756648"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mlruns and mlartifacts</a:t>
            </a:r>
          </a:p>
        </p:txBody>
      </p:sp>
      <p:sp>
        <p:nvSpPr>
          <p:cNvPr id="38" name="Rectangle 37"/>
          <p:cNvSpPr/>
          <p:nvPr/>
        </p:nvSpPr>
        <p:spPr>
          <a:xfrm>
            <a:off x="548640" y="4160520"/>
            <a:ext cx="6547104"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41605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160520"/>
            <a:ext cx="6181344"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DVC</a:t>
            </a:r>
            <a:r>
              <a:rPr sz="1300" b="0" i="0">
                <a:solidFill>
                  <a:srgbClr val="14171C"/>
                </a:solidFill>
                <a:latin typeface="Calibri"/>
              </a:rPr>
              <a:t>  data directory versioned: 27 GB in 125 files, with a remote store</a:t>
            </a:r>
          </a:p>
        </p:txBody>
      </p:sp>
      <p:sp>
        <p:nvSpPr>
          <p:cNvPr id="41" name="Rectangle 40"/>
          <p:cNvSpPr/>
          <p:nvPr/>
        </p:nvSpPr>
        <p:spPr>
          <a:xfrm>
            <a:off x="7351776" y="4160520"/>
            <a:ext cx="427939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51776" y="41605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0376" y="4160520"/>
            <a:ext cx="391363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params.yaml</a:t>
            </a:r>
            <a:r>
              <a:rPr sz="1300" b="0" i="0">
                <a:solidFill>
                  <a:srgbClr val="14171C"/>
                </a:solidFill>
                <a:latin typeface="Calibri"/>
              </a:rPr>
              <a:t>  hyperparameters and switches for each run</a:t>
            </a:r>
          </a:p>
        </p:txBody>
      </p:sp>
      <p:sp>
        <p:nvSpPr>
          <p:cNvPr id="44" name="Rectangle 43"/>
          <p:cNvSpPr/>
          <p:nvPr/>
        </p:nvSpPr>
        <p:spPr>
          <a:xfrm>
            <a:off x="548640" y="4846320"/>
            <a:ext cx="1109167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48463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4846320"/>
            <a:ext cx="1072591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Compute</a:t>
            </a:r>
            <a:r>
              <a:rPr sz="1300" b="0" i="0">
                <a:solidFill>
                  <a:srgbClr val="14171C"/>
                </a:solidFill>
                <a:latin typeface="Calibri"/>
              </a:rPr>
              <a:t>  JupyterLab sessions on a Slurm HPC cluster; Hugging Face Accelerate handles device placement</a:t>
            </a:r>
          </a:p>
        </p:txBody>
      </p:sp>
      <p:sp>
        <p:nvSpPr>
          <p:cNvPr id="47" name="TextBox 46"/>
          <p:cNvSpPr txBox="1"/>
          <p:nvPr/>
        </p:nvSpPr>
        <p:spPr>
          <a:xfrm>
            <a:off x="548640" y="5577840"/>
            <a:ext cx="11091672" cy="2743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Paths are relative to the Deconvolution repository.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SIMULATING TRAINING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Single-cell data are convolved into matched cell-type and pseudo-bulk training pairs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Simulation and generative approaches for scientific workflows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22 / 34</a:t>
            </a:r>
          </a:p>
        </p:txBody>
      </p:sp>
      <p:sp>
        <p:nvSpPr>
          <p:cNvPr id="9" name="Rectangle 8"/>
          <p:cNvSpPr/>
          <p:nvPr/>
        </p:nvSpPr>
        <p:spPr>
          <a:xfrm>
            <a:off x="548640"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85800"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1</a:t>
            </a:r>
          </a:p>
        </p:txBody>
      </p:sp>
      <p:sp>
        <p:nvSpPr>
          <p:cNvPr id="12" name="TextBox 11"/>
          <p:cNvSpPr txBox="1"/>
          <p:nvPr/>
        </p:nvSpPr>
        <p:spPr>
          <a:xfrm>
            <a:off x="685800"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Single-cell counts</a:t>
            </a:r>
          </a:p>
        </p:txBody>
      </p:sp>
      <p:sp>
        <p:nvSpPr>
          <p:cNvPr id="13" name="TextBox 12"/>
          <p:cNvSpPr txBox="1"/>
          <p:nvPr/>
        </p:nvSpPr>
        <p:spPr>
          <a:xfrm>
            <a:off x="685800"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Per subject: counts for each gene in each cell, and a cell-type label for every cell.</a:t>
            </a:r>
          </a:p>
        </p:txBody>
      </p:sp>
      <p:cxnSp>
        <p:nvCxnSpPr>
          <p:cNvPr id="14" name="Connector 13"/>
          <p:cNvCxnSpPr/>
          <p:nvPr/>
        </p:nvCxnSpPr>
        <p:spPr>
          <a:xfrm>
            <a:off x="3054096"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19856"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9856"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57016"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2</a:t>
            </a:r>
          </a:p>
        </p:txBody>
      </p:sp>
      <p:sp>
        <p:nvSpPr>
          <p:cNvPr id="18" name="TextBox 17"/>
          <p:cNvSpPr txBox="1"/>
          <p:nvPr/>
        </p:nvSpPr>
        <p:spPr>
          <a:xfrm>
            <a:off x="3557016"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Abundance and size</a:t>
            </a:r>
          </a:p>
        </p:txBody>
      </p:sp>
      <p:sp>
        <p:nvSpPr>
          <p:cNvPr id="19" name="TextBox 18"/>
          <p:cNvSpPr txBox="1"/>
          <p:nvPr/>
        </p:nvSpPr>
        <p:spPr>
          <a:xfrm>
            <a:off x="3557016"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θ: a gene's share of a cell type's RNA (Eq. 1). S: average total RNA per cell of that type.</a:t>
            </a:r>
          </a:p>
        </p:txBody>
      </p:sp>
      <p:cxnSp>
        <p:nvCxnSpPr>
          <p:cNvPr id="20" name="Connector 19"/>
          <p:cNvCxnSpPr/>
          <p:nvPr/>
        </p:nvCxnSpPr>
        <p:spPr>
          <a:xfrm>
            <a:off x="5925312"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91072"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91072"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8232"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3</a:t>
            </a:r>
          </a:p>
        </p:txBody>
      </p:sp>
      <p:sp>
        <p:nvSpPr>
          <p:cNvPr id="24" name="TextBox 23"/>
          <p:cNvSpPr txBox="1"/>
          <p:nvPr/>
        </p:nvSpPr>
        <p:spPr>
          <a:xfrm>
            <a:off x="6428232"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Convolved cell types</a:t>
            </a:r>
          </a:p>
        </p:txBody>
      </p:sp>
      <p:sp>
        <p:nvSpPr>
          <p:cNvPr id="25" name="TextBox 24"/>
          <p:cNvSpPr txBox="1"/>
          <p:nvPr/>
        </p:nvSpPr>
        <p:spPr>
          <a:xfrm>
            <a:off x="6428232"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S × θ gives a genes × 4 table per sample. It is the model input, and MuSiC's design matrix.</a:t>
            </a:r>
          </a:p>
        </p:txBody>
      </p:sp>
      <p:cxnSp>
        <p:nvCxnSpPr>
          <p:cNvPr id="26" name="Connector 25"/>
          <p:cNvCxnSpPr/>
          <p:nvPr/>
        </p:nvCxnSpPr>
        <p:spPr>
          <a:xfrm>
            <a:off x="8796528"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162288"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2288"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99448"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4</a:t>
            </a:r>
          </a:p>
        </p:txBody>
      </p:sp>
      <p:sp>
        <p:nvSpPr>
          <p:cNvPr id="30" name="TextBox 29"/>
          <p:cNvSpPr txBox="1"/>
          <p:nvPr/>
        </p:nvSpPr>
        <p:spPr>
          <a:xfrm>
            <a:off x="9299448"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Pseudo-bulk</a:t>
            </a:r>
          </a:p>
        </p:txBody>
      </p:sp>
      <p:sp>
        <p:nvSpPr>
          <p:cNvPr id="31" name="TextBox 30"/>
          <p:cNvSpPr txBox="1"/>
          <p:nvPr/>
        </p:nvSpPr>
        <p:spPr>
          <a:xfrm>
            <a:off x="9299448"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Weight cell types by proportions p and sum: one bulk-like value per gene (Eq. 3).</a:t>
            </a:r>
          </a:p>
        </p:txBody>
      </p:sp>
      <p:sp>
        <p:nvSpPr>
          <p:cNvPr id="32" name="Rectangle 31"/>
          <p:cNvSpPr/>
          <p:nvPr/>
        </p:nvSpPr>
        <p:spPr>
          <a:xfrm>
            <a:off x="548640" y="3840480"/>
            <a:ext cx="5449824"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3840480"/>
            <a:ext cx="73152" cy="12801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 y="3931920"/>
            <a:ext cx="502920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From the MuSiC paper</a:t>
            </a:r>
          </a:p>
        </p:txBody>
      </p:sp>
      <p:sp>
        <p:nvSpPr>
          <p:cNvPr id="35" name="TextBox 34"/>
          <p:cNvSpPr txBox="1"/>
          <p:nvPr/>
        </p:nvSpPr>
        <p:spPr>
          <a:xfrm>
            <a:off x="822959" y="4279392"/>
            <a:ext cx="502920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Bulk is the sum over cell types of proportion × cell size × gene abundance. MuSiC runs this in reverse, estimating p from real bulk by weighted non-negative least squares. Here it runs forward, to simulate bulk.</a:t>
            </a:r>
          </a:p>
        </p:txBody>
      </p:sp>
      <p:sp>
        <p:nvSpPr>
          <p:cNvPr id="36" name="Rectangle 35"/>
          <p:cNvSpPr/>
          <p:nvPr/>
        </p:nvSpPr>
        <p:spPr>
          <a:xfrm>
            <a:off x="6190488" y="3840480"/>
            <a:ext cx="5449824"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0488" y="3840480"/>
            <a:ext cx="73152" cy="12801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7" y="3931920"/>
            <a:ext cx="502920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In this pipeline</a:t>
            </a:r>
          </a:p>
        </p:txBody>
      </p:sp>
      <p:sp>
        <p:nvSpPr>
          <p:cNvPr id="39" name="TextBox 38"/>
          <p:cNvSpPr txBox="1"/>
          <p:nvPr/>
        </p:nvSpPr>
        <p:spPr>
          <a:xfrm>
            <a:off x="6464807" y="4279392"/>
            <a:ext cx="502920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θ and S come from each sample's nuclei (genes seen in fewer than 5 cells dropped, counts as CPM). One set of p, from a linear regression on a reference matrix and rescaled to sum to 1, is applied to every sample.</a:t>
            </a:r>
          </a:p>
        </p:txBody>
      </p:sp>
      <p:sp>
        <p:nvSpPr>
          <p:cNvPr id="40" name="TextBox 39"/>
          <p:cNvSpPr txBox="1"/>
          <p:nvPr/>
        </p:nvSpPr>
        <p:spPr>
          <a:xfrm>
            <a:off x="548640" y="5349240"/>
            <a:ext cx="11091672" cy="45720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bulk(g) ∝ sum over cell types k of   p(k) × S(k) × θ(g, k)</a:t>
            </a:r>
            <a:r>
              <a:rPr sz="1350" b="0" i="0">
                <a:solidFill>
                  <a:srgbClr val="52514E"/>
                </a:solidFill>
                <a:latin typeface="Calibri"/>
              </a:rPr>
              <a:t>      Wang et al., Nature Communications 10:380 (2019), Eq. 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MODEL AND TRAINING</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compact VAE trained on one gene at a time across all samples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Deep learning and generative models for biological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23 / 34</a:t>
            </a:r>
          </a:p>
        </p:txBody>
      </p:sp>
      <p:sp>
        <p:nvSpPr>
          <p:cNvPr id="9" name="Rectangle 8"/>
          <p:cNvSpPr/>
          <p:nvPr/>
        </p:nvSpPr>
        <p:spPr>
          <a:xfrm>
            <a:off x="548640" y="1737360"/>
            <a:ext cx="173736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28800"/>
            <a:ext cx="1463039"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Input</a:t>
            </a:r>
          </a:p>
        </p:txBody>
      </p:sp>
      <p:sp>
        <p:nvSpPr>
          <p:cNvPr id="11" name="TextBox 10"/>
          <p:cNvSpPr txBox="1"/>
          <p:nvPr/>
        </p:nvSpPr>
        <p:spPr>
          <a:xfrm>
            <a:off x="685800" y="2176272"/>
            <a:ext cx="1463039"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Four cell-type values for one gene</a:t>
            </a:r>
          </a:p>
        </p:txBody>
      </p:sp>
      <p:sp>
        <p:nvSpPr>
          <p:cNvPr id="12" name="Rectangle 11"/>
          <p:cNvSpPr/>
          <p:nvPr/>
        </p:nvSpPr>
        <p:spPr>
          <a:xfrm>
            <a:off x="2697480" y="1737360"/>
            <a:ext cx="237744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1828800"/>
            <a:ext cx="21031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Encoder</a:t>
            </a:r>
          </a:p>
        </p:txBody>
      </p:sp>
      <p:sp>
        <p:nvSpPr>
          <p:cNvPr id="14" name="TextBox 13"/>
          <p:cNvSpPr txBox="1"/>
          <p:nvPr/>
        </p:nvSpPr>
        <p:spPr>
          <a:xfrm>
            <a:off x="2834640" y="2176272"/>
            <a:ext cx="2103120"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Linear, BatchNorm, ReLU; dropout every second layer</a:t>
            </a:r>
          </a:p>
        </p:txBody>
      </p:sp>
      <p:sp>
        <p:nvSpPr>
          <p:cNvPr id="15" name="Rectangle 14"/>
          <p:cNvSpPr/>
          <p:nvPr/>
        </p:nvSpPr>
        <p:spPr>
          <a:xfrm>
            <a:off x="5440680" y="1737360"/>
            <a:ext cx="1920240" cy="141732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828800"/>
            <a:ext cx="1645920" cy="27432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Latent</a:t>
            </a:r>
          </a:p>
        </p:txBody>
      </p:sp>
      <p:sp>
        <p:nvSpPr>
          <p:cNvPr id="17" name="TextBox 16"/>
          <p:cNvSpPr txBox="1"/>
          <p:nvPr/>
        </p:nvSpPr>
        <p:spPr>
          <a:xfrm>
            <a:off x="5577840" y="2176272"/>
            <a:ext cx="1645920" cy="960120"/>
          </a:xfrm>
          <a:prstGeom prst="rect">
            <a:avLst/>
          </a:prstGeom>
          <a:noFill/>
        </p:spPr>
        <p:txBody>
          <a:bodyPr wrap="square" lIns="0" rIns="0" tIns="0" bIns="0" anchor="t">
            <a:spAutoFit/>
          </a:bodyPr>
          <a:lstStyle/>
          <a:p>
            <a:pPr algn="l">
              <a:spcAft>
                <a:spcPts val="0"/>
              </a:spcAft>
            </a:pPr>
            <a:r>
              <a:rPr sz="1250" b="0" i="0">
                <a:solidFill>
                  <a:srgbClr val="D5DEEA"/>
                </a:solidFill>
                <a:latin typeface="Calibri"/>
              </a:rPr>
              <a:t>Mean and log-variance, one dimension; z sampled by reparameterisation</a:t>
            </a:r>
          </a:p>
        </p:txBody>
      </p:sp>
      <p:sp>
        <p:nvSpPr>
          <p:cNvPr id="18" name="Rectangle 17"/>
          <p:cNvSpPr/>
          <p:nvPr/>
        </p:nvSpPr>
        <p:spPr>
          <a:xfrm>
            <a:off x="7726679" y="1737360"/>
            <a:ext cx="210312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1828800"/>
            <a:ext cx="1828799"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Decoder</a:t>
            </a:r>
          </a:p>
        </p:txBody>
      </p:sp>
      <p:sp>
        <p:nvSpPr>
          <p:cNvPr id="20" name="TextBox 19"/>
          <p:cNvSpPr txBox="1"/>
          <p:nvPr/>
        </p:nvSpPr>
        <p:spPr>
          <a:xfrm>
            <a:off x="7863840" y="2176272"/>
            <a:ext cx="1828799"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Mirrored layers with a linear output</a:t>
            </a:r>
          </a:p>
        </p:txBody>
      </p:sp>
      <p:sp>
        <p:nvSpPr>
          <p:cNvPr id="21" name="Rectangle 20"/>
          <p:cNvSpPr/>
          <p:nvPr/>
        </p:nvSpPr>
        <p:spPr>
          <a:xfrm>
            <a:off x="10195560" y="1737360"/>
            <a:ext cx="1444752"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0" y="1828800"/>
            <a:ext cx="1170432"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Output</a:t>
            </a:r>
          </a:p>
        </p:txBody>
      </p:sp>
      <p:sp>
        <p:nvSpPr>
          <p:cNvPr id="23" name="TextBox 22"/>
          <p:cNvSpPr txBox="1"/>
          <p:nvPr/>
        </p:nvSpPr>
        <p:spPr>
          <a:xfrm>
            <a:off x="10332720" y="2176272"/>
            <a:ext cx="1170432"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Four reconstructed values</a:t>
            </a:r>
          </a:p>
        </p:txBody>
      </p:sp>
      <p:cxnSp>
        <p:nvCxnSpPr>
          <p:cNvPr id="24" name="Connector 23"/>
          <p:cNvCxnSpPr/>
          <p:nvPr/>
        </p:nvCxnSpPr>
        <p:spPr>
          <a:xfrm>
            <a:off x="2304288" y="2441448"/>
            <a:ext cx="37490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93207" y="2441448"/>
            <a:ext cx="329185"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379208" y="2441448"/>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848088" y="2441448"/>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48640" y="3383280"/>
            <a:ext cx="3557016"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38328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547872"/>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Loss</a:t>
            </a:r>
          </a:p>
        </p:txBody>
      </p:sp>
      <p:sp>
        <p:nvSpPr>
          <p:cNvPr id="31" name="TextBox 30"/>
          <p:cNvSpPr txBox="1"/>
          <p:nvPr/>
        </p:nvSpPr>
        <p:spPr>
          <a:xfrm>
            <a:off x="777240" y="3931920"/>
            <a:ext cx="3108960" cy="13716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VAE script: MSE reconstruction plus a KL term against a prior taken from the batch distribution. Latest step: an autoencoder variant that returns the latent value and adds an MSE term against the pseudo-bulk signal.</a:t>
            </a:r>
          </a:p>
        </p:txBody>
      </p:sp>
      <p:sp>
        <p:nvSpPr>
          <p:cNvPr id="32" name="Rectangle 31"/>
          <p:cNvSpPr/>
          <p:nvPr/>
        </p:nvSpPr>
        <p:spPr>
          <a:xfrm>
            <a:off x="4315968" y="3383280"/>
            <a:ext cx="3557016"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38328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44568" y="3547872"/>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Data layout</a:t>
            </a:r>
          </a:p>
        </p:txBody>
      </p:sp>
      <p:sp>
        <p:nvSpPr>
          <p:cNvPr id="35" name="TextBox 34"/>
          <p:cNvSpPr txBox="1"/>
          <p:nvPr/>
        </p:nvSpPr>
        <p:spPr>
          <a:xfrm>
            <a:off x="4544568" y="3931920"/>
            <a:ext cx="3108960" cy="13716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One batch is one gene across all 24 samples. Min-max scaling, gradient clipping and batch normalisation are switches in params.yaml, so each run can be reproduced.</a:t>
            </a:r>
          </a:p>
        </p:txBody>
      </p:sp>
      <p:sp>
        <p:nvSpPr>
          <p:cNvPr id="36" name="Rectangle 35"/>
          <p:cNvSpPr/>
          <p:nvPr/>
        </p:nvSpPr>
        <p:spPr>
          <a:xfrm>
            <a:off x="8083296" y="3383280"/>
            <a:ext cx="3557016"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3296" y="338328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11896" y="3547872"/>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Tuning</a:t>
            </a:r>
          </a:p>
        </p:txBody>
      </p:sp>
      <p:sp>
        <p:nvSpPr>
          <p:cNvPr id="39" name="TextBox 38"/>
          <p:cNvSpPr txBox="1"/>
          <p:nvPr/>
        </p:nvSpPr>
        <p:spPr>
          <a:xfrm>
            <a:off x="8311896" y="3931920"/>
            <a:ext cx="3108960" cy="13716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Optuna, 10 trials: five hidden-layer layouts, dropout 0 to 0.1, learning rate 1e-4 to 0.1, weight decay 1e-5 to 0.1, gradient-clip norm 0.1 to 5. AdamW, with Hugging Face Accelerate for device handling.</a:t>
            </a:r>
          </a:p>
        </p:txBody>
      </p:sp>
      <p:sp>
        <p:nvSpPr>
          <p:cNvPr id="40" name="Rectangle 39"/>
          <p:cNvSpPr/>
          <p:nvPr/>
        </p:nvSpPr>
        <p:spPr>
          <a:xfrm>
            <a:off x="548640" y="5440680"/>
            <a:ext cx="1109167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44068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59" y="5440680"/>
            <a:ext cx="1063447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Also tried: an encoder-only transformer. </a:t>
            </a:r>
            <a:r>
              <a:rPr sz="1300" b="0" i="0">
                <a:solidFill>
                  <a:srgbClr val="14171C"/>
                </a:solidFill>
                <a:latin typeface="Calibri"/>
              </a:rPr>
              <a:t>The VAE treats each gene separately, so it cannot use how genes interact. Self-attention lets every gene look at every other gene.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REPRODUCIBILITY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Every experiment is parameterised, versioned and tracked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24 / 34</a:t>
            </a:r>
          </a:p>
        </p:txBody>
      </p:sp>
      <p:sp>
        <p:nvSpPr>
          <p:cNvPr id="9" name="Rectangle 8"/>
          <p:cNvSpPr/>
          <p:nvPr/>
        </p:nvSpPr>
        <p:spPr>
          <a:xfrm>
            <a:off x="548640"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DVC</a:t>
            </a:r>
          </a:p>
        </p:txBody>
      </p:sp>
      <p:sp>
        <p:nvSpPr>
          <p:cNvPr id="12" name="TextBox 11"/>
          <p:cNvSpPr txBox="1"/>
          <p:nvPr/>
        </p:nvSpPr>
        <p:spPr>
          <a:xfrm>
            <a:off x="685800"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Data and models versioned: 27 GB in 125 files, with a remote store and two pipeline stages.</a:t>
            </a:r>
          </a:p>
        </p:txBody>
      </p:sp>
      <p:cxnSp>
        <p:nvCxnSpPr>
          <p:cNvPr id="13" name="Connector 12"/>
          <p:cNvCxnSpPr/>
          <p:nvPr/>
        </p:nvCxnSpPr>
        <p:spPr>
          <a:xfrm>
            <a:off x="3054096"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419856"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9856"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params.yaml</a:t>
            </a:r>
          </a:p>
        </p:txBody>
      </p:sp>
      <p:sp>
        <p:nvSpPr>
          <p:cNvPr id="17" name="TextBox 16"/>
          <p:cNvSpPr txBox="1"/>
          <p:nvPr/>
        </p:nvSpPr>
        <p:spPr>
          <a:xfrm>
            <a:off x="3557016"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Hyperparameters and switches in one file: batch layout, scaling, clipping, search ranges.</a:t>
            </a:r>
          </a:p>
        </p:txBody>
      </p:sp>
      <p:cxnSp>
        <p:nvCxnSpPr>
          <p:cNvPr id="18" name="Connector 17"/>
          <p:cNvCxnSpPr/>
          <p:nvPr/>
        </p:nvCxnSpPr>
        <p:spPr>
          <a:xfrm>
            <a:off x="5925312"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91072"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91072"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Training</a:t>
            </a:r>
          </a:p>
        </p:txBody>
      </p:sp>
      <p:sp>
        <p:nvSpPr>
          <p:cNvPr id="22" name="TextBox 21"/>
          <p:cNvSpPr txBox="1"/>
          <p:nvPr/>
        </p:nvSpPr>
        <p:spPr>
          <a:xfrm>
            <a:off x="6428232"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PyTorch 2.3 with Optuna (10 trials) and Hugging Face Accelerate; JupyterLab sessions on a Slurm cluster.</a:t>
            </a:r>
          </a:p>
        </p:txBody>
      </p:sp>
      <p:cxnSp>
        <p:nvCxnSpPr>
          <p:cNvPr id="23" name="Connector 22"/>
          <p:cNvCxnSpPr/>
          <p:nvPr/>
        </p:nvCxnSpPr>
        <p:spPr>
          <a:xfrm>
            <a:off x="8796528"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62288"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62288"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9448"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MLflow</a:t>
            </a:r>
          </a:p>
        </p:txBody>
      </p:sp>
      <p:sp>
        <p:nvSpPr>
          <p:cNvPr id="27" name="TextBox 26"/>
          <p:cNvSpPr txBox="1"/>
          <p:nvPr/>
        </p:nvSpPr>
        <p:spPr>
          <a:xfrm>
            <a:off x="9299448"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Parameters, final loss, the model and a loss figure are logged for every run.</a:t>
            </a:r>
          </a:p>
        </p:txBody>
      </p:sp>
      <p:sp>
        <p:nvSpPr>
          <p:cNvPr id="28" name="Rectangle 27"/>
          <p:cNvSpPr/>
          <p:nvPr/>
        </p:nvSpPr>
        <p:spPr>
          <a:xfrm>
            <a:off x="548640"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202</a:t>
            </a:r>
          </a:p>
        </p:txBody>
      </p:sp>
      <p:sp>
        <p:nvSpPr>
          <p:cNvPr id="31" name="TextBox 30"/>
          <p:cNvSpPr txBox="1"/>
          <p:nvPr/>
        </p:nvSpPr>
        <p:spPr>
          <a:xfrm>
            <a:off x="2286000"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tracked training runs in 9 MLflow experiments</a:t>
            </a:r>
          </a:p>
        </p:txBody>
      </p:sp>
      <p:sp>
        <p:nvSpPr>
          <p:cNvPr id="32" name="Rectangle 31"/>
          <p:cNvSpPr/>
          <p:nvPr/>
        </p:nvSpPr>
        <p:spPr>
          <a:xfrm>
            <a:off x="4315968"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90288"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27 GB</a:t>
            </a:r>
          </a:p>
        </p:txBody>
      </p:sp>
      <p:sp>
        <p:nvSpPr>
          <p:cNvPr id="35" name="TextBox 34"/>
          <p:cNvSpPr txBox="1"/>
          <p:nvPr/>
        </p:nvSpPr>
        <p:spPr>
          <a:xfrm>
            <a:off x="6053327"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data and models versioned with DVC</a:t>
            </a:r>
          </a:p>
        </p:txBody>
      </p:sp>
      <p:sp>
        <p:nvSpPr>
          <p:cNvPr id="36" name="Rectangle 35"/>
          <p:cNvSpPr/>
          <p:nvPr/>
        </p:nvSpPr>
        <p:spPr>
          <a:xfrm>
            <a:off x="8083296"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3296"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7616"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37</a:t>
            </a:r>
          </a:p>
        </p:txBody>
      </p:sp>
      <p:sp>
        <p:nvSpPr>
          <p:cNvPr id="39" name="TextBox 38"/>
          <p:cNvSpPr txBox="1"/>
          <p:nvPr/>
        </p:nvSpPr>
        <p:spPr>
          <a:xfrm>
            <a:off x="9820656"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commits in the project repository</a:t>
            </a:r>
          </a:p>
        </p:txBody>
      </p:sp>
      <p:sp>
        <p:nvSpPr>
          <p:cNvPr id="40" name="TextBox 39"/>
          <p:cNvSpPr txBox="1"/>
          <p:nvPr/>
        </p:nvSpPr>
        <p:spPr>
          <a:xfrm>
            <a:off x="548640" y="5303520"/>
            <a:ext cx="11091672" cy="54864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Also in the repository: Sphinx docs, Makefile and tox, and pinned requirements (torch 2.3.0, mlflow 2.11.2, optuna 3.6.1, dvc 3.49.0).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DEBUGGING TRAINING</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Unstable loss drove most of the iteration, and each fix targeted scale or numerical stability</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Understanding model assumptions and limitations; debugging models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25 / 34</a:t>
            </a:r>
          </a:p>
        </p:txBody>
      </p:sp>
      <p:pic>
        <p:nvPicPr>
          <p:cNvPr id="9" name="Picture 8" descr="loss_plot.png"/>
          <p:cNvPicPr>
            <a:picLocks noChangeAspect="1"/>
          </p:cNvPicPr>
          <p:nvPr/>
        </p:nvPicPr>
        <p:blipFill>
          <a:blip r:embed="rId2"/>
          <a:stretch>
            <a:fillRect/>
          </a:stretch>
        </p:blipFill>
        <p:spPr>
          <a:xfrm>
            <a:off x="548640" y="1783080"/>
            <a:ext cx="5394960" cy="2697480"/>
          </a:xfrm>
          <a:prstGeom prst="rect">
            <a:avLst/>
          </a:prstGeom>
        </p:spPr>
      </p:pic>
      <p:sp>
        <p:nvSpPr>
          <p:cNvPr id="10" name="TextBox 9"/>
          <p:cNvSpPr txBox="1"/>
          <p:nvPr/>
        </p:nvSpPr>
        <p:spPr>
          <a:xfrm>
            <a:off x="548640" y="4526280"/>
            <a:ext cx="5394960" cy="45720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Training loss of one logged run: a spike to about 3×10¹² at epoch 7, then recovery.</a:t>
            </a:r>
          </a:p>
        </p:txBody>
      </p:sp>
      <p:sp>
        <p:nvSpPr>
          <p:cNvPr id="11" name="Rectangle 10"/>
          <p:cNvSpPr/>
          <p:nvPr/>
        </p:nvSpPr>
        <p:spPr>
          <a:xfrm>
            <a:off x="548640" y="5029200"/>
            <a:ext cx="5394960" cy="8686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029200"/>
            <a:ext cx="73152" cy="8686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5029200"/>
            <a:ext cx="4983480" cy="868680"/>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In the tracked ROSMAP runs, 9 of 11 that logged a final loss ended in NaN. The latest autoencoder variant ran without NaN in a short notebook test.</a:t>
            </a:r>
          </a:p>
        </p:txBody>
      </p:sp>
      <p:sp>
        <p:nvSpPr>
          <p:cNvPr id="14" name="TextBox 13"/>
          <p:cNvSpPr txBox="1"/>
          <p:nvPr/>
        </p:nvSpPr>
        <p:spPr>
          <a:xfrm>
            <a:off x="6400800" y="1645920"/>
            <a:ext cx="521208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WAS CHANGED, IN ORDER</a:t>
            </a:r>
          </a:p>
        </p:txBody>
      </p:sp>
      <p:sp>
        <p:nvSpPr>
          <p:cNvPr id="15" name="Rectangle 14"/>
          <p:cNvSpPr/>
          <p:nvPr/>
        </p:nvSpPr>
        <p:spPr>
          <a:xfrm>
            <a:off x="6400800" y="1938528"/>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2057400"/>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Step 1</a:t>
            </a:r>
          </a:p>
        </p:txBody>
      </p:sp>
      <p:sp>
        <p:nvSpPr>
          <p:cNvPr id="17" name="TextBox 16"/>
          <p:cNvSpPr txBox="1"/>
          <p:nvPr/>
        </p:nvSpPr>
        <p:spPr>
          <a:xfrm>
            <a:off x="7772400" y="1938528"/>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Gradient-norm clipping added</a:t>
            </a:r>
          </a:p>
        </p:txBody>
      </p:sp>
      <p:sp>
        <p:nvSpPr>
          <p:cNvPr id="18" name="Rectangle 17"/>
          <p:cNvSpPr/>
          <p:nvPr/>
        </p:nvSpPr>
        <p:spPr>
          <a:xfrm>
            <a:off x="6400800" y="2615184"/>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92240" y="2734056"/>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Step 2</a:t>
            </a:r>
          </a:p>
        </p:txBody>
      </p:sp>
      <p:sp>
        <p:nvSpPr>
          <p:cNvPr id="20" name="TextBox 19"/>
          <p:cNvSpPr txBox="1"/>
          <p:nvPr/>
        </p:nvSpPr>
        <p:spPr>
          <a:xfrm>
            <a:off x="7772400" y="2615184"/>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Min-max scaling of the inputs</a:t>
            </a:r>
          </a:p>
        </p:txBody>
      </p:sp>
      <p:sp>
        <p:nvSpPr>
          <p:cNvPr id="21" name="Rectangle 20"/>
          <p:cNvSpPr/>
          <p:nvPr/>
        </p:nvSpPr>
        <p:spPr>
          <a:xfrm>
            <a:off x="6400800" y="3291840"/>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3410712"/>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Step 3</a:t>
            </a:r>
          </a:p>
        </p:txBody>
      </p:sp>
      <p:sp>
        <p:nvSpPr>
          <p:cNvPr id="23" name="TextBox 22"/>
          <p:cNvSpPr txBox="1"/>
          <p:nvPr/>
        </p:nvSpPr>
        <p:spPr>
          <a:xfrm>
            <a:off x="7772400" y="3291840"/>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Scaling by batch distribution; KL computed from the whole pseudo-bulk distribution</a:t>
            </a:r>
          </a:p>
        </p:txBody>
      </p:sp>
      <p:sp>
        <p:nvSpPr>
          <p:cNvPr id="24" name="Rectangle 23"/>
          <p:cNvSpPr/>
          <p:nvPr/>
        </p:nvSpPr>
        <p:spPr>
          <a:xfrm>
            <a:off x="6400800" y="3968496"/>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92240" y="4087368"/>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Step 4</a:t>
            </a:r>
          </a:p>
        </p:txBody>
      </p:sp>
      <p:sp>
        <p:nvSpPr>
          <p:cNvPr id="26" name="TextBox 25"/>
          <p:cNvSpPr txBox="1"/>
          <p:nvPr/>
        </p:nvSpPr>
        <p:spPr>
          <a:xfrm>
            <a:off x="7772400" y="3968496"/>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Guard for NaN loss when all inputs are zero</a:t>
            </a:r>
          </a:p>
        </p:txBody>
      </p:sp>
      <p:sp>
        <p:nvSpPr>
          <p:cNvPr id="27" name="Rectangle 26"/>
          <p:cNvSpPr/>
          <p:nvPr/>
        </p:nvSpPr>
        <p:spPr>
          <a:xfrm>
            <a:off x="6400800" y="4645152"/>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92240" y="4764024"/>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Step 5</a:t>
            </a:r>
          </a:p>
        </p:txBody>
      </p:sp>
      <p:sp>
        <p:nvSpPr>
          <p:cNvPr id="29" name="TextBox 28"/>
          <p:cNvSpPr txBox="1"/>
          <p:nvPr/>
        </p:nvSpPr>
        <p:spPr>
          <a:xfrm>
            <a:off x="7772400" y="4645152"/>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Counts converted to CPM; one batch is one gene across all samples</a:t>
            </a:r>
          </a:p>
        </p:txBody>
      </p:sp>
      <p:sp>
        <p:nvSpPr>
          <p:cNvPr id="30" name="Rectangle 29"/>
          <p:cNvSpPr/>
          <p:nvPr/>
        </p:nvSpPr>
        <p:spPr>
          <a:xfrm>
            <a:off x="6400800" y="5321808"/>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92240" y="5440680"/>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Step 6</a:t>
            </a:r>
          </a:p>
        </p:txBody>
      </p:sp>
      <p:sp>
        <p:nvSpPr>
          <p:cNvPr id="32" name="TextBox 31"/>
          <p:cNvSpPr txBox="1"/>
          <p:nvPr/>
        </p:nvSpPr>
        <p:spPr>
          <a:xfrm>
            <a:off x="7772400" y="5321808"/>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MSE objective replaces the KL term; pseudo-bulk as the known latent factor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STATUS AND NEXT STEPS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working prototype: validation against known cell proportions comes next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Critically evaluating methods and clearly stating uncertainties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26 / 34</a:t>
            </a:r>
          </a:p>
        </p:txBody>
      </p:sp>
      <p:sp>
        <p:nvSpPr>
          <p:cNvPr id="9" name="Rectangle 8"/>
          <p:cNvSpPr/>
          <p:nvPr/>
        </p:nvSpPr>
        <p:spPr>
          <a:xfrm>
            <a:off x="548640"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Working</a:t>
            </a:r>
          </a:p>
        </p:txBody>
      </p:sp>
      <p:sp>
        <p:nvSpPr>
          <p:cNvPr id="12" name="TextBox 11"/>
          <p:cNvSpPr txBox="1"/>
          <p:nvPr/>
        </p:nvSpPr>
        <p:spPr>
          <a:xfrm>
            <a:off x="777240"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Pipeline from single-cell counts to paired cell-type and pseudo-bulk tables, for pancreas and ROSMAP data.</a:t>
            </a:r>
          </a:p>
          <a:p>
            <a:pPr algn="l" marL="201168" indent="-201168">
              <a:spcAft>
                <a:spcPts val="700"/>
              </a:spcAft>
              <a:buChar char="•"/>
            </a:pPr>
            <a:r>
              <a:rPr sz="1300" b="0" i="0">
                <a:solidFill>
                  <a:srgbClr val="14171C"/>
                </a:solidFill>
                <a:latin typeface="Calibri"/>
              </a:rPr>
              <a:t>VAE and autoencoder variants train, with Optuna tuning and MLflow tracking.</a:t>
            </a:r>
          </a:p>
          <a:p>
            <a:pPr algn="l" marL="201168" indent="-201168">
              <a:spcAft>
                <a:spcPts val="700"/>
              </a:spcAft>
              <a:buChar char="•"/>
            </a:pPr>
            <a:r>
              <a:rPr sz="1300" b="0" i="0">
                <a:solidFill>
                  <a:srgbClr val="14171C"/>
                </a:solidFill>
                <a:latin typeface="Calibri"/>
              </a:rPr>
              <a:t>An autoencoder variant with a pseudo-bulk latent term ran without NaN in a short notebook test.</a:t>
            </a:r>
          </a:p>
        </p:txBody>
      </p:sp>
      <p:sp>
        <p:nvSpPr>
          <p:cNvPr id="13" name="Rectangle 12"/>
          <p:cNvSpPr/>
          <p:nvPr/>
        </p:nvSpPr>
        <p:spPr>
          <a:xfrm>
            <a:off x="4315968"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Not yet in place</a:t>
            </a:r>
          </a:p>
        </p:txBody>
      </p:sp>
      <p:sp>
        <p:nvSpPr>
          <p:cNvPr id="16" name="TextBox 15"/>
          <p:cNvSpPr txBox="1"/>
          <p:nvPr/>
        </p:nvSpPr>
        <p:spPr>
          <a:xfrm>
            <a:off x="4544568"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No accuracy check against known cell proportions: no correlation or error metric in the repository.</a:t>
            </a:r>
          </a:p>
          <a:p>
            <a:pPr algn="l" marL="201168" indent="-201168">
              <a:spcAft>
                <a:spcPts val="700"/>
              </a:spcAft>
              <a:buChar char="•"/>
            </a:pPr>
            <a:r>
              <a:rPr sz="1300" b="0" i="0">
                <a:solidFill>
                  <a:srgbClr val="14171C"/>
                </a:solidFill>
                <a:latin typeface="Calibri"/>
              </a:rPr>
              <a:t>No inference script for new bulk samples: predict_model.py is empty.</a:t>
            </a:r>
          </a:p>
          <a:p>
            <a:pPr algn="l" marL="201168" indent="-201168">
              <a:spcAft>
                <a:spcPts val="700"/>
              </a:spcAft>
              <a:buChar char="•"/>
            </a:pPr>
            <a:r>
              <a:rPr sz="1300" b="0" i="0">
                <a:solidFill>
                  <a:srgbClr val="14171C"/>
                </a:solidFill>
                <a:latin typeface="Calibri"/>
              </a:rPr>
              <a:t>9 of 11 ROSMAP runs with a logged final loss ended in NaN, and current settings are small (10 epochs, 10 trials).</a:t>
            </a:r>
          </a:p>
        </p:txBody>
      </p:sp>
      <p:sp>
        <p:nvSpPr>
          <p:cNvPr id="17" name="Rectangle 16"/>
          <p:cNvSpPr/>
          <p:nvPr/>
        </p:nvSpPr>
        <p:spPr>
          <a:xfrm>
            <a:off x="8083296"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Proposed next steps</a:t>
            </a:r>
          </a:p>
        </p:txBody>
      </p:sp>
      <p:sp>
        <p:nvSpPr>
          <p:cNvPr id="20" name="TextBox 19"/>
          <p:cNvSpPr txBox="1"/>
          <p:nvPr/>
        </p:nvSpPr>
        <p:spPr>
          <a:xfrm>
            <a:off x="8311896"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Hold out donors and score the recovered cell-type signal with correlation and RMSE.</a:t>
            </a:r>
          </a:p>
          <a:p>
            <a:pPr algn="l" marL="201168" indent="-201168">
              <a:spcAft>
                <a:spcPts val="700"/>
              </a:spcAft>
              <a:buChar char="•"/>
            </a:pPr>
            <a:r>
              <a:rPr sz="1300" b="0" i="0">
                <a:solidFill>
                  <a:srgbClr val="14171C"/>
                </a:solidFill>
                <a:latin typeface="Calibri"/>
              </a:rPr>
              <a:t>Compare with the MuSiC-style baseline used to build the simulation.</a:t>
            </a:r>
          </a:p>
          <a:p>
            <a:pPr algn="l" marL="201168" indent="-201168">
              <a:spcAft>
                <a:spcPts val="700"/>
              </a:spcAft>
              <a:buChar char="•"/>
            </a:pPr>
            <a:r>
              <a:rPr sz="1300" b="0" i="0">
                <a:solidFill>
                  <a:srgbClr val="14171C"/>
                </a:solidFill>
                <a:latin typeface="Calibri"/>
              </a:rPr>
              <a:t>Apply to real bulk cohorts, such as GSE50244 (89 pancreas samples) from the project references.</a:t>
            </a:r>
          </a:p>
          <a:p>
            <a:pPr algn="l" marL="201168" indent="-201168">
              <a:spcAft>
                <a:spcPts val="700"/>
              </a:spcAft>
              <a:buChar char="•"/>
            </a:pPr>
            <a:r>
              <a:rPr sz="1300" b="0" i="0">
                <a:solidFill>
                  <a:srgbClr val="14171C"/>
                </a:solidFill>
                <a:latin typeface="Calibri"/>
              </a:rPr>
              <a:t>Develop the transformer-encoder attempt further, so that attention lets genes inform each other.</a:t>
            </a:r>
          </a:p>
          <a:p>
            <a:pPr algn="l" marL="201168" indent="-201168">
              <a:spcAft>
                <a:spcPts val="700"/>
              </a:spcAft>
              <a:buChar char="•"/>
            </a:pPr>
            <a:r>
              <a:rPr sz="1300" b="0" i="0">
                <a:solidFill>
                  <a:srgbClr val="14171C"/>
                </a:solidFill>
                <a:latin typeface="Calibri"/>
              </a:rPr>
              <a:t>Add an inference script, then longer training with wider tuning.</a:t>
            </a:r>
          </a:p>
        </p:txBody>
      </p:sp>
      <p:sp>
        <p:nvSpPr>
          <p:cNvPr id="21" name="Rectangle 20"/>
          <p:cNvSpPr/>
          <p:nvPr/>
        </p:nvSpPr>
        <p:spPr>
          <a:xfrm>
            <a:off x="548640" y="5440680"/>
            <a:ext cx="11091672" cy="548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440680"/>
            <a:ext cx="73152" cy="5486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440680"/>
            <a:ext cx="10634472" cy="548640"/>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The pipeline and tracking are in place; the scientific claim, accurate cell-type recovery from bulk, still has to be demonstrated.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4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Generative AI and a multi-agent compliance system</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Designed and developed: LLM reasoning combined with retrieval, enterprise data and specialised tools for knowledge-intensive compliance workflows.</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3</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specialist assessment agents: risk, ECCN, test strategy</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utility agents for documents, URLs, templates and completeness</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MLflow signals: experiments, prompts, API calls, errors</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27 /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SCOPE AND APPROACH</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Knowledge-intensive compliance reviews need retrieval, reasoning and tools working together</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Generative AI and agentic systems for scientific, analytical or decision-support use cases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28 / 34</a:t>
            </a:r>
          </a:p>
        </p:txBody>
      </p:sp>
      <p:sp>
        <p:nvSpPr>
          <p:cNvPr id="9" name="Rectangle 8"/>
          <p:cNvSpPr/>
          <p:nvPr/>
        </p:nvSpPr>
        <p:spPr>
          <a:xfrm>
            <a:off x="548640" y="1691640"/>
            <a:ext cx="5852160" cy="1325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10512"/>
            <a:ext cx="5394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workflow</a:t>
            </a:r>
          </a:p>
        </p:txBody>
      </p:sp>
      <p:sp>
        <p:nvSpPr>
          <p:cNvPr id="12" name="TextBox 11"/>
          <p:cNvSpPr txBox="1"/>
          <p:nvPr/>
        </p:nvSpPr>
        <p:spPr>
          <a:xfrm>
            <a:off x="822959" y="2167128"/>
            <a:ext cx="5394960"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Compliance assessments draw on evidence spread across documents and enterprise sources such as SharePoint and GitHub. The solution gathers that evidence and reasons over it.</a:t>
            </a:r>
          </a:p>
        </p:txBody>
      </p:sp>
      <p:sp>
        <p:nvSpPr>
          <p:cNvPr id="13" name="Rectangle 12"/>
          <p:cNvSpPr/>
          <p:nvPr/>
        </p:nvSpPr>
        <p:spPr>
          <a:xfrm>
            <a:off x="548640" y="3108960"/>
            <a:ext cx="5852160" cy="1325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08960"/>
            <a:ext cx="73152"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27832"/>
            <a:ext cx="5394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approach</a:t>
            </a:r>
          </a:p>
        </p:txBody>
      </p:sp>
      <p:sp>
        <p:nvSpPr>
          <p:cNvPr id="16" name="TextBox 15"/>
          <p:cNvSpPr txBox="1"/>
          <p:nvPr/>
        </p:nvSpPr>
        <p:spPr>
          <a:xfrm>
            <a:off x="822959" y="3584448"/>
            <a:ext cx="5394960"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LLM reasoning combined with retrieval, enterprise data and specialised tools, organised as cooperating agents.</a:t>
            </a:r>
          </a:p>
        </p:txBody>
      </p:sp>
      <p:sp>
        <p:nvSpPr>
          <p:cNvPr id="17" name="Rectangle 16"/>
          <p:cNvSpPr/>
          <p:nvPr/>
        </p:nvSpPr>
        <p:spPr>
          <a:xfrm>
            <a:off x="548640" y="4526280"/>
            <a:ext cx="5852160" cy="1325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26280"/>
            <a:ext cx="73152"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645152"/>
            <a:ext cx="5394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output</a:t>
            </a:r>
          </a:p>
        </p:txBody>
      </p:sp>
      <p:sp>
        <p:nvSpPr>
          <p:cNvPr id="20" name="TextBox 19"/>
          <p:cNvSpPr txBox="1"/>
          <p:nvPr/>
        </p:nvSpPr>
        <p:spPr>
          <a:xfrm>
            <a:off x="822959" y="5001768"/>
            <a:ext cx="5394960"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Specialised agents handle document retrieval, ECCN (export-control) and cryptography checks, risk assessment and final compliance evaluation, returning validated structured output.</a:t>
            </a:r>
          </a:p>
        </p:txBody>
      </p:sp>
      <p:sp>
        <p:nvSpPr>
          <p:cNvPr id="21" name="TextBox 20"/>
          <p:cNvSpPr txBox="1"/>
          <p:nvPr/>
        </p:nvSpPr>
        <p:spPr>
          <a:xfrm>
            <a:off x="6675120" y="1645920"/>
            <a:ext cx="493776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WAS BUILT</a:t>
            </a:r>
          </a:p>
        </p:txBody>
      </p:sp>
      <p:sp>
        <p:nvSpPr>
          <p:cNvPr id="22" name="Rectangle 21"/>
          <p:cNvSpPr/>
          <p:nvPr/>
        </p:nvSpPr>
        <p:spPr>
          <a:xfrm>
            <a:off x="6675120" y="1920240"/>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675120" y="1920240"/>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2029968"/>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RAG pipelines</a:t>
            </a:r>
          </a:p>
        </p:txBody>
      </p:sp>
      <p:sp>
        <p:nvSpPr>
          <p:cNvPr id="25" name="TextBox 24"/>
          <p:cNvSpPr txBox="1"/>
          <p:nvPr/>
        </p:nvSpPr>
        <p:spPr>
          <a:xfrm>
            <a:off x="6949440" y="2377440"/>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From ingestion to validated structured output</a:t>
            </a:r>
          </a:p>
        </p:txBody>
      </p:sp>
      <p:sp>
        <p:nvSpPr>
          <p:cNvPr id="26" name="TextBox 25"/>
          <p:cNvSpPr txBox="1"/>
          <p:nvPr/>
        </p:nvSpPr>
        <p:spPr>
          <a:xfrm>
            <a:off x="10515600" y="1920240"/>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30</a:t>
            </a:r>
          </a:p>
        </p:txBody>
      </p:sp>
      <p:sp>
        <p:nvSpPr>
          <p:cNvPr id="27" name="Rectangle 26"/>
          <p:cNvSpPr/>
          <p:nvPr/>
        </p:nvSpPr>
        <p:spPr>
          <a:xfrm>
            <a:off x="6675120" y="2907792"/>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2907792"/>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3017520"/>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LangGraph multi-agent system</a:t>
            </a:r>
          </a:p>
        </p:txBody>
      </p:sp>
      <p:sp>
        <p:nvSpPr>
          <p:cNvPr id="30" name="TextBox 29"/>
          <p:cNvSpPr txBox="1"/>
          <p:nvPr/>
        </p:nvSpPr>
        <p:spPr>
          <a:xfrm>
            <a:off x="6949440" y="3364992"/>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Router, orchestrator and specialist agents</a:t>
            </a:r>
          </a:p>
        </p:txBody>
      </p:sp>
      <p:sp>
        <p:nvSpPr>
          <p:cNvPr id="31" name="TextBox 30"/>
          <p:cNvSpPr txBox="1"/>
          <p:nvPr/>
        </p:nvSpPr>
        <p:spPr>
          <a:xfrm>
            <a:off x="10515600" y="2907792"/>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31</a:t>
            </a:r>
          </a:p>
        </p:txBody>
      </p:sp>
      <p:sp>
        <p:nvSpPr>
          <p:cNvPr id="32" name="Rectangle 31"/>
          <p:cNvSpPr/>
          <p:nvPr/>
        </p:nvSpPr>
        <p:spPr>
          <a:xfrm>
            <a:off x="6675120" y="3895344"/>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675120" y="3895344"/>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4005072"/>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MCP tools</a:t>
            </a:r>
          </a:p>
        </p:txBody>
      </p:sp>
      <p:sp>
        <p:nvSpPr>
          <p:cNvPr id="35" name="TextBox 34"/>
          <p:cNvSpPr txBox="1"/>
          <p:nvPr/>
        </p:nvSpPr>
        <p:spPr>
          <a:xfrm>
            <a:off x="6949440" y="4352544"/>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Agent access to SharePoint and GitHub</a:t>
            </a:r>
          </a:p>
        </p:txBody>
      </p:sp>
      <p:sp>
        <p:nvSpPr>
          <p:cNvPr id="36" name="TextBox 35"/>
          <p:cNvSpPr txBox="1"/>
          <p:nvPr/>
        </p:nvSpPr>
        <p:spPr>
          <a:xfrm>
            <a:off x="10515600" y="3895344"/>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32</a:t>
            </a:r>
          </a:p>
        </p:txBody>
      </p:sp>
      <p:sp>
        <p:nvSpPr>
          <p:cNvPr id="37" name="Rectangle 36"/>
          <p:cNvSpPr/>
          <p:nvPr/>
        </p:nvSpPr>
        <p:spPr>
          <a:xfrm>
            <a:off x="6675120" y="4882896"/>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675120" y="4882896"/>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0" y="4992624"/>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MLflow tracing and CI/CD</a:t>
            </a:r>
          </a:p>
        </p:txBody>
      </p:sp>
      <p:sp>
        <p:nvSpPr>
          <p:cNvPr id="40" name="TextBox 39"/>
          <p:cNvSpPr txBox="1"/>
          <p:nvPr/>
        </p:nvSpPr>
        <p:spPr>
          <a:xfrm>
            <a:off x="6949440" y="5340096"/>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Observability, security scanning, code quality</a:t>
            </a:r>
          </a:p>
        </p:txBody>
      </p:sp>
      <p:sp>
        <p:nvSpPr>
          <p:cNvPr id="41" name="TextBox 40"/>
          <p:cNvSpPr txBox="1"/>
          <p:nvPr/>
        </p:nvSpPr>
        <p:spPr>
          <a:xfrm>
            <a:off x="10515600" y="4882896"/>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ARCHITECTURE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streaming API in front of a LangGraph multi-agent system on AWS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Partnering with platform and engineering teams on scalable, production-ready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29 / 34</a:t>
            </a:r>
          </a:p>
        </p:txBody>
      </p:sp>
      <p:sp>
        <p:nvSpPr>
          <p:cNvPr id="9" name="Rectangle 8"/>
          <p:cNvSpPr/>
          <p:nvPr/>
        </p:nvSpPr>
        <p:spPr>
          <a:xfrm>
            <a:off x="548640" y="1691640"/>
            <a:ext cx="265176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64008"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91640"/>
            <a:ext cx="2377439" cy="566928"/>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React web app</a:t>
            </a:r>
          </a:p>
          <a:p>
            <a:pPr algn="l">
              <a:spcAft>
                <a:spcPts val="100"/>
              </a:spcAft>
            </a:pPr>
            <a:r>
              <a:rPr sz="1150" b="0" i="0">
                <a:solidFill>
                  <a:srgbClr val="52514E"/>
                </a:solidFill>
                <a:latin typeface="Calibri"/>
              </a:rPr>
              <a:t>AWS Amplify, S3, CloudFront</a:t>
            </a:r>
          </a:p>
        </p:txBody>
      </p:sp>
      <p:cxnSp>
        <p:nvCxnSpPr>
          <p:cNvPr id="12" name="Connector 11"/>
          <p:cNvCxnSpPr/>
          <p:nvPr/>
        </p:nvCxnSpPr>
        <p:spPr>
          <a:xfrm>
            <a:off x="3218688" y="1975104"/>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66160" y="1691640"/>
            <a:ext cx="265176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1691640"/>
            <a:ext cx="64008"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39" y="1691640"/>
            <a:ext cx="2377439" cy="566928"/>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API Gateway</a:t>
            </a:r>
          </a:p>
          <a:p>
            <a:pPr algn="l">
              <a:spcAft>
                <a:spcPts val="100"/>
              </a:spcAft>
            </a:pPr>
            <a:r>
              <a:rPr sz="1150" b="0" i="0">
                <a:solidFill>
                  <a:srgbClr val="52514E"/>
                </a:solidFill>
                <a:latin typeface="Calibri"/>
              </a:rPr>
              <a:t>Cognito authentication</a:t>
            </a:r>
          </a:p>
        </p:txBody>
      </p:sp>
      <p:cxnSp>
        <p:nvCxnSpPr>
          <p:cNvPr id="16" name="Connector 15"/>
          <p:cNvCxnSpPr/>
          <p:nvPr/>
        </p:nvCxnSpPr>
        <p:spPr>
          <a:xfrm>
            <a:off x="6236208" y="1975104"/>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583679" y="1691640"/>
            <a:ext cx="265176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79" y="1691640"/>
            <a:ext cx="64008"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59" y="1691640"/>
            <a:ext cx="2377439" cy="566928"/>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FastAPI backend</a:t>
            </a:r>
          </a:p>
          <a:p>
            <a:pPr algn="l">
              <a:spcAft>
                <a:spcPts val="100"/>
              </a:spcAft>
            </a:pPr>
            <a:r>
              <a:rPr sz="1150" b="0" i="0">
                <a:solidFill>
                  <a:srgbClr val="52514E"/>
                </a:solidFill>
                <a:latin typeface="Calibri"/>
              </a:rPr>
              <a:t>Streaming chat endpoint</a:t>
            </a:r>
          </a:p>
        </p:txBody>
      </p:sp>
      <p:cxnSp>
        <p:nvCxnSpPr>
          <p:cNvPr id="20" name="Connector 19"/>
          <p:cNvCxnSpPr/>
          <p:nvPr/>
        </p:nvCxnSpPr>
        <p:spPr>
          <a:xfrm>
            <a:off x="7909560" y="2276856"/>
            <a:ext cx="0" cy="2286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48640" y="2514600"/>
            <a:ext cx="8686800" cy="11887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60320"/>
            <a:ext cx="4572000" cy="228600"/>
          </a:xfrm>
          <a:prstGeom prst="rect">
            <a:avLst/>
          </a:prstGeom>
          <a:noFill/>
        </p:spPr>
        <p:txBody>
          <a:bodyPr wrap="square" lIns="0" rIns="0" tIns="0" bIns="0" anchor="t">
            <a:spAutoFit/>
          </a:bodyPr>
          <a:lstStyle/>
          <a:p>
            <a:pPr algn="l">
              <a:spcAft>
                <a:spcPts val="0"/>
              </a:spcAft>
            </a:pPr>
            <a:r>
              <a:rPr sz="1150" b="1" i="0">
                <a:solidFill>
                  <a:srgbClr val="1F5FAE"/>
                </a:solidFill>
                <a:latin typeface="Calibri"/>
              </a:rPr>
              <a:t>LangGraph orchestration</a:t>
            </a:r>
          </a:p>
        </p:txBody>
      </p:sp>
      <p:sp>
        <p:nvSpPr>
          <p:cNvPr id="23" name="Rectangle 22"/>
          <p:cNvSpPr/>
          <p:nvPr/>
        </p:nvSpPr>
        <p:spPr>
          <a:xfrm>
            <a:off x="731520" y="2926080"/>
            <a:ext cx="128016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2926080"/>
            <a:ext cx="1078991"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Router</a:t>
            </a:r>
          </a:p>
          <a:p>
            <a:pPr algn="l">
              <a:spcAft>
                <a:spcPts val="100"/>
              </a:spcAft>
            </a:pPr>
            <a:r>
              <a:rPr sz="1150" b="0" i="0">
                <a:solidFill>
                  <a:srgbClr val="52514E"/>
                </a:solidFill>
                <a:latin typeface="Calibri"/>
              </a:rPr>
              <a:t>entry point</a:t>
            </a:r>
          </a:p>
        </p:txBody>
      </p:sp>
      <p:sp>
        <p:nvSpPr>
          <p:cNvPr id="25" name="Rectangle 24"/>
          <p:cNvSpPr/>
          <p:nvPr/>
        </p:nvSpPr>
        <p:spPr>
          <a:xfrm>
            <a:off x="2286000" y="2926080"/>
            <a:ext cx="192024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2926080"/>
            <a:ext cx="1719072"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Orchestrator</a:t>
            </a:r>
          </a:p>
          <a:p>
            <a:pPr algn="l">
              <a:spcAft>
                <a:spcPts val="100"/>
              </a:spcAft>
            </a:pPr>
            <a:r>
              <a:rPr sz="1150" b="0" i="0">
                <a:solidFill>
                  <a:srgbClr val="52514E"/>
                </a:solidFill>
                <a:latin typeface="Calibri"/>
              </a:rPr>
              <a:t>LLM routing</a:t>
            </a:r>
          </a:p>
        </p:txBody>
      </p:sp>
      <p:sp>
        <p:nvSpPr>
          <p:cNvPr id="27" name="Rectangle 26"/>
          <p:cNvSpPr/>
          <p:nvPr/>
        </p:nvSpPr>
        <p:spPr>
          <a:xfrm>
            <a:off x="4480560" y="2926080"/>
            <a:ext cx="274320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0288" y="2926080"/>
            <a:ext cx="2542032"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Risk · ECCN · Test strategy</a:t>
            </a:r>
          </a:p>
          <a:p>
            <a:pPr algn="l">
              <a:spcAft>
                <a:spcPts val="100"/>
              </a:spcAft>
            </a:pPr>
            <a:r>
              <a:rPr sz="1150" b="0" i="0">
                <a:solidFill>
                  <a:srgbClr val="52514E"/>
                </a:solidFill>
                <a:latin typeface="Calibri"/>
              </a:rPr>
              <a:t>parallel nodes via Send()</a:t>
            </a:r>
          </a:p>
        </p:txBody>
      </p:sp>
      <p:sp>
        <p:nvSpPr>
          <p:cNvPr id="29" name="Rectangle 28"/>
          <p:cNvSpPr/>
          <p:nvPr/>
        </p:nvSpPr>
        <p:spPr>
          <a:xfrm>
            <a:off x="7589520" y="2926080"/>
            <a:ext cx="146304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9248" y="2926080"/>
            <a:ext cx="1261872"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Sentinel</a:t>
            </a:r>
          </a:p>
          <a:p>
            <a:pPr algn="l">
              <a:spcAft>
                <a:spcPts val="100"/>
              </a:spcAft>
            </a:pPr>
            <a:r>
              <a:rPr sz="1150" b="0" i="0">
                <a:solidFill>
                  <a:srgbClr val="52514E"/>
                </a:solidFill>
                <a:latin typeface="Calibri"/>
              </a:rPr>
              <a:t>scheduled run</a:t>
            </a:r>
          </a:p>
        </p:txBody>
      </p:sp>
      <p:cxnSp>
        <p:nvCxnSpPr>
          <p:cNvPr id="31" name="Connector 30"/>
          <p:cNvCxnSpPr/>
          <p:nvPr/>
        </p:nvCxnSpPr>
        <p:spPr>
          <a:xfrm>
            <a:off x="2029968" y="3246120"/>
            <a:ext cx="23774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224528" y="3246120"/>
            <a:ext cx="23774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468880" y="372160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58000" y="372160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48640" y="3886200"/>
            <a:ext cx="3840480"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3922776"/>
            <a:ext cx="365760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Specialist agents</a:t>
            </a:r>
          </a:p>
        </p:txBody>
      </p:sp>
      <p:sp>
        <p:nvSpPr>
          <p:cNvPr id="37" name="Rectangle 36"/>
          <p:cNvSpPr/>
          <p:nvPr/>
        </p:nvSpPr>
        <p:spPr>
          <a:xfrm>
            <a:off x="64008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206240"/>
            <a:ext cx="896112" cy="502920"/>
          </a:xfrm>
          <a:prstGeom prst="rect">
            <a:avLst/>
          </a:prstGeom>
          <a:noFill/>
        </p:spPr>
        <p:txBody>
          <a:bodyPr wrap="square" lIns="0" rIns="0" tIns="0" bIns="0" anchor="ctr">
            <a:spAutoFit/>
          </a:bodyPr>
          <a:lstStyle/>
          <a:p>
            <a:pPr algn="l">
              <a:spcAft>
                <a:spcPts val="100"/>
              </a:spcAft>
            </a:pPr>
            <a:r>
              <a:rPr sz="1100" b="1" i="0">
                <a:solidFill>
                  <a:srgbClr val="0E2A47"/>
                </a:solidFill>
                <a:latin typeface="Calibri"/>
              </a:rPr>
              <a:t>Risk assessment</a:t>
            </a:r>
          </a:p>
        </p:txBody>
      </p:sp>
      <p:sp>
        <p:nvSpPr>
          <p:cNvPr id="39" name="Rectangle 38"/>
          <p:cNvSpPr/>
          <p:nvPr/>
        </p:nvSpPr>
        <p:spPr>
          <a:xfrm>
            <a:off x="182880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38528" y="4206240"/>
            <a:ext cx="896112" cy="502920"/>
          </a:xfrm>
          <a:prstGeom prst="rect">
            <a:avLst/>
          </a:prstGeom>
          <a:noFill/>
        </p:spPr>
        <p:txBody>
          <a:bodyPr wrap="square" lIns="0" rIns="0" tIns="0" bIns="0" anchor="ctr">
            <a:spAutoFit/>
          </a:bodyPr>
          <a:lstStyle/>
          <a:p>
            <a:pPr algn="l">
              <a:spcAft>
                <a:spcPts val="100"/>
              </a:spcAft>
            </a:pPr>
            <a:r>
              <a:rPr sz="1100" b="1" i="0">
                <a:solidFill>
                  <a:srgbClr val="0E2A47"/>
                </a:solidFill>
                <a:latin typeface="Calibri"/>
              </a:rPr>
              <a:t>ECCN and cryptography</a:t>
            </a:r>
          </a:p>
        </p:txBody>
      </p:sp>
      <p:sp>
        <p:nvSpPr>
          <p:cNvPr id="41" name="Rectangle 40"/>
          <p:cNvSpPr/>
          <p:nvPr/>
        </p:nvSpPr>
        <p:spPr>
          <a:xfrm>
            <a:off x="30175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27248" y="4206240"/>
            <a:ext cx="896112" cy="502920"/>
          </a:xfrm>
          <a:prstGeom prst="rect">
            <a:avLst/>
          </a:prstGeom>
          <a:noFill/>
        </p:spPr>
        <p:txBody>
          <a:bodyPr wrap="square" lIns="0" rIns="0" tIns="0" bIns="0" anchor="ctr">
            <a:spAutoFit/>
          </a:bodyPr>
          <a:lstStyle/>
          <a:p>
            <a:pPr algn="l">
              <a:spcAft>
                <a:spcPts val="100"/>
              </a:spcAft>
            </a:pPr>
            <a:r>
              <a:rPr sz="1100" b="1" i="0">
                <a:solidFill>
                  <a:srgbClr val="0E2A47"/>
                </a:solidFill>
                <a:latin typeface="Calibri"/>
              </a:rPr>
              <a:t>Test strategy</a:t>
            </a:r>
          </a:p>
        </p:txBody>
      </p:sp>
      <p:sp>
        <p:nvSpPr>
          <p:cNvPr id="43" name="Rectangle 42"/>
          <p:cNvSpPr/>
          <p:nvPr/>
        </p:nvSpPr>
        <p:spPr>
          <a:xfrm>
            <a:off x="4526280" y="3886200"/>
            <a:ext cx="4709160"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36008" y="3922776"/>
            <a:ext cx="365760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Utility agents</a:t>
            </a:r>
          </a:p>
        </p:txBody>
      </p:sp>
      <p:sp>
        <p:nvSpPr>
          <p:cNvPr id="45" name="Rectangle 44"/>
          <p:cNvSpPr/>
          <p:nvPr/>
        </p:nvSpPr>
        <p:spPr>
          <a:xfrm>
            <a:off x="4617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27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Document loader</a:t>
            </a:r>
          </a:p>
        </p:txBody>
      </p:sp>
      <p:sp>
        <p:nvSpPr>
          <p:cNvPr id="47" name="Rectangle 46"/>
          <p:cNvSpPr/>
          <p:nvPr/>
        </p:nvSpPr>
        <p:spPr>
          <a:xfrm>
            <a:off x="5760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70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URL loader</a:t>
            </a:r>
          </a:p>
        </p:txBody>
      </p:sp>
      <p:sp>
        <p:nvSpPr>
          <p:cNvPr id="49" name="Rectangle 48"/>
          <p:cNvSpPr/>
          <p:nvPr/>
        </p:nvSpPr>
        <p:spPr>
          <a:xfrm>
            <a:off x="6903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13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Template verification</a:t>
            </a:r>
          </a:p>
        </p:txBody>
      </p:sp>
      <p:sp>
        <p:nvSpPr>
          <p:cNvPr id="51" name="Rectangle 50"/>
          <p:cNvSpPr/>
          <p:nvPr/>
        </p:nvSpPr>
        <p:spPr>
          <a:xfrm>
            <a:off x="8046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56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Completeness check</a:t>
            </a:r>
          </a:p>
        </p:txBody>
      </p:sp>
      <p:cxnSp>
        <p:nvCxnSpPr>
          <p:cNvPr id="53" name="Connector 52"/>
          <p:cNvCxnSpPr/>
          <p:nvPr/>
        </p:nvCxnSpPr>
        <p:spPr>
          <a:xfrm>
            <a:off x="2468880" y="481888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858000" y="481888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48640" y="4983480"/>
            <a:ext cx="3840480" cy="777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4983480"/>
            <a:ext cx="64008" cy="777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4983480"/>
            <a:ext cx="3566160" cy="7772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A2A bridge and servers</a:t>
            </a:r>
          </a:p>
          <a:p>
            <a:pPr algn="l">
              <a:spcAft>
                <a:spcPts val="100"/>
              </a:spcAft>
            </a:pPr>
            <a:r>
              <a:rPr sz="1150" b="0" i="0">
                <a:solidFill>
                  <a:srgbClr val="52514E"/>
                </a:solidFill>
                <a:latin typeface="Calibri"/>
              </a:rPr>
              <a:t>Specialist agents also served over HTTP</a:t>
            </a:r>
          </a:p>
        </p:txBody>
      </p:sp>
      <p:sp>
        <p:nvSpPr>
          <p:cNvPr id="58" name="Rectangle 57"/>
          <p:cNvSpPr/>
          <p:nvPr/>
        </p:nvSpPr>
        <p:spPr>
          <a:xfrm>
            <a:off x="4526280" y="4983480"/>
            <a:ext cx="4709160" cy="777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26280" y="4983480"/>
            <a:ext cx="64008" cy="777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09160" y="4983480"/>
            <a:ext cx="4434840" cy="7772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MCP server</a:t>
            </a:r>
          </a:p>
          <a:p>
            <a:pPr algn="l">
              <a:spcAft>
                <a:spcPts val="100"/>
              </a:spcAft>
            </a:pPr>
            <a:r>
              <a:rPr sz="1150" b="0" i="0">
                <a:solidFill>
                  <a:srgbClr val="52514E"/>
                </a:solidFill>
                <a:latin typeface="Calibri"/>
              </a:rPr>
              <a:t>stdio or HTTP transport; SharePoint and GitHub tools</a:t>
            </a:r>
          </a:p>
        </p:txBody>
      </p:sp>
      <p:sp>
        <p:nvSpPr>
          <p:cNvPr id="61" name="Rectangle 60"/>
          <p:cNvSpPr/>
          <p:nvPr/>
        </p:nvSpPr>
        <p:spPr>
          <a:xfrm>
            <a:off x="9509760" y="1691640"/>
            <a:ext cx="2130552" cy="11430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19488" y="1691640"/>
            <a:ext cx="1929384" cy="11430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Amazon Bedrock</a:t>
            </a:r>
          </a:p>
          <a:p>
            <a:pPr algn="l">
              <a:spcAft>
                <a:spcPts val="100"/>
              </a:spcAft>
            </a:pPr>
            <a:r>
              <a:rPr sz="1100" b="0" i="0">
                <a:solidFill>
                  <a:srgbClr val="52514E"/>
                </a:solidFill>
                <a:latin typeface="Calibri"/>
              </a:rPr>
              <a:t>LLM inference; every agent gets its model from one get_llm() factory</a:t>
            </a:r>
          </a:p>
        </p:txBody>
      </p:sp>
      <p:sp>
        <p:nvSpPr>
          <p:cNvPr id="63" name="Rectangle 62"/>
          <p:cNvSpPr/>
          <p:nvPr/>
        </p:nvSpPr>
        <p:spPr>
          <a:xfrm>
            <a:off x="9509760" y="2971800"/>
            <a:ext cx="2130552"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19488" y="3026664"/>
            <a:ext cx="1920240" cy="274320"/>
          </a:xfrm>
          <a:prstGeom prst="rect">
            <a:avLst/>
          </a:prstGeom>
          <a:noFill/>
        </p:spPr>
        <p:txBody>
          <a:bodyPr wrap="square" lIns="0" rIns="0" tIns="0" bIns="0" anchor="t">
            <a:spAutoFit/>
          </a:bodyPr>
          <a:lstStyle/>
          <a:p>
            <a:pPr algn="l">
              <a:spcAft>
                <a:spcPts val="0"/>
              </a:spcAft>
            </a:pPr>
            <a:r>
              <a:rPr sz="1250" b="1" i="0">
                <a:solidFill>
                  <a:srgbClr val="0E2A47"/>
                </a:solidFill>
                <a:latin typeface="Calibri"/>
              </a:rPr>
              <a:t>AWS platform</a:t>
            </a:r>
          </a:p>
        </p:txBody>
      </p:sp>
      <p:sp>
        <p:nvSpPr>
          <p:cNvPr id="65" name="TextBox 64"/>
          <p:cNvSpPr txBox="1"/>
          <p:nvPr/>
        </p:nvSpPr>
        <p:spPr>
          <a:xfrm>
            <a:off x="9619488" y="3337560"/>
            <a:ext cx="1920240" cy="1417320"/>
          </a:xfrm>
          <a:prstGeom prst="rect">
            <a:avLst/>
          </a:prstGeom>
          <a:noFill/>
        </p:spPr>
        <p:txBody>
          <a:bodyPr wrap="square" lIns="0" rIns="0" tIns="0" bIns="0" anchor="t">
            <a:spAutoFit/>
          </a:bodyPr>
          <a:lstStyle/>
          <a:p>
            <a:pPr algn="l" marL="201168" indent="-201168">
              <a:spcAft>
                <a:spcPts val="200"/>
              </a:spcAft>
              <a:buChar char="•"/>
            </a:pPr>
            <a:r>
              <a:rPr sz="1050" b="0" i="0">
                <a:solidFill>
                  <a:srgbClr val="14171C"/>
                </a:solidFill>
                <a:latin typeface="Calibri"/>
              </a:rPr>
              <a:t>EKS hosts the API and MCP pods</a:t>
            </a:r>
          </a:p>
          <a:p>
            <a:pPr algn="l" marL="201168" indent="-201168">
              <a:spcAft>
                <a:spcPts val="200"/>
              </a:spcAft>
              <a:buChar char="•"/>
            </a:pPr>
            <a:r>
              <a:rPr sz="1050" b="0" i="0">
                <a:solidFill>
                  <a:srgbClr val="14171C"/>
                </a:solidFill>
                <a:latin typeface="Calibri"/>
              </a:rPr>
              <a:t>Cognito issues OAuth2 / JWT tokens</a:t>
            </a:r>
          </a:p>
          <a:p>
            <a:pPr algn="l" marL="201168" indent="-201168">
              <a:spcAft>
                <a:spcPts val="200"/>
              </a:spcAft>
              <a:buChar char="•"/>
            </a:pPr>
            <a:r>
              <a:rPr sz="1050" b="0" i="0">
                <a:solidFill>
                  <a:srgbClr val="14171C"/>
                </a:solidFill>
                <a:latin typeface="Calibri"/>
              </a:rPr>
              <a:t>Secrets Manager holds API keys</a:t>
            </a:r>
          </a:p>
          <a:p>
            <a:pPr algn="l" marL="201168" indent="-201168">
              <a:spcAft>
                <a:spcPts val="200"/>
              </a:spcAft>
              <a:buChar char="•"/>
            </a:pPr>
            <a:r>
              <a:rPr sz="1050" b="0" i="0">
                <a:solidFill>
                  <a:srgbClr val="14171C"/>
                </a:solidFill>
                <a:latin typeface="Calibri"/>
              </a:rPr>
              <a:t>CloudWatch centralises logs</a:t>
            </a:r>
          </a:p>
          <a:p>
            <a:pPr algn="l" marL="201168" indent="-201168">
              <a:spcAft>
                <a:spcPts val="200"/>
              </a:spcAft>
              <a:buChar char="•"/>
            </a:pPr>
            <a:r>
              <a:rPr sz="1050" b="0" i="0">
                <a:solidFill>
                  <a:srgbClr val="14171C"/>
                </a:solidFill>
                <a:latin typeface="Calibri"/>
              </a:rPr>
              <a:t>EventBridge triggers Sentinel</a:t>
            </a:r>
          </a:p>
        </p:txBody>
      </p:sp>
      <p:sp>
        <p:nvSpPr>
          <p:cNvPr id="66" name="Rectangle 65"/>
          <p:cNvSpPr/>
          <p:nvPr/>
        </p:nvSpPr>
        <p:spPr>
          <a:xfrm>
            <a:off x="9509760" y="4983480"/>
            <a:ext cx="2130552" cy="7772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19488" y="4983480"/>
            <a:ext cx="1929384" cy="7772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MLflow</a:t>
            </a:r>
          </a:p>
          <a:p>
            <a:pPr algn="l">
              <a:spcAft>
                <a:spcPts val="100"/>
              </a:spcAft>
            </a:pPr>
            <a:r>
              <a:rPr sz="1100" b="0" i="0">
                <a:solidFill>
                  <a:srgbClr val="52514E"/>
                </a:solidFill>
                <a:latin typeface="Calibri"/>
              </a:rPr>
              <a:t>Experiments, prompts, API calls, errors</a:t>
            </a:r>
          </a:p>
        </p:txBody>
      </p:sp>
      <p:sp>
        <p:nvSpPr>
          <p:cNvPr id="68" name="TextBox 67"/>
          <p:cNvSpPr txBox="1"/>
          <p:nvPr/>
        </p:nvSpPr>
        <p:spPr>
          <a:xfrm>
            <a:off x="548640" y="5833872"/>
            <a:ext cx="8686800" cy="228600"/>
          </a:xfrm>
          <a:prstGeom prst="rect">
            <a:avLst/>
          </a:prstGeom>
          <a:noFill/>
        </p:spPr>
        <p:txBody>
          <a:bodyPr wrap="square" lIns="0" rIns="0" tIns="0" bIns="0" anchor="t">
            <a:spAutoFit/>
          </a:bodyPr>
          <a:lstStyle/>
          <a:p>
            <a:pPr algn="l">
              <a:spcAft>
                <a:spcPts val="0"/>
              </a:spcAft>
            </a:pPr>
            <a:r>
              <a:rPr sz="1100" b="0" i="0">
                <a:solidFill>
                  <a:srgbClr val="52514E"/>
                </a:solidFill>
                <a:latin typeface="Calibri"/>
              </a:rPr>
              <a:t>Redrawn from the project architecture diagram; internal file names and ports are omitted.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RETRIEVAL-AUGMENTED GENERATION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production-oriented RAG pipeline from ingestion to validated structured output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Foundation and large language model approaches for knowledge workflows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30 / 34</a:t>
            </a:r>
          </a:p>
        </p:txBody>
      </p:sp>
      <p:sp>
        <p:nvSpPr>
          <p:cNvPr id="9" name="TextBox 8"/>
          <p:cNvSpPr txBox="1"/>
          <p:nvPr/>
        </p:nvSpPr>
        <p:spPr>
          <a:xfrm>
            <a:off x="548640" y="1627632"/>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INDEX TIME  ·  PREPARE THE KNOWLEDGE</a:t>
            </a:r>
          </a:p>
        </p:txBody>
      </p:sp>
      <p:sp>
        <p:nvSpPr>
          <p:cNvPr id="10" name="Rectangle 9"/>
          <p:cNvSpPr/>
          <p:nvPr/>
        </p:nvSpPr>
        <p:spPr>
          <a:xfrm>
            <a:off x="548640"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1</a:t>
            </a:r>
          </a:p>
        </p:txBody>
      </p:sp>
      <p:sp>
        <p:nvSpPr>
          <p:cNvPr id="13" name="TextBox 12"/>
          <p:cNvSpPr txBox="1"/>
          <p:nvPr/>
        </p:nvSpPr>
        <p:spPr>
          <a:xfrm>
            <a:off x="1115568"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Ingest</a:t>
            </a:r>
          </a:p>
        </p:txBody>
      </p:sp>
      <p:sp>
        <p:nvSpPr>
          <p:cNvPr id="14" name="TextBox 13"/>
          <p:cNvSpPr txBox="1"/>
          <p:nvPr/>
        </p:nvSpPr>
        <p:spPr>
          <a:xfrm>
            <a:off x="685800"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Pull documents from enterprise sources</a:t>
            </a:r>
          </a:p>
        </p:txBody>
      </p:sp>
      <p:cxnSp>
        <p:nvCxnSpPr>
          <p:cNvPr id="15" name="Connector 14"/>
          <p:cNvCxnSpPr/>
          <p:nvPr/>
        </p:nvCxnSpPr>
        <p:spPr>
          <a:xfrm>
            <a:off x="2587752"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816352"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53512"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2</a:t>
            </a:r>
          </a:p>
        </p:txBody>
      </p:sp>
      <p:sp>
        <p:nvSpPr>
          <p:cNvPr id="19" name="TextBox 18"/>
          <p:cNvSpPr txBox="1"/>
          <p:nvPr/>
        </p:nvSpPr>
        <p:spPr>
          <a:xfrm>
            <a:off x="3383280"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Process</a:t>
            </a:r>
          </a:p>
        </p:txBody>
      </p:sp>
      <p:sp>
        <p:nvSpPr>
          <p:cNvPr id="20" name="TextBox 19"/>
          <p:cNvSpPr txBox="1"/>
          <p:nvPr/>
        </p:nvSpPr>
        <p:spPr>
          <a:xfrm>
            <a:off x="2953512"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Parse and clean documents, keeping structure and metadata</a:t>
            </a:r>
          </a:p>
        </p:txBody>
      </p:sp>
      <p:cxnSp>
        <p:nvCxnSpPr>
          <p:cNvPr id="21" name="Connector 20"/>
          <p:cNvCxnSpPr/>
          <p:nvPr/>
        </p:nvCxnSpPr>
        <p:spPr>
          <a:xfrm>
            <a:off x="4855464"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084064"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21224"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3</a:t>
            </a:r>
          </a:p>
        </p:txBody>
      </p:sp>
      <p:sp>
        <p:nvSpPr>
          <p:cNvPr id="25" name="TextBox 24"/>
          <p:cNvSpPr txBox="1"/>
          <p:nvPr/>
        </p:nvSpPr>
        <p:spPr>
          <a:xfrm>
            <a:off x="5650992"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Chunk</a:t>
            </a:r>
          </a:p>
        </p:txBody>
      </p:sp>
      <p:sp>
        <p:nvSpPr>
          <p:cNvPr id="26" name="TextBox 25"/>
          <p:cNvSpPr txBox="1"/>
          <p:nvPr/>
        </p:nvSpPr>
        <p:spPr>
          <a:xfrm>
            <a:off x="5221224"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Split into passages sized for retrieval</a:t>
            </a:r>
          </a:p>
        </p:txBody>
      </p:sp>
      <p:cxnSp>
        <p:nvCxnSpPr>
          <p:cNvPr id="27" name="Connector 26"/>
          <p:cNvCxnSpPr/>
          <p:nvPr/>
        </p:nvCxnSpPr>
        <p:spPr>
          <a:xfrm>
            <a:off x="7123176"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51776"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51776"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88936"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4</a:t>
            </a:r>
          </a:p>
        </p:txBody>
      </p:sp>
      <p:sp>
        <p:nvSpPr>
          <p:cNvPr id="31" name="TextBox 30"/>
          <p:cNvSpPr txBox="1"/>
          <p:nvPr/>
        </p:nvSpPr>
        <p:spPr>
          <a:xfrm>
            <a:off x="7918704"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Embed</a:t>
            </a:r>
          </a:p>
        </p:txBody>
      </p:sp>
      <p:sp>
        <p:nvSpPr>
          <p:cNvPr id="32" name="TextBox 31"/>
          <p:cNvSpPr txBox="1"/>
          <p:nvPr/>
        </p:nvSpPr>
        <p:spPr>
          <a:xfrm>
            <a:off x="7488936"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Turn passages into vectors</a:t>
            </a:r>
          </a:p>
        </p:txBody>
      </p:sp>
      <p:cxnSp>
        <p:nvCxnSpPr>
          <p:cNvPr id="33" name="Connector 32"/>
          <p:cNvCxnSpPr/>
          <p:nvPr/>
        </p:nvCxnSpPr>
        <p:spPr>
          <a:xfrm>
            <a:off x="9390888"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619488"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19488"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756648"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5</a:t>
            </a:r>
          </a:p>
        </p:txBody>
      </p:sp>
      <p:sp>
        <p:nvSpPr>
          <p:cNvPr id="37" name="TextBox 36"/>
          <p:cNvSpPr txBox="1"/>
          <p:nvPr/>
        </p:nvSpPr>
        <p:spPr>
          <a:xfrm>
            <a:off x="10186416"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Index</a:t>
            </a:r>
          </a:p>
        </p:txBody>
      </p:sp>
      <p:sp>
        <p:nvSpPr>
          <p:cNvPr id="38" name="TextBox 37"/>
          <p:cNvSpPr txBox="1"/>
          <p:nvPr/>
        </p:nvSpPr>
        <p:spPr>
          <a:xfrm>
            <a:off x="9756648"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Store vectors for approximate nearest-neighbour (ANN) search</a:t>
            </a:r>
          </a:p>
        </p:txBody>
      </p:sp>
      <p:sp>
        <p:nvSpPr>
          <p:cNvPr id="39" name="TextBox 38"/>
          <p:cNvSpPr txBox="1"/>
          <p:nvPr/>
        </p:nvSpPr>
        <p:spPr>
          <a:xfrm>
            <a:off x="548640" y="3630168"/>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QUERY TIME  ·  ANSWER A REQUEST</a:t>
            </a:r>
          </a:p>
        </p:txBody>
      </p:sp>
      <p:sp>
        <p:nvSpPr>
          <p:cNvPr id="40" name="Rectangle 39"/>
          <p:cNvSpPr/>
          <p:nvPr/>
        </p:nvSpPr>
        <p:spPr>
          <a:xfrm>
            <a:off x="548640"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5800"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6</a:t>
            </a:r>
          </a:p>
        </p:txBody>
      </p:sp>
      <p:sp>
        <p:nvSpPr>
          <p:cNvPr id="43" name="TextBox 42"/>
          <p:cNvSpPr txBox="1"/>
          <p:nvPr/>
        </p:nvSpPr>
        <p:spPr>
          <a:xfrm>
            <a:off x="1115568"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Retrieve</a:t>
            </a:r>
          </a:p>
        </p:txBody>
      </p:sp>
      <p:sp>
        <p:nvSpPr>
          <p:cNvPr id="44" name="TextBox 43"/>
          <p:cNvSpPr txBox="1"/>
          <p:nvPr/>
        </p:nvSpPr>
        <p:spPr>
          <a:xfrm>
            <a:off x="685800"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Semantic search finds candidate passages</a:t>
            </a:r>
          </a:p>
        </p:txBody>
      </p:sp>
      <p:cxnSp>
        <p:nvCxnSpPr>
          <p:cNvPr id="45" name="Connector 44"/>
          <p:cNvCxnSpPr/>
          <p:nvPr/>
        </p:nvCxnSpPr>
        <p:spPr>
          <a:xfrm>
            <a:off x="2587752" y="459028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816352"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816352"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953512"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7</a:t>
            </a:r>
          </a:p>
        </p:txBody>
      </p:sp>
      <p:sp>
        <p:nvSpPr>
          <p:cNvPr id="49" name="TextBox 48"/>
          <p:cNvSpPr txBox="1"/>
          <p:nvPr/>
        </p:nvSpPr>
        <p:spPr>
          <a:xfrm>
            <a:off x="3383280"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Re-rank</a:t>
            </a:r>
          </a:p>
        </p:txBody>
      </p:sp>
      <p:sp>
        <p:nvSpPr>
          <p:cNvPr id="50" name="TextBox 49"/>
          <p:cNvSpPr txBox="1"/>
          <p:nvPr/>
        </p:nvSpPr>
        <p:spPr>
          <a:xfrm>
            <a:off x="2953512"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A second model orders candidates by relevance</a:t>
            </a:r>
          </a:p>
        </p:txBody>
      </p:sp>
      <p:cxnSp>
        <p:nvCxnSpPr>
          <p:cNvPr id="51" name="Connector 50"/>
          <p:cNvCxnSpPr/>
          <p:nvPr/>
        </p:nvCxnSpPr>
        <p:spPr>
          <a:xfrm>
            <a:off x="4855464" y="459028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5084064"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084064"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221224"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8</a:t>
            </a:r>
          </a:p>
        </p:txBody>
      </p:sp>
      <p:sp>
        <p:nvSpPr>
          <p:cNvPr id="55" name="TextBox 54"/>
          <p:cNvSpPr txBox="1"/>
          <p:nvPr/>
        </p:nvSpPr>
        <p:spPr>
          <a:xfrm>
            <a:off x="5650992"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Generate</a:t>
            </a:r>
          </a:p>
        </p:txBody>
      </p:sp>
      <p:sp>
        <p:nvSpPr>
          <p:cNvPr id="56" name="TextBox 55"/>
          <p:cNvSpPr txBox="1"/>
          <p:nvPr/>
        </p:nvSpPr>
        <p:spPr>
          <a:xfrm>
            <a:off x="5221224"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The LLM answers from the retrieved evidence</a:t>
            </a:r>
          </a:p>
        </p:txBody>
      </p:sp>
      <p:cxnSp>
        <p:nvCxnSpPr>
          <p:cNvPr id="57" name="Connector 56"/>
          <p:cNvCxnSpPr/>
          <p:nvPr/>
        </p:nvCxnSpPr>
        <p:spPr>
          <a:xfrm>
            <a:off x="7123176" y="459028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7351776"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51776"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488936"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9</a:t>
            </a:r>
          </a:p>
        </p:txBody>
      </p:sp>
      <p:sp>
        <p:nvSpPr>
          <p:cNvPr id="61" name="TextBox 60"/>
          <p:cNvSpPr txBox="1"/>
          <p:nvPr/>
        </p:nvSpPr>
        <p:spPr>
          <a:xfrm>
            <a:off x="7918704"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Validate</a:t>
            </a:r>
          </a:p>
        </p:txBody>
      </p:sp>
      <p:sp>
        <p:nvSpPr>
          <p:cNvPr id="62" name="TextBox 61"/>
          <p:cNvSpPr txBox="1"/>
          <p:nvPr/>
        </p:nvSpPr>
        <p:spPr>
          <a:xfrm>
            <a:off x="7488936"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Output is checked against a schema before use</a:t>
            </a:r>
          </a:p>
        </p:txBody>
      </p:sp>
      <p:sp>
        <p:nvSpPr>
          <p:cNvPr id="63" name="Rectangle 62"/>
          <p:cNvSpPr/>
          <p:nvPr/>
        </p:nvSpPr>
        <p:spPr>
          <a:xfrm>
            <a:off x="9619488" y="3904487"/>
            <a:ext cx="2011680" cy="15087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619488" y="3904487"/>
            <a:ext cx="73152" cy="15087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48088" y="3995928"/>
            <a:ext cx="1691640" cy="27432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Why these stages</a:t>
            </a:r>
          </a:p>
        </p:txBody>
      </p:sp>
      <p:sp>
        <p:nvSpPr>
          <p:cNvPr id="66" name="TextBox 65"/>
          <p:cNvSpPr txBox="1"/>
          <p:nvPr/>
        </p:nvSpPr>
        <p:spPr>
          <a:xfrm>
            <a:off x="9848088" y="4315968"/>
            <a:ext cx="1691640" cy="1051560"/>
          </a:xfrm>
          <a:prstGeom prst="rect">
            <a:avLst/>
          </a:prstGeom>
          <a:noFill/>
        </p:spPr>
        <p:txBody>
          <a:bodyPr wrap="square" lIns="0" rIns="0" tIns="0" bIns="0" anchor="t">
            <a:spAutoFit/>
          </a:bodyPr>
          <a:lstStyle/>
          <a:p>
            <a:pPr algn="l">
              <a:spcAft>
                <a:spcPts val="0"/>
              </a:spcAft>
            </a:pPr>
            <a:r>
              <a:rPr sz="1150" b="0" i="0">
                <a:solidFill>
                  <a:srgbClr val="14171C"/>
                </a:solidFill>
                <a:latin typeface="Calibri"/>
              </a:rPr>
              <a:t>ANN search keeps retrieval fast at scale. Re-ranking sharpens the shortlist. Validation checks the output.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MULTI-AGENT ORCHESTRATION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LangGraph graph routes each request to specialist agents that run in parallel</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Agentic AI systems (assistive, conversational, automated, predictive or sentinel)</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31 / 34</a:t>
            </a:r>
          </a:p>
        </p:txBody>
      </p:sp>
      <p:sp>
        <p:nvSpPr>
          <p:cNvPr id="9" name="TextBox 8"/>
          <p:cNvSpPr txBox="1"/>
          <p:nvPr/>
        </p:nvSpPr>
        <p:spPr>
          <a:xfrm>
            <a:off x="4389120" y="1600200"/>
            <a:ext cx="219456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GRAPH NODES</a:t>
            </a:r>
          </a:p>
        </p:txBody>
      </p:sp>
      <p:sp>
        <p:nvSpPr>
          <p:cNvPr id="10" name="TextBox 9"/>
          <p:cNvSpPr txBox="1"/>
          <p:nvPr/>
        </p:nvSpPr>
        <p:spPr>
          <a:xfrm>
            <a:off x="6858000" y="1600200"/>
            <a:ext cx="219456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SPECIALIST AGENTS</a:t>
            </a:r>
          </a:p>
        </p:txBody>
      </p:sp>
      <p:sp>
        <p:nvSpPr>
          <p:cNvPr id="11" name="TextBox 10"/>
          <p:cNvSpPr txBox="1"/>
          <p:nvPr/>
        </p:nvSpPr>
        <p:spPr>
          <a:xfrm>
            <a:off x="9326880" y="1600200"/>
            <a:ext cx="2286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UTILITY AGENTS</a:t>
            </a:r>
          </a:p>
        </p:txBody>
      </p:sp>
      <p:sp>
        <p:nvSpPr>
          <p:cNvPr id="12" name="Rectangle 11"/>
          <p:cNvSpPr/>
          <p:nvPr/>
        </p:nvSpPr>
        <p:spPr>
          <a:xfrm>
            <a:off x="548640" y="2743200"/>
            <a:ext cx="137160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743200"/>
            <a:ext cx="64008" cy="640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43200"/>
            <a:ext cx="1097280"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Router</a:t>
            </a:r>
          </a:p>
          <a:p>
            <a:pPr algn="l">
              <a:spcAft>
                <a:spcPts val="100"/>
              </a:spcAft>
            </a:pPr>
            <a:r>
              <a:rPr sz="1150" b="0" i="0">
                <a:solidFill>
                  <a:srgbClr val="52514E"/>
                </a:solidFill>
                <a:latin typeface="Calibri"/>
              </a:rPr>
              <a:t>entry point</a:t>
            </a:r>
          </a:p>
        </p:txBody>
      </p:sp>
      <p:sp>
        <p:nvSpPr>
          <p:cNvPr id="15" name="Rectangle 14"/>
          <p:cNvSpPr/>
          <p:nvPr/>
        </p:nvSpPr>
        <p:spPr>
          <a:xfrm>
            <a:off x="2286000" y="2743200"/>
            <a:ext cx="173736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2743200"/>
            <a:ext cx="64008" cy="640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2743200"/>
            <a:ext cx="1463039"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Orchestrator</a:t>
            </a:r>
          </a:p>
          <a:p>
            <a:pPr algn="l">
              <a:spcAft>
                <a:spcPts val="100"/>
              </a:spcAft>
            </a:pPr>
            <a:r>
              <a:rPr sz="1150" b="0" i="0">
                <a:solidFill>
                  <a:srgbClr val="52514E"/>
                </a:solidFill>
                <a:latin typeface="Calibri"/>
              </a:rPr>
              <a:t>LLM routing</a:t>
            </a:r>
          </a:p>
        </p:txBody>
      </p:sp>
      <p:cxnSp>
        <p:nvCxnSpPr>
          <p:cNvPr id="18" name="Connector 17"/>
          <p:cNvCxnSpPr/>
          <p:nvPr/>
        </p:nvCxnSpPr>
        <p:spPr>
          <a:xfrm>
            <a:off x="1938528" y="306324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389120" y="1920240"/>
            <a:ext cx="210312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8" y="192024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Risk assessment node</a:t>
            </a:r>
          </a:p>
        </p:txBody>
      </p:sp>
      <p:sp>
        <p:nvSpPr>
          <p:cNvPr id="21" name="Rectangle 20"/>
          <p:cNvSpPr/>
          <p:nvPr/>
        </p:nvSpPr>
        <p:spPr>
          <a:xfrm>
            <a:off x="6858000" y="1920240"/>
            <a:ext cx="2103120"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67728" y="192024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Risk assessment agent</a:t>
            </a:r>
          </a:p>
        </p:txBody>
      </p:sp>
      <p:cxnSp>
        <p:nvCxnSpPr>
          <p:cNvPr id="23" name="Connector 22"/>
          <p:cNvCxnSpPr/>
          <p:nvPr/>
        </p:nvCxnSpPr>
        <p:spPr>
          <a:xfrm flipV="1">
            <a:off x="4041648" y="2240280"/>
            <a:ext cx="329184" cy="82296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10528" y="224028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389120" y="2743200"/>
            <a:ext cx="210312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274320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ECCN assessment node</a:t>
            </a:r>
          </a:p>
        </p:txBody>
      </p:sp>
      <p:sp>
        <p:nvSpPr>
          <p:cNvPr id="27" name="Rectangle 26"/>
          <p:cNvSpPr/>
          <p:nvPr/>
        </p:nvSpPr>
        <p:spPr>
          <a:xfrm>
            <a:off x="6858000" y="2743200"/>
            <a:ext cx="2103120"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7728" y="274320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ECCN assessment agent</a:t>
            </a:r>
          </a:p>
        </p:txBody>
      </p:sp>
      <p:cxnSp>
        <p:nvCxnSpPr>
          <p:cNvPr id="29" name="Connector 28"/>
          <p:cNvCxnSpPr/>
          <p:nvPr/>
        </p:nvCxnSpPr>
        <p:spPr>
          <a:xfrm>
            <a:off x="4041648" y="3063240"/>
            <a:ext cx="329184"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510528" y="306324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389120" y="3566160"/>
            <a:ext cx="210312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8848" y="356616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Test strategy node</a:t>
            </a:r>
          </a:p>
        </p:txBody>
      </p:sp>
      <p:sp>
        <p:nvSpPr>
          <p:cNvPr id="33" name="Rectangle 32"/>
          <p:cNvSpPr/>
          <p:nvPr/>
        </p:nvSpPr>
        <p:spPr>
          <a:xfrm>
            <a:off x="6858000" y="3566160"/>
            <a:ext cx="2103120"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7728" y="356616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Test strategy agent</a:t>
            </a:r>
          </a:p>
        </p:txBody>
      </p:sp>
      <p:cxnSp>
        <p:nvCxnSpPr>
          <p:cNvPr id="35" name="Connector 34"/>
          <p:cNvCxnSpPr/>
          <p:nvPr/>
        </p:nvCxnSpPr>
        <p:spPr>
          <a:xfrm>
            <a:off x="4041648" y="3063240"/>
            <a:ext cx="329184" cy="82296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10528" y="388620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108960" y="2286000"/>
            <a:ext cx="960120" cy="228600"/>
          </a:xfrm>
          <a:prstGeom prst="rect">
            <a:avLst/>
          </a:prstGeom>
          <a:noFill/>
        </p:spPr>
        <p:txBody>
          <a:bodyPr wrap="square" lIns="0" rIns="0" tIns="0" bIns="0" anchor="t">
            <a:spAutoFit/>
          </a:bodyPr>
          <a:lstStyle/>
          <a:p>
            <a:pPr algn="r">
              <a:spcAft>
                <a:spcPts val="0"/>
              </a:spcAft>
            </a:pPr>
            <a:r>
              <a:rPr sz="1150" b="1" i="0">
                <a:solidFill>
                  <a:srgbClr val="52514E"/>
                </a:solidFill>
                <a:latin typeface="Calibri"/>
              </a:rPr>
              <a:t>Send()</a:t>
            </a:r>
          </a:p>
        </p:txBody>
      </p:sp>
      <p:sp>
        <p:nvSpPr>
          <p:cNvPr id="38" name="Rectangle 37"/>
          <p:cNvSpPr/>
          <p:nvPr/>
        </p:nvSpPr>
        <p:spPr>
          <a:xfrm>
            <a:off x="9281160" y="1828800"/>
            <a:ext cx="2359152" cy="2514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72600" y="193852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82328" y="193852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Document loader</a:t>
            </a:r>
          </a:p>
        </p:txBody>
      </p:sp>
      <p:sp>
        <p:nvSpPr>
          <p:cNvPr id="41" name="Rectangle 40"/>
          <p:cNvSpPr/>
          <p:nvPr/>
        </p:nvSpPr>
        <p:spPr>
          <a:xfrm>
            <a:off x="9372600" y="253288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82328" y="253288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URL loader</a:t>
            </a:r>
          </a:p>
        </p:txBody>
      </p:sp>
      <p:sp>
        <p:nvSpPr>
          <p:cNvPr id="43" name="Rectangle 42"/>
          <p:cNvSpPr/>
          <p:nvPr/>
        </p:nvSpPr>
        <p:spPr>
          <a:xfrm>
            <a:off x="9372600" y="312724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82328" y="312724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Template verification</a:t>
            </a:r>
          </a:p>
        </p:txBody>
      </p:sp>
      <p:sp>
        <p:nvSpPr>
          <p:cNvPr id="45" name="Rectangle 44"/>
          <p:cNvSpPr/>
          <p:nvPr/>
        </p:nvSpPr>
        <p:spPr>
          <a:xfrm>
            <a:off x="9372600" y="372160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82328" y="372160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Completeness check</a:t>
            </a:r>
          </a:p>
        </p:txBody>
      </p:sp>
      <p:cxnSp>
        <p:nvCxnSpPr>
          <p:cNvPr id="47" name="Connector 46"/>
          <p:cNvCxnSpPr/>
          <p:nvPr/>
        </p:nvCxnSpPr>
        <p:spPr>
          <a:xfrm>
            <a:off x="8979408" y="3063240"/>
            <a:ext cx="28346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8640" y="4462272"/>
            <a:ext cx="11091672" cy="2743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Send() dispatches the assessment nodes in parallel; each node calls its specialist agent.</a:t>
            </a:r>
          </a:p>
        </p:txBody>
      </p:sp>
      <p:sp>
        <p:nvSpPr>
          <p:cNvPr id="49" name="Rectangle 48"/>
          <p:cNvSpPr/>
          <p:nvPr/>
        </p:nvSpPr>
        <p:spPr>
          <a:xfrm>
            <a:off x="548640" y="4846320"/>
            <a:ext cx="4206240" cy="1005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8640" y="4846320"/>
            <a:ext cx="64008" cy="10058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846320"/>
            <a:ext cx="3931920" cy="10058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Sentinel node</a:t>
            </a:r>
          </a:p>
          <a:p>
            <a:pPr algn="l">
              <a:spcAft>
                <a:spcPts val="100"/>
              </a:spcAft>
            </a:pPr>
            <a:r>
              <a:rPr sz="1200" b="0" i="0">
                <a:solidFill>
                  <a:srgbClr val="52514E"/>
                </a:solidFill>
                <a:latin typeface="Calibri"/>
              </a:rPr>
              <a:t>Triggered on a schedule by EventBridge rather than by a chat request; ends the run when finished.</a:t>
            </a:r>
          </a:p>
        </p:txBody>
      </p:sp>
      <p:sp>
        <p:nvSpPr>
          <p:cNvPr id="52" name="Rectangle 51"/>
          <p:cNvSpPr/>
          <p:nvPr/>
        </p:nvSpPr>
        <p:spPr>
          <a:xfrm>
            <a:off x="4937760" y="4846320"/>
            <a:ext cx="6702552" cy="1005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937760" y="4846320"/>
            <a:ext cx="64008" cy="10058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20640" y="4846320"/>
            <a:ext cx="6428232" cy="10058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One LLM entry point</a:t>
            </a:r>
          </a:p>
          <a:p>
            <a:pPr algn="l">
              <a:spcAft>
                <a:spcPts val="100"/>
              </a:spcAft>
            </a:pPr>
            <a:r>
              <a:rPr sz="1200" b="0" i="0">
                <a:solidFill>
                  <a:srgbClr val="52514E"/>
                </a:solidFill>
                <a:latin typeface="Calibri"/>
              </a:rPr>
              <a:t>Every node and agent gets its model from a shared get_llm() factory backed by Amazon Bedrock, which keeps model configuration in one place.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MCP TOOLS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MCP tools give agents one standard way to retrieve evidence from enterprise sources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Agentic systems that use specialised tools and enterprise data sources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32 / 34</a:t>
            </a:r>
          </a:p>
        </p:txBody>
      </p:sp>
      <p:sp>
        <p:nvSpPr>
          <p:cNvPr id="9" name="Rectangle 8"/>
          <p:cNvSpPr/>
          <p:nvPr/>
        </p:nvSpPr>
        <p:spPr>
          <a:xfrm>
            <a:off x="548640" y="2011680"/>
            <a:ext cx="2651760" cy="13716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011680"/>
            <a:ext cx="64008" cy="13716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11680"/>
            <a:ext cx="2377439" cy="13716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Agents</a:t>
            </a:r>
          </a:p>
          <a:p>
            <a:pPr algn="l">
              <a:spcAft>
                <a:spcPts val="100"/>
              </a:spcAft>
            </a:pPr>
            <a:r>
              <a:rPr sz="1250" b="0" i="0">
                <a:solidFill>
                  <a:srgbClr val="52514E"/>
                </a:solidFill>
                <a:latin typeface="Calibri"/>
              </a:rPr>
              <a:t>Specialist and utility agents ask for evidence when an assessment needs it</a:t>
            </a:r>
          </a:p>
        </p:txBody>
      </p:sp>
      <p:sp>
        <p:nvSpPr>
          <p:cNvPr id="12" name="Rectangle 11"/>
          <p:cNvSpPr/>
          <p:nvPr/>
        </p:nvSpPr>
        <p:spPr>
          <a:xfrm>
            <a:off x="4114800" y="2011680"/>
            <a:ext cx="2834640" cy="1371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0" y="2011680"/>
            <a:ext cx="64008" cy="13716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011680"/>
            <a:ext cx="2560320" cy="13716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MCP server</a:t>
            </a:r>
          </a:p>
          <a:p>
            <a:pPr algn="l">
              <a:spcAft>
                <a:spcPts val="100"/>
              </a:spcAft>
            </a:pPr>
            <a:r>
              <a:rPr sz="1250" b="0" i="0">
                <a:solidFill>
                  <a:srgbClr val="52514E"/>
                </a:solidFill>
                <a:latin typeface="Calibri"/>
              </a:rPr>
              <a:t>stdio or HTTP transport; exposes tools to the agents</a:t>
            </a:r>
          </a:p>
        </p:txBody>
      </p:sp>
      <p:sp>
        <p:nvSpPr>
          <p:cNvPr id="15" name="Rectangle 14"/>
          <p:cNvSpPr/>
          <p:nvPr/>
        </p:nvSpPr>
        <p:spPr>
          <a:xfrm>
            <a:off x="7955279" y="1828800"/>
            <a:ext cx="3685032" cy="7315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65007" y="1828800"/>
            <a:ext cx="3483864" cy="73152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SharePoint</a:t>
            </a:r>
          </a:p>
          <a:p>
            <a:pPr algn="l">
              <a:spcAft>
                <a:spcPts val="100"/>
              </a:spcAft>
            </a:pPr>
            <a:r>
              <a:rPr sz="1250" b="0" i="0">
                <a:solidFill>
                  <a:srgbClr val="52514E"/>
                </a:solidFill>
                <a:latin typeface="Calibri"/>
              </a:rPr>
              <a:t>Documents and records</a:t>
            </a:r>
          </a:p>
        </p:txBody>
      </p:sp>
      <p:sp>
        <p:nvSpPr>
          <p:cNvPr id="17" name="Rectangle 16"/>
          <p:cNvSpPr/>
          <p:nvPr/>
        </p:nvSpPr>
        <p:spPr>
          <a:xfrm>
            <a:off x="7955279" y="2834640"/>
            <a:ext cx="3685032" cy="7315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7" y="2834640"/>
            <a:ext cx="3483864" cy="73152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GitHub</a:t>
            </a:r>
          </a:p>
          <a:p>
            <a:pPr algn="l">
              <a:spcAft>
                <a:spcPts val="100"/>
              </a:spcAft>
            </a:pPr>
            <a:r>
              <a:rPr sz="1250" b="0" i="0">
                <a:solidFill>
                  <a:srgbClr val="52514E"/>
                </a:solidFill>
                <a:latin typeface="Calibri"/>
              </a:rPr>
              <a:t>Repositories and code evidence</a:t>
            </a:r>
          </a:p>
        </p:txBody>
      </p:sp>
      <p:cxnSp>
        <p:nvCxnSpPr>
          <p:cNvPr id="19" name="Connector 18"/>
          <p:cNvCxnSpPr/>
          <p:nvPr/>
        </p:nvCxnSpPr>
        <p:spPr>
          <a:xfrm>
            <a:off x="3218688" y="2514600"/>
            <a:ext cx="87782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246120" y="2240280"/>
            <a:ext cx="868680" cy="228600"/>
          </a:xfrm>
          <a:prstGeom prst="rect">
            <a:avLst/>
          </a:prstGeom>
          <a:noFill/>
        </p:spPr>
        <p:txBody>
          <a:bodyPr wrap="square" lIns="0" rIns="0" tIns="0" bIns="0" anchor="t">
            <a:spAutoFit/>
          </a:bodyPr>
          <a:lstStyle/>
          <a:p>
            <a:pPr algn="ctr">
              <a:spcAft>
                <a:spcPts val="0"/>
              </a:spcAft>
            </a:pPr>
            <a:r>
              <a:rPr sz="1100" b="0" i="0">
                <a:solidFill>
                  <a:srgbClr val="52514E"/>
                </a:solidFill>
                <a:latin typeface="Calibri"/>
              </a:rPr>
              <a:t>tool call</a:t>
            </a:r>
          </a:p>
        </p:txBody>
      </p:sp>
      <p:cxnSp>
        <p:nvCxnSpPr>
          <p:cNvPr id="21" name="Connector 20"/>
          <p:cNvCxnSpPr/>
          <p:nvPr/>
        </p:nvCxnSpPr>
        <p:spPr>
          <a:xfrm flipH="1">
            <a:off x="3218688" y="2971800"/>
            <a:ext cx="87782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246120" y="3017520"/>
            <a:ext cx="868680" cy="228600"/>
          </a:xfrm>
          <a:prstGeom prst="rect">
            <a:avLst/>
          </a:prstGeom>
          <a:noFill/>
        </p:spPr>
        <p:txBody>
          <a:bodyPr wrap="square" lIns="0" rIns="0" tIns="0" bIns="0" anchor="t">
            <a:spAutoFit/>
          </a:bodyPr>
          <a:lstStyle/>
          <a:p>
            <a:pPr algn="ctr">
              <a:spcAft>
                <a:spcPts val="0"/>
              </a:spcAft>
            </a:pPr>
            <a:r>
              <a:rPr sz="1100" b="0" i="0">
                <a:solidFill>
                  <a:srgbClr val="52514E"/>
                </a:solidFill>
                <a:latin typeface="Calibri"/>
              </a:rPr>
              <a:t>evidence</a:t>
            </a:r>
          </a:p>
        </p:txBody>
      </p:sp>
      <p:cxnSp>
        <p:nvCxnSpPr>
          <p:cNvPr id="23" name="Connector 22"/>
          <p:cNvCxnSpPr/>
          <p:nvPr/>
        </p:nvCxnSpPr>
        <p:spPr>
          <a:xfrm>
            <a:off x="6967728" y="2194560"/>
            <a:ext cx="96926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67728" y="3200400"/>
            <a:ext cx="96926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8640" y="3931920"/>
            <a:ext cx="3557016"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3192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11480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Tool-based retrieval</a:t>
            </a:r>
          </a:p>
        </p:txBody>
      </p:sp>
      <p:sp>
        <p:nvSpPr>
          <p:cNvPr id="28" name="TextBox 27"/>
          <p:cNvSpPr txBox="1"/>
          <p:nvPr/>
        </p:nvSpPr>
        <p:spPr>
          <a:xfrm>
            <a:off x="777240" y="4526280"/>
            <a:ext cx="3108960" cy="11430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Agents call tools to retrieve material, so each source sits behind one standard interface.</a:t>
            </a:r>
          </a:p>
        </p:txBody>
      </p:sp>
      <p:sp>
        <p:nvSpPr>
          <p:cNvPr id="29" name="Rectangle 28"/>
          <p:cNvSpPr/>
          <p:nvPr/>
        </p:nvSpPr>
        <p:spPr>
          <a:xfrm>
            <a:off x="4315968" y="3931920"/>
            <a:ext cx="3557016"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15968" y="393192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411480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Evidence collection</a:t>
            </a:r>
          </a:p>
        </p:txBody>
      </p:sp>
      <p:sp>
        <p:nvSpPr>
          <p:cNvPr id="32" name="TextBox 31"/>
          <p:cNvSpPr txBox="1"/>
          <p:nvPr/>
        </p:nvSpPr>
        <p:spPr>
          <a:xfrm>
            <a:off x="4544568" y="4526280"/>
            <a:ext cx="3108960" cy="11430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What the tools return goes back to the calling agent as evidence for its assessment.</a:t>
            </a:r>
          </a:p>
        </p:txBody>
      </p:sp>
      <p:sp>
        <p:nvSpPr>
          <p:cNvPr id="33" name="Rectangle 32"/>
          <p:cNvSpPr/>
          <p:nvPr/>
        </p:nvSpPr>
        <p:spPr>
          <a:xfrm>
            <a:off x="8083296" y="3931920"/>
            <a:ext cx="3557016"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83296" y="393192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11896" y="411480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Secrets and hosting</a:t>
            </a:r>
          </a:p>
        </p:txBody>
      </p:sp>
      <p:sp>
        <p:nvSpPr>
          <p:cNvPr id="36" name="TextBox 35"/>
          <p:cNvSpPr txBox="1"/>
          <p:nvPr/>
        </p:nvSpPr>
        <p:spPr>
          <a:xfrm>
            <a:off x="8311896" y="4526280"/>
            <a:ext cx="3108960" cy="11430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API keys are held in AWS Secrets Manager. The MCP server runs as pods on Amazon EKS beside the API.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OBSERVABILITY AND DELIVERY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Agent execution is traced with MLflow, and delivery is automated, scanned and checked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and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33 / 34</a:t>
            </a:r>
          </a:p>
        </p:txBody>
      </p:sp>
      <p:sp>
        <p:nvSpPr>
          <p:cNvPr id="9" name="TextBox 8"/>
          <p:cNvSpPr txBox="1"/>
          <p:nvPr/>
        </p:nvSpPr>
        <p:spPr>
          <a:xfrm>
            <a:off x="548640" y="1627632"/>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MLFLOW OBSERVABILITY</a:t>
            </a:r>
          </a:p>
        </p:txBody>
      </p:sp>
      <p:sp>
        <p:nvSpPr>
          <p:cNvPr id="10" name="Rectangle 9"/>
          <p:cNvSpPr/>
          <p:nvPr/>
        </p:nvSpPr>
        <p:spPr>
          <a:xfrm>
            <a:off x="548640" y="192024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2024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05740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Experiment tracking</a:t>
            </a:r>
          </a:p>
        </p:txBody>
      </p:sp>
      <p:sp>
        <p:nvSpPr>
          <p:cNvPr id="13" name="TextBox 12"/>
          <p:cNvSpPr txBox="1"/>
          <p:nvPr/>
        </p:nvSpPr>
        <p:spPr>
          <a:xfrm>
            <a:off x="804672" y="242316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Runs, parameters, metrics and artifacts</a:t>
            </a:r>
          </a:p>
        </p:txBody>
      </p:sp>
      <p:sp>
        <p:nvSpPr>
          <p:cNvPr id="14" name="Rectangle 13"/>
          <p:cNvSpPr/>
          <p:nvPr/>
        </p:nvSpPr>
        <p:spPr>
          <a:xfrm>
            <a:off x="3749039" y="192024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49039" y="192024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5072" y="205740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Prompt tracking</a:t>
            </a:r>
          </a:p>
        </p:txBody>
      </p:sp>
      <p:sp>
        <p:nvSpPr>
          <p:cNvPr id="17" name="TextBox 16"/>
          <p:cNvSpPr txBox="1"/>
          <p:nvPr/>
        </p:nvSpPr>
        <p:spPr>
          <a:xfrm>
            <a:off x="4005072" y="242316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Templates, versions and LLM responses</a:t>
            </a:r>
          </a:p>
        </p:txBody>
      </p:sp>
      <p:sp>
        <p:nvSpPr>
          <p:cNvPr id="18" name="Rectangle 17"/>
          <p:cNvSpPr/>
          <p:nvPr/>
        </p:nvSpPr>
        <p:spPr>
          <a:xfrm>
            <a:off x="548640" y="320040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0040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33756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API call counts</a:t>
            </a:r>
          </a:p>
        </p:txBody>
      </p:sp>
      <p:sp>
        <p:nvSpPr>
          <p:cNvPr id="21" name="TextBox 20"/>
          <p:cNvSpPr txBox="1"/>
          <p:nvPr/>
        </p:nvSpPr>
        <p:spPr>
          <a:xfrm>
            <a:off x="804672" y="370332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Per agent, per model and total requests</a:t>
            </a:r>
          </a:p>
        </p:txBody>
      </p:sp>
      <p:sp>
        <p:nvSpPr>
          <p:cNvPr id="22" name="Rectangle 21"/>
          <p:cNvSpPr/>
          <p:nvPr/>
        </p:nvSpPr>
        <p:spPr>
          <a:xfrm>
            <a:off x="3749039" y="320040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749039" y="320040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05072" y="333756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Error tracking</a:t>
            </a:r>
          </a:p>
        </p:txBody>
      </p:sp>
      <p:sp>
        <p:nvSpPr>
          <p:cNvPr id="25" name="TextBox 24"/>
          <p:cNvSpPr txBox="1"/>
          <p:nvPr/>
        </p:nvSpPr>
        <p:spPr>
          <a:xfrm>
            <a:off x="4005072" y="370332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Exceptions, retries and failure logs</a:t>
            </a:r>
          </a:p>
        </p:txBody>
      </p:sp>
      <p:sp>
        <p:nvSpPr>
          <p:cNvPr id="26" name="Rectangle 25"/>
          <p:cNvSpPr/>
          <p:nvPr/>
        </p:nvSpPr>
        <p:spPr>
          <a:xfrm>
            <a:off x="548640" y="4526280"/>
            <a:ext cx="6263640" cy="685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26280"/>
            <a:ext cx="64008" cy="6858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526280"/>
            <a:ext cx="5989320" cy="6858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Amazon CloudWatch Logs</a:t>
            </a:r>
          </a:p>
          <a:p>
            <a:pPr algn="l">
              <a:spcAft>
                <a:spcPts val="100"/>
              </a:spcAft>
            </a:pPr>
            <a:r>
              <a:rPr sz="1250" b="0" i="0">
                <a:solidFill>
                  <a:srgbClr val="52514E"/>
                </a:solidFill>
                <a:latin typeface="Calibri"/>
              </a:rPr>
              <a:t>Agent and API logs are centralised alongside the MLflow records</a:t>
            </a:r>
          </a:p>
        </p:txBody>
      </p:sp>
      <p:sp>
        <p:nvSpPr>
          <p:cNvPr id="29" name="TextBox 28"/>
          <p:cNvSpPr txBox="1"/>
          <p:nvPr/>
        </p:nvSpPr>
        <p:spPr>
          <a:xfrm>
            <a:off x="7132320" y="1627632"/>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DELIVERY AND SECURITY</a:t>
            </a:r>
          </a:p>
        </p:txBody>
      </p:sp>
      <p:sp>
        <p:nvSpPr>
          <p:cNvPr id="30" name="Rectangle 29"/>
          <p:cNvSpPr/>
          <p:nvPr/>
        </p:nvSpPr>
        <p:spPr>
          <a:xfrm>
            <a:off x="7132320" y="1920240"/>
            <a:ext cx="4507992" cy="16916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0" y="1920240"/>
            <a:ext cx="4507992"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60920" y="2103120"/>
            <a:ext cx="40233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Delivery practices</a:t>
            </a:r>
          </a:p>
        </p:txBody>
      </p:sp>
      <p:sp>
        <p:nvSpPr>
          <p:cNvPr id="33" name="TextBox 32"/>
          <p:cNvSpPr txBox="1"/>
          <p:nvPr/>
        </p:nvSpPr>
        <p:spPr>
          <a:xfrm>
            <a:off x="7360920" y="2514600"/>
            <a:ext cx="4023360" cy="1051560"/>
          </a:xfrm>
          <a:prstGeom prst="rect">
            <a:avLst/>
          </a:prstGeom>
          <a:noFill/>
        </p:spPr>
        <p:txBody>
          <a:bodyPr wrap="square" lIns="0" rIns="0" tIns="0" bIns="0" anchor="t">
            <a:spAutoFit/>
          </a:bodyPr>
          <a:lstStyle/>
          <a:p>
            <a:pPr algn="l" marL="201168" indent="-201168">
              <a:spcAft>
                <a:spcPts val="400"/>
              </a:spcAft>
              <a:buChar char="•"/>
            </a:pPr>
            <a:r>
              <a:rPr sz="1300" b="0" i="0">
                <a:solidFill>
                  <a:srgbClr val="14171C"/>
                </a:solidFill>
                <a:latin typeface="Calibri"/>
              </a:rPr>
              <a:t>CI/CD pipeline for the AI application</a:t>
            </a:r>
          </a:p>
          <a:p>
            <a:pPr algn="l" marL="201168" indent="-201168">
              <a:spcAft>
                <a:spcPts val="400"/>
              </a:spcAft>
              <a:buChar char="•"/>
            </a:pPr>
            <a:r>
              <a:rPr sz="1300" b="0" i="0">
                <a:solidFill>
                  <a:srgbClr val="14171C"/>
                </a:solidFill>
                <a:latin typeface="Calibri"/>
              </a:rPr>
              <a:t>Security scanning</a:t>
            </a:r>
          </a:p>
          <a:p>
            <a:pPr algn="l" marL="201168" indent="-201168">
              <a:spcAft>
                <a:spcPts val="400"/>
              </a:spcAft>
              <a:buChar char="•"/>
            </a:pPr>
            <a:r>
              <a:rPr sz="1300" b="0" i="0">
                <a:solidFill>
                  <a:srgbClr val="14171C"/>
                </a:solidFill>
                <a:latin typeface="Calibri"/>
              </a:rPr>
              <a:t>Code-quality practices</a:t>
            </a:r>
          </a:p>
        </p:txBody>
      </p:sp>
      <p:sp>
        <p:nvSpPr>
          <p:cNvPr id="34" name="Rectangle 33"/>
          <p:cNvSpPr/>
          <p:nvPr/>
        </p:nvSpPr>
        <p:spPr>
          <a:xfrm>
            <a:off x="7132320" y="3749039"/>
            <a:ext cx="4507992" cy="16916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0" y="3749039"/>
            <a:ext cx="4507992"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0920" y="3931920"/>
            <a:ext cx="40233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Security in the design</a:t>
            </a:r>
          </a:p>
        </p:txBody>
      </p:sp>
      <p:sp>
        <p:nvSpPr>
          <p:cNvPr id="37" name="TextBox 36"/>
          <p:cNvSpPr txBox="1"/>
          <p:nvPr/>
        </p:nvSpPr>
        <p:spPr>
          <a:xfrm>
            <a:off x="7360920" y="4343400"/>
            <a:ext cx="4023360" cy="1051560"/>
          </a:xfrm>
          <a:prstGeom prst="rect">
            <a:avLst/>
          </a:prstGeom>
          <a:noFill/>
        </p:spPr>
        <p:txBody>
          <a:bodyPr wrap="square" lIns="0" rIns="0" tIns="0" bIns="0" anchor="t">
            <a:spAutoFit/>
          </a:bodyPr>
          <a:lstStyle/>
          <a:p>
            <a:pPr algn="l" marL="201168" indent="-201168">
              <a:spcAft>
                <a:spcPts val="400"/>
              </a:spcAft>
              <a:buChar char="•"/>
            </a:pPr>
            <a:r>
              <a:rPr sz="1300" b="0" i="0">
                <a:solidFill>
                  <a:srgbClr val="14171C"/>
                </a:solidFill>
                <a:latin typeface="Calibri"/>
              </a:rPr>
              <a:t>Cognito OAuth2 / JWT tokens validated at the API</a:t>
            </a:r>
          </a:p>
          <a:p>
            <a:pPr algn="l" marL="201168" indent="-201168">
              <a:spcAft>
                <a:spcPts val="400"/>
              </a:spcAft>
              <a:buChar char="•"/>
            </a:pPr>
            <a:r>
              <a:rPr sz="1300" b="0" i="0">
                <a:solidFill>
                  <a:srgbClr val="14171C"/>
                </a:solidFill>
                <a:latin typeface="Calibri"/>
              </a:rPr>
              <a:t>API keys held in AWS Secrets Manager</a:t>
            </a:r>
          </a:p>
          <a:p>
            <a:pPr algn="l" marL="201168" indent="-201168">
              <a:spcAft>
                <a:spcPts val="400"/>
              </a:spcAft>
              <a:buChar char="•"/>
            </a:pPr>
            <a:r>
              <a:rPr sz="1300" b="0" i="0">
                <a:solidFill>
                  <a:srgbClr val="14171C"/>
                </a:solidFill>
                <a:latin typeface="Calibri"/>
              </a:rPr>
              <a:t>Workloads hosted on Amazon EKS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SUMMARY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Evidence for the role: integration, biomarker models, deep learning, agentic AI, NGS and code</a:t>
            </a:r>
          </a:p>
        </p:txBody>
      </p:sp>
      <p:sp>
        <p:nvSpPr>
          <p:cNvPr id="4" name="TextBox 3"/>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5" name="TextBox 4"/>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34 / 34</a:t>
            </a:r>
          </a:p>
        </p:txBody>
      </p:sp>
      <p:graphicFrame>
        <p:nvGraphicFramePr>
          <p:cNvPr id="6" name="Table 5"/>
          <p:cNvGraphicFramePr>
            <a:graphicFrameLocks noGrp="1"/>
          </p:cNvGraphicFramePr>
          <p:nvPr/>
        </p:nvGraphicFramePr>
        <p:xfrm>
          <a:off x="548640" y="1691640"/>
          <a:ext cx="11091672" cy="4553712"/>
        </p:xfrm>
        <a:graphic>
          <a:graphicData uri="http://schemas.openxmlformats.org/drawingml/2006/table">
            <a:tbl>
              <a:tblPr firstRow="0" bandRow="0">
                <a:tableStyleId>{5C22544A-7EE6-4342-B048-85BDC9FD1C3A}</a:tableStyleId>
              </a:tblPr>
              <a:tblGrid>
                <a:gridCol w="3383280"/>
                <a:gridCol w="5760720"/>
                <a:gridCol w="1947672"/>
              </a:tblGrid>
              <a:tr h="457200">
                <a:tc>
                  <a:txBody>
                    <a:bodyPr wrap="square"/>
                    <a:lstStyle/>
                    <a:p>
                      <a:r>
                        <a:rPr sz="1300" b="1">
                          <a:solidFill>
                            <a:srgbClr val="FFFFFF"/>
                          </a:solidFill>
                          <a:latin typeface="Calibri"/>
                        </a:rPr>
                        <a:t>Role expectation</a:t>
                      </a:r>
                    </a:p>
                  </a:txBody>
                  <a:tcPr anchor="ctr" marL="137160" marR="137160" marT="36576" marB="36576">
                    <a:solidFill>
                      <a:srgbClr val="0E2A47"/>
                    </a:solidFill>
                  </a:tcPr>
                </a:tc>
                <a:tc>
                  <a:txBody>
                    <a:bodyPr wrap="square"/>
                    <a:lstStyle/>
                    <a:p>
                      <a:r>
                        <a:rPr sz="1300" b="1">
                          <a:solidFill>
                            <a:srgbClr val="FFFFFF"/>
                          </a:solidFill>
                          <a:latin typeface="Calibri"/>
                        </a:rPr>
                        <a:t>Evidence in this work</a:t>
                      </a:r>
                    </a:p>
                  </a:txBody>
                  <a:tcPr anchor="ctr" marL="137160" marR="137160" marT="36576" marB="36576">
                    <a:solidFill>
                      <a:srgbClr val="0E2A47"/>
                    </a:solidFill>
                  </a:tcPr>
                </a:tc>
                <a:tc>
                  <a:txBody>
                    <a:bodyPr wrap="square"/>
                    <a:lstStyle/>
                    <a:p>
                      <a:r>
                        <a:rPr sz="1300" b="1">
                          <a:solidFill>
                            <a:srgbClr val="FFFFFF"/>
                          </a:solidFill>
                          <a:latin typeface="Calibri"/>
                        </a:rPr>
                        <a:t>Where</a:t>
                      </a:r>
                    </a:p>
                  </a:txBody>
                  <a:tcPr anchor="ctr" marL="137160" marR="137160" marT="36576" marB="36576">
                    <a:solidFill>
                      <a:srgbClr val="0E2A47"/>
                    </a:solidFill>
                  </a:tcPr>
                </a:tc>
              </a:tr>
              <a:tr h="512064">
                <a:tc>
                  <a:txBody>
                    <a:bodyPr wrap="square"/>
                    <a:lstStyle/>
                    <a:p>
                      <a:r>
                        <a:rPr sz="1300" b="1">
                          <a:solidFill>
                            <a:srgbClr val="0E2A47"/>
                          </a:solidFill>
                          <a:latin typeface="Calibri"/>
                        </a:rPr>
                        <a:t>Multi-omic integration frameworks</a:t>
                      </a:r>
                    </a:p>
                  </a:txBody>
                  <a:tcPr anchor="ctr" marL="137160" marR="137160" marT="36576" marB="36576">
                    <a:solidFill>
                      <a:srgbClr val="FFFFFF"/>
                    </a:solidFill>
                  </a:tcPr>
                </a:tc>
                <a:tc>
                  <a:txBody>
                    <a:bodyPr wrap="square"/>
                    <a:lstStyle/>
                    <a:p>
                      <a:r>
                        <a:rPr sz="1300" b="0">
                          <a:solidFill>
                            <a:srgbClr val="14171C"/>
                          </a:solidFill>
                          <a:latin typeface="Calibri"/>
                        </a:rPr>
                        <a:t>Stacked ensemble over four omics layers with PLS‑DA latent variables; accessibility joined with methylation and histone marks</a:t>
                      </a:r>
                    </a:p>
                  </a:txBody>
                  <a:tcPr anchor="ctr" marL="137160" marR="137160" marT="36576" marB="36576">
                    <a:solidFill>
                      <a:srgbClr val="FFFFFF"/>
                    </a:solidFill>
                  </a:tcPr>
                </a:tc>
                <a:tc>
                  <a:txBody>
                    <a:bodyPr wrap="square"/>
                    <a:lstStyle/>
                    <a:p>
                      <a:r>
                        <a:rPr sz="1300" b="0">
                          <a:solidFill>
                            <a:srgbClr val="14171C"/>
                          </a:solidFill>
                          <a:latin typeface="Calibri"/>
                        </a:rPr>
                        <a:t>Slides 7–9, 15</a:t>
                      </a:r>
                    </a:p>
                  </a:txBody>
                  <a:tcPr anchor="ctr" marL="137160" marR="137160" marT="36576" marB="36576">
                    <a:solidFill>
                      <a:srgbClr val="FFFFFF"/>
                    </a:solidFill>
                  </a:tcPr>
                </a:tc>
              </a:tr>
              <a:tr h="512064">
                <a:tc>
                  <a:txBody>
                    <a:bodyPr wrap="square"/>
                    <a:lstStyle/>
                    <a:p>
                      <a:r>
                        <a:rPr sz="1300" b="1">
                          <a:solidFill>
                            <a:srgbClr val="0E2A47"/>
                          </a:solidFill>
                          <a:latin typeface="Calibri"/>
                        </a:rPr>
                        <a:t>Predictive and prognostic biomarker models</a:t>
                      </a:r>
                    </a:p>
                  </a:txBody>
                  <a:tcPr anchor="ctr" marL="137160" marR="137160" marT="36576" marB="36576">
                    <a:solidFill>
                      <a:srgbClr val="F3F5F8"/>
                    </a:solidFill>
                  </a:tcPr>
                </a:tc>
                <a:tc>
                  <a:txBody>
                    <a:bodyPr wrap="square"/>
                    <a:lstStyle/>
                    <a:p>
                      <a:r>
                        <a:rPr sz="1300" b="0">
                          <a:solidFill>
                            <a:srgbClr val="14171C"/>
                          </a:solidFill>
                          <a:latin typeface="Calibri"/>
                        </a:rPr>
                        <a:t>Survival classifier with test AUC 0.89; biomarkers traced to hub genes and miRNA regulators</a:t>
                      </a:r>
                    </a:p>
                  </a:txBody>
                  <a:tcPr anchor="ctr" marL="137160" marR="137160" marT="36576" marB="36576">
                    <a:solidFill>
                      <a:srgbClr val="F3F5F8"/>
                    </a:solidFill>
                  </a:tcPr>
                </a:tc>
                <a:tc>
                  <a:txBody>
                    <a:bodyPr wrap="square"/>
                    <a:lstStyle/>
                    <a:p>
                      <a:r>
                        <a:rPr sz="1300" b="0">
                          <a:solidFill>
                            <a:srgbClr val="14171C"/>
                          </a:solidFill>
                          <a:latin typeface="Calibri"/>
                        </a:rPr>
                        <a:t>Slides 8, 10–11</a:t>
                      </a:r>
                    </a:p>
                  </a:txBody>
                  <a:tcPr anchor="ctr" marL="137160" marR="137160" marT="36576" marB="36576">
                    <a:solidFill>
                      <a:srgbClr val="F3F5F8"/>
                    </a:solidFill>
                  </a:tcPr>
                </a:tc>
              </a:tr>
              <a:tr h="512064">
                <a:tc>
                  <a:txBody>
                    <a:bodyPr wrap="square"/>
                    <a:lstStyle/>
                    <a:p>
                      <a:r>
                        <a:rPr sz="1300" b="1">
                          <a:solidFill>
                            <a:srgbClr val="0E2A47"/>
                          </a:solidFill>
                          <a:latin typeface="Calibri"/>
                        </a:rPr>
                        <a:t>Deep learning and generative models</a:t>
                      </a:r>
                    </a:p>
                  </a:txBody>
                  <a:tcPr anchor="ctr" marL="137160" marR="137160" marT="36576" marB="36576">
                    <a:solidFill>
                      <a:srgbClr val="FFFFFF"/>
                    </a:solidFill>
                  </a:tcPr>
                </a:tc>
                <a:tc>
                  <a:txBody>
                    <a:bodyPr wrap="square"/>
                    <a:lstStyle/>
                    <a:p>
                      <a:r>
                        <a:rPr sz="1300" b="0">
                          <a:solidFill>
                            <a:srgbClr val="14171C"/>
                          </a:solidFill>
                          <a:latin typeface="Calibri"/>
                        </a:rPr>
                        <a:t>VAE and autoencoder in PyTorch tuned with Optuna; prototype status and open validation gap stated plainly</a:t>
                      </a:r>
                    </a:p>
                  </a:txBody>
                  <a:tcPr anchor="ctr" marL="137160" marR="137160" marT="36576" marB="36576">
                    <a:solidFill>
                      <a:srgbClr val="FFFFFF"/>
                    </a:solidFill>
                  </a:tcPr>
                </a:tc>
                <a:tc>
                  <a:txBody>
                    <a:bodyPr wrap="square"/>
                    <a:lstStyle/>
                    <a:p>
                      <a:r>
                        <a:rPr sz="1300" b="0">
                          <a:solidFill>
                            <a:srgbClr val="14171C"/>
                          </a:solidFill>
                          <a:latin typeface="Calibri"/>
                        </a:rPr>
                        <a:t>Slides 23, 25–26</a:t>
                      </a:r>
                    </a:p>
                  </a:txBody>
                  <a:tcPr anchor="ctr" marL="137160" marR="137160" marT="36576" marB="36576">
                    <a:solidFill>
                      <a:srgbClr val="FFFFFF"/>
                    </a:solidFill>
                  </a:tcPr>
                </a:tc>
              </a:tr>
              <a:tr h="512064">
                <a:tc>
                  <a:txBody>
                    <a:bodyPr wrap="square"/>
                    <a:lstStyle/>
                    <a:p>
                      <a:r>
                        <a:rPr sz="1300" b="1">
                          <a:solidFill>
                            <a:srgbClr val="0E2A47"/>
                          </a:solidFill>
                          <a:latin typeface="Calibri"/>
                        </a:rPr>
                        <a:t>Generative AI and agentic systems</a:t>
                      </a:r>
                    </a:p>
                  </a:txBody>
                  <a:tcPr anchor="ctr" marL="137160" marR="137160" marT="36576" marB="36576">
                    <a:solidFill>
                      <a:srgbClr val="F3F5F8"/>
                    </a:solidFill>
                  </a:tcPr>
                </a:tc>
                <a:tc>
                  <a:txBody>
                    <a:bodyPr wrap="square"/>
                    <a:lstStyle/>
                    <a:p>
                      <a:r>
                        <a:rPr sz="1300" b="0">
                          <a:solidFill>
                            <a:srgbClr val="14171C"/>
                          </a:solidFill>
                          <a:latin typeface="Calibri"/>
                        </a:rPr>
                        <a:t>LangGraph multi-agent compliance system with RAG pipelines, MCP tools, a scheduled Sentinel agent and MLflow tracing</a:t>
                      </a:r>
                    </a:p>
                  </a:txBody>
                  <a:tcPr anchor="ctr" marL="137160" marR="137160" marT="36576" marB="36576">
                    <a:solidFill>
                      <a:srgbClr val="F3F5F8"/>
                    </a:solidFill>
                  </a:tcPr>
                </a:tc>
                <a:tc>
                  <a:txBody>
                    <a:bodyPr wrap="square"/>
                    <a:lstStyle/>
                    <a:p>
                      <a:r>
                        <a:rPr sz="1300" b="0">
                          <a:solidFill>
                            <a:srgbClr val="14171C"/>
                          </a:solidFill>
                          <a:latin typeface="Calibri"/>
                        </a:rPr>
                        <a:t>Slides 28–33</a:t>
                      </a:r>
                    </a:p>
                  </a:txBody>
                  <a:tcPr anchor="ctr" marL="137160" marR="137160" marT="36576" marB="36576">
                    <a:solidFill>
                      <a:srgbClr val="F3F5F8"/>
                    </a:solidFill>
                  </a:tcPr>
                </a:tc>
              </a:tr>
              <a:tr h="512064">
                <a:tc>
                  <a:txBody>
                    <a:bodyPr wrap="square"/>
                    <a:lstStyle/>
                    <a:p>
                      <a:r>
                        <a:rPr sz="1300" b="1">
                          <a:solidFill>
                            <a:srgbClr val="0E2A47"/>
                          </a:solidFill>
                          <a:latin typeface="Calibri"/>
                        </a:rPr>
                        <a:t>Rigour, interpretability and validation</a:t>
                      </a:r>
                    </a:p>
                  </a:txBody>
                  <a:tcPr anchor="ctr" marL="137160" marR="137160" marT="36576" marB="36576">
                    <a:solidFill>
                      <a:srgbClr val="FFFFFF"/>
                    </a:solidFill>
                  </a:tcPr>
                </a:tc>
                <a:tc>
                  <a:txBody>
                    <a:bodyPr wrap="square"/>
                    <a:lstStyle/>
                    <a:p>
                      <a:r>
                        <a:rPr sz="1300" b="0">
                          <a:solidFill>
                            <a:srgbClr val="14171C"/>
                          </a:solidFill>
                          <a:latin typeface="Calibri"/>
                        </a:rPr>
                        <a:t>Hold-out test, 4-fold CV, 15 reshuffles and MCC; IDR, FDR thresholds and RT‑qPCR validation; limitations stated</a:t>
                      </a:r>
                    </a:p>
                  </a:txBody>
                  <a:tcPr anchor="ctr" marL="137160" marR="137160" marT="36576" marB="36576">
                    <a:solidFill>
                      <a:srgbClr val="FFFFFF"/>
                    </a:solidFill>
                  </a:tcPr>
                </a:tc>
                <a:tc>
                  <a:txBody>
                    <a:bodyPr wrap="square"/>
                    <a:lstStyle/>
                    <a:p>
                      <a:r>
                        <a:rPr sz="1300" b="0">
                          <a:solidFill>
                            <a:srgbClr val="14171C"/>
                          </a:solidFill>
                          <a:latin typeface="Calibri"/>
                        </a:rPr>
                        <a:t>Slides 9, 12, 15–18, 26</a:t>
                      </a:r>
                    </a:p>
                  </a:txBody>
                  <a:tcPr anchor="ctr" marL="137160" marR="137160" marT="36576" marB="36576">
                    <a:solidFill>
                      <a:srgbClr val="FFFFFF"/>
                    </a:solidFill>
                  </a:tcPr>
                </a:tc>
              </a:tr>
              <a:tr h="512064">
                <a:tc>
                  <a:txBody>
                    <a:bodyPr wrap="square"/>
                    <a:lstStyle/>
                    <a:p>
                      <a:r>
                        <a:rPr sz="1300" b="1">
                          <a:solidFill>
                            <a:srgbClr val="0E2A47"/>
                          </a:solidFill>
                          <a:latin typeface="Calibri"/>
                        </a:rPr>
                        <a:t>Reusable, production-ready code</a:t>
                      </a:r>
                    </a:p>
                  </a:txBody>
                  <a:tcPr anchor="ctr" marL="137160" marR="137160" marT="36576" marB="36576">
                    <a:solidFill>
                      <a:srgbClr val="F3F5F8"/>
                    </a:solidFill>
                  </a:tcPr>
                </a:tc>
                <a:tc>
                  <a:txBody>
                    <a:bodyPr wrap="square"/>
                    <a:lstStyle/>
                    <a:p>
                      <a:r>
                        <a:rPr sz="1300" b="0">
                          <a:solidFill>
                            <a:srgbClr val="14171C"/>
                          </a:solidFill>
                          <a:latin typeface="Calibri"/>
                        </a:rPr>
                        <a:t>ConnectOME on GitHub; DVC and MLflow runs; CI/CD, security scanning and code-quality practices for AI applications</a:t>
                      </a:r>
                    </a:p>
                  </a:txBody>
                  <a:tcPr anchor="ctr" marL="137160" marR="137160" marT="36576" marB="36576">
                    <a:solidFill>
                      <a:srgbClr val="F3F5F8"/>
                    </a:solidFill>
                  </a:tcPr>
                </a:tc>
                <a:tc>
                  <a:txBody>
                    <a:bodyPr wrap="square"/>
                    <a:lstStyle/>
                    <a:p>
                      <a:r>
                        <a:rPr sz="1300" b="0">
                          <a:solidFill>
                            <a:srgbClr val="14171C"/>
                          </a:solidFill>
                          <a:latin typeface="Calibri"/>
                        </a:rPr>
                        <a:t>Slides 10, 15, 24, 29, 33</a:t>
                      </a:r>
                    </a:p>
                  </a:txBody>
                  <a:tcPr anchor="ctr" marL="137160" marR="137160" marT="36576" marB="36576">
                    <a:solidFill>
                      <a:srgbClr val="F3F5F8"/>
                    </a:solidFill>
                  </a:tcPr>
                </a:tc>
              </a:tr>
              <a:tr h="512064">
                <a:tc>
                  <a:txBody>
                    <a:bodyPr wrap="square"/>
                    <a:lstStyle/>
                    <a:p>
                      <a:r>
                        <a:rPr sz="1300" b="1">
                          <a:solidFill>
                            <a:srgbClr val="0E2A47"/>
                          </a:solidFill>
                          <a:latin typeface="Calibri"/>
                        </a:rPr>
                        <a:t>NGS and epigenomic data types</a:t>
                      </a:r>
                    </a:p>
                  </a:txBody>
                  <a:tcPr anchor="ctr" marL="137160" marR="137160" marT="36576" marB="36576">
                    <a:solidFill>
                      <a:srgbClr val="FFFFFF"/>
                    </a:solidFill>
                  </a:tcPr>
                </a:tc>
                <a:tc>
                  <a:txBody>
                    <a:bodyPr wrap="square"/>
                    <a:lstStyle/>
                    <a:p>
                      <a:r>
                        <a:rPr sz="1300" b="0">
                          <a:solidFill>
                            <a:srgbClr val="14171C"/>
                          </a:solidFill>
                          <a:latin typeface="Calibri"/>
                        </a:rPr>
                        <a:t>Open-chromatin profiling from raw reads to peaks, differential sites and motifs; single-cell and single-nucleus RNA-seq in the deconvolution work</a:t>
                      </a:r>
                    </a:p>
                  </a:txBody>
                  <a:tcPr anchor="ctr" marL="137160" marR="137160" marT="36576" marB="36576">
                    <a:solidFill>
                      <a:srgbClr val="FFFFFF"/>
                    </a:solidFill>
                  </a:tcPr>
                </a:tc>
                <a:tc>
                  <a:txBody>
                    <a:bodyPr wrap="square"/>
                    <a:lstStyle/>
                    <a:p>
                      <a:r>
                        <a:rPr sz="1300" b="0">
                          <a:solidFill>
                            <a:srgbClr val="14171C"/>
                          </a:solidFill>
                          <a:latin typeface="Calibri"/>
                        </a:rPr>
                        <a:t>Slides 14–18, 20</a:t>
                      </a:r>
                    </a:p>
                  </a:txBody>
                  <a:tcPr anchor="ctr" marL="137160" marR="137160" marT="36576" marB="36576">
                    <a:solidFill>
                      <a:srgbClr val="FFFFFF"/>
                    </a:solidFill>
                  </a:tcPr>
                </a:tc>
              </a:tr>
              <a:tr h="512064">
                <a:tc>
                  <a:txBody>
                    <a:bodyPr wrap="square"/>
                    <a:lstStyle/>
                    <a:p>
                      <a:r>
                        <a:rPr sz="1300" b="1">
                          <a:solidFill>
                            <a:srgbClr val="0E2A47"/>
                          </a:solidFill>
                          <a:latin typeface="Calibri"/>
                        </a:rPr>
                        <a:t>Peer-reviewed publications</a:t>
                      </a:r>
                    </a:p>
                  </a:txBody>
                  <a:tcPr anchor="ctr" marL="137160" marR="137160" marT="36576" marB="36576">
                    <a:solidFill>
                      <a:srgbClr val="F3F5F8"/>
                    </a:solidFill>
                  </a:tcPr>
                </a:tc>
                <a:tc>
                  <a:txBody>
                    <a:bodyPr wrap="square"/>
                    <a:lstStyle/>
                    <a:p>
                      <a:r>
                        <a:rPr sz="1300" b="0">
                          <a:solidFill>
                            <a:srgbClr val="14171C"/>
                          </a:solidFill>
                          <a:latin typeface="Calibri"/>
                        </a:rPr>
                        <a:t>First author, Informatics in Medicine Unlocked 47 (2024) 101507. Co-author, The Plant Journal 119 (2024) 2063–2079</a:t>
                      </a:r>
                    </a:p>
                  </a:txBody>
                  <a:tcPr anchor="ctr" marL="137160" marR="137160" marT="36576" marB="36576">
                    <a:solidFill>
                      <a:srgbClr val="F3F5F8"/>
                    </a:solidFill>
                  </a:tcPr>
                </a:tc>
                <a:tc>
                  <a:txBody>
                    <a:bodyPr wrap="square"/>
                    <a:lstStyle/>
                    <a:p>
                      <a:r>
                        <a:rPr sz="1300" b="0">
                          <a:solidFill>
                            <a:srgbClr val="14171C"/>
                          </a:solidFill>
                          <a:latin typeface="Calibri"/>
                        </a:rPr>
                        <a:t>Slide 1</a:t>
                      </a:r>
                    </a:p>
                  </a:txBody>
                  <a:tcPr anchor="ctr" marL="137160" marR="137160" marT="36576" marB="36576">
                    <a:solidFill>
                      <a:srgbClr val="F3F5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